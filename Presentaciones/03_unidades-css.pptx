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3622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basada en el texto "Unidades en CSS". Objetivo: distinguir unidades absolutas y relativas y saber elegir la adecuada para tipografía, espaciado y layout.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importante no es tanto el "lápiz" (la herramienta) como los trazos: cómo medimos los elementos para que se adapten a cualquier "papel".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Precisión: las relativas no se expresan todas en porcentaje. El % es una de ellas; em, rem, vw, vh... toman como referencia otros valores (tamaño de fuente, viewport).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Todas están relacionadas entre sí: 1in = 96px = 2.54cm = 72pt = 6pc. Las unidades físicas (cm, mm, in, pt, pc) tienen sentido sobre todo en hojas de estilo de impresión. En pantalla, la más usada de este grupo es px.</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Matiz importante: el zoom del navegador sí escala los px. Lo que ignoran es el tamaño de fuente por defecto que el usuario configura en su navegador. Por eso se recomienda rem para tipografía.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Corrección respecto al texto original: en CSS, 1em no es la anchura de la letra M (ese es el origen histórico del nombre). 1em equivale al font-size calculado del elemento; en la propiedad font-size, al del padre. 1rem equivale al font-size del elemento raíz (html). El porcentaje (%) también es relativo: se calcula respecto al contenedor.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Uso típico: portada (hero) a pantalla completa. Cuidado con 100vw: incluye el ancho de la barra de scroll y puede provocar scroll horizontal. En móviles, 100vh puede no coincidir con el área visible por las barras del navegador (existen dvh/svh/lvh).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defecto, los elementos de bloque ya ocupan el 100% del ancho disponible; por eso una página sin estilos se adapta al reducir la ventana. Nota: el texto original alterna 1280px y 1200px; aquí se usa 1280px de forma coherente.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Hoy este tipo de columnas se suele resolver con Flexbox o Grid (fr), pero el razonamiento proporcional es el mismo. Si hay padding o borde, conviene box-sizing: border-box para que 75% + 25% no desborde.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defecto el navegador asigna 16px a html, así que 1em = 16px mientras nadie cambie el tamaño de fuente. Este efecto acumulativo es la principal ventaja (escala proporcional) y el principal riesgo (resultados inesperados al anidar).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Ejemplo típico: un botón con padding: 0.5em 1em mantiene sus proporciones si se le aumenta el font-size.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 estructura (valores predecibles) y a la vez escalabilidad: si el usuario sube el tamaño de fuente del navegador, todo lo definido en rem crece de forma proporcional. En media queries, em y rem se calculan respecto al tamaño de fuente inicial del navegador.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Regla práctica: rem para lo que debe ser coherente en toda la página; em para lo que debe escalar con el texto de un componente concreto.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0.0625 es simplemente 1/16. Si se cambia el font-size de html, el divisor cambia. Ejemplo del texto: 1200px × 0.0625 = 75rem. Para el contenedor de 1280px sería 80rem.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clave: preferir unidades relativas siempre que sea posible, reservar px para detalles que no deben escalar, y combinar % con max-width para obtener layouts adaptables sin media queries.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433"/>
        </a:solidFill>
        <a:effectLst/>
      </p:bgPr>
    </p:bg>
    <p:spTree>
      <p:nvGrpSpPr>
        <p:cNvPr id="1" name=""/>
        <p:cNvGrpSpPr/>
        <p:nvPr/>
      </p:nvGrpSpPr>
      <p:grpSpPr>
        <a:xfrm>
          <a:off x="0" y="0"/>
          <a:ext cx="0" cy="0"/>
          <a:chOff x="0" y="0"/>
          <a:chExt cx="0" cy="0"/>
        </a:xfrm>
      </p:grpSpPr>
      <p:sp>
        <p:nvSpPr>
          <p:cNvPr id="2" name="Shape 0"/>
          <p:cNvSpPr/>
          <p:nvPr/>
        </p:nvSpPr>
        <p:spPr>
          <a:xfrm>
            <a:off x="457200" y="1005840"/>
            <a:ext cx="822960" cy="411480"/>
          </a:xfrm>
          <a:prstGeom prst="roundRect">
            <a:avLst>
              <a:gd name="adj" fmla="val 17778"/>
            </a:avLst>
          </a:prstGeom>
          <a:solidFill>
            <a:srgbClr val="E07A2F"/>
          </a:solidFill>
          <a:ln w="12700">
            <a:solidFill>
              <a:srgbClr val="E07A2F"/>
            </a:solidFill>
            <a:prstDash val="solid"/>
          </a:ln>
        </p:spPr>
        <p:txBody>
          <a:bodyPr/>
          <a:lstStyle/>
          <a:p>
            <a:endParaRPr lang="es-ES"/>
          </a:p>
        </p:txBody>
      </p:sp>
      <p:sp>
        <p:nvSpPr>
          <p:cNvPr id="3" name="Text 1"/>
          <p:cNvSpPr txBox="1"/>
          <p:nvPr/>
        </p:nvSpPr>
        <p:spPr>
          <a:xfrm>
            <a:off x="457200" y="1005840"/>
            <a:ext cx="82296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px</a:t>
            </a:r>
            <a:endParaRPr lang="en-US" sz="1600" dirty="0"/>
          </a:p>
        </p:txBody>
      </p:sp>
      <p:sp>
        <p:nvSpPr>
          <p:cNvPr id="4" name="Shape 2"/>
          <p:cNvSpPr/>
          <p:nvPr/>
        </p:nvSpPr>
        <p:spPr>
          <a:xfrm>
            <a:off x="1417320" y="1005840"/>
            <a:ext cx="822960" cy="411480"/>
          </a:xfrm>
          <a:prstGeom prst="roundRect">
            <a:avLst>
              <a:gd name="adj" fmla="val 17778"/>
            </a:avLst>
          </a:prstGeom>
          <a:solidFill>
            <a:srgbClr val="2E86AB"/>
          </a:solidFill>
          <a:ln w="12700">
            <a:solidFill>
              <a:srgbClr val="2E86AB"/>
            </a:solidFill>
            <a:prstDash val="solid"/>
          </a:ln>
        </p:spPr>
        <p:txBody>
          <a:bodyPr/>
          <a:lstStyle/>
          <a:p>
            <a:endParaRPr lang="es-ES"/>
          </a:p>
        </p:txBody>
      </p:sp>
      <p:sp>
        <p:nvSpPr>
          <p:cNvPr id="5" name="Text 3"/>
          <p:cNvSpPr txBox="1"/>
          <p:nvPr/>
        </p:nvSpPr>
        <p:spPr>
          <a:xfrm>
            <a:off x="1417320" y="1005840"/>
            <a:ext cx="82296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a:t>
            </a:r>
            <a:endParaRPr lang="en-US" sz="1600" dirty="0"/>
          </a:p>
        </p:txBody>
      </p:sp>
      <p:sp>
        <p:nvSpPr>
          <p:cNvPr id="6" name="Shape 4"/>
          <p:cNvSpPr/>
          <p:nvPr/>
        </p:nvSpPr>
        <p:spPr>
          <a:xfrm>
            <a:off x="2377440" y="1005840"/>
            <a:ext cx="822960" cy="411480"/>
          </a:xfrm>
          <a:prstGeom prst="roundRect">
            <a:avLst>
              <a:gd name="adj" fmla="val 17778"/>
            </a:avLst>
          </a:prstGeom>
          <a:solidFill>
            <a:srgbClr val="E07A2F"/>
          </a:solidFill>
          <a:ln w="12700">
            <a:solidFill>
              <a:srgbClr val="E07A2F"/>
            </a:solidFill>
            <a:prstDash val="solid"/>
          </a:ln>
        </p:spPr>
        <p:txBody>
          <a:bodyPr/>
          <a:lstStyle/>
          <a:p>
            <a:endParaRPr lang="es-ES"/>
          </a:p>
        </p:txBody>
      </p:sp>
      <p:sp>
        <p:nvSpPr>
          <p:cNvPr id="7" name="Text 5"/>
          <p:cNvSpPr txBox="1"/>
          <p:nvPr/>
        </p:nvSpPr>
        <p:spPr>
          <a:xfrm>
            <a:off x="2377440" y="1005840"/>
            <a:ext cx="82296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em</a:t>
            </a:r>
            <a:endParaRPr lang="en-US" sz="1600" dirty="0"/>
          </a:p>
        </p:txBody>
      </p:sp>
      <p:sp>
        <p:nvSpPr>
          <p:cNvPr id="8" name="Shape 6"/>
          <p:cNvSpPr/>
          <p:nvPr/>
        </p:nvSpPr>
        <p:spPr>
          <a:xfrm>
            <a:off x="3337560" y="1005840"/>
            <a:ext cx="822960" cy="411480"/>
          </a:xfrm>
          <a:prstGeom prst="roundRect">
            <a:avLst>
              <a:gd name="adj" fmla="val 17778"/>
            </a:avLst>
          </a:prstGeom>
          <a:solidFill>
            <a:srgbClr val="2E86AB"/>
          </a:solidFill>
          <a:ln w="12700">
            <a:solidFill>
              <a:srgbClr val="2E86AB"/>
            </a:solidFill>
            <a:prstDash val="solid"/>
          </a:ln>
        </p:spPr>
        <p:txBody>
          <a:bodyPr/>
          <a:lstStyle/>
          <a:p>
            <a:endParaRPr lang="es-ES"/>
          </a:p>
        </p:txBody>
      </p:sp>
      <p:sp>
        <p:nvSpPr>
          <p:cNvPr id="9" name="Text 7"/>
          <p:cNvSpPr txBox="1"/>
          <p:nvPr/>
        </p:nvSpPr>
        <p:spPr>
          <a:xfrm>
            <a:off x="3337560" y="1005840"/>
            <a:ext cx="82296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rem</a:t>
            </a:r>
            <a:endParaRPr lang="en-US" sz="1600" dirty="0"/>
          </a:p>
        </p:txBody>
      </p:sp>
      <p:sp>
        <p:nvSpPr>
          <p:cNvPr id="10" name="Shape 8"/>
          <p:cNvSpPr/>
          <p:nvPr/>
        </p:nvSpPr>
        <p:spPr>
          <a:xfrm>
            <a:off x="4297680" y="1005840"/>
            <a:ext cx="822960" cy="411480"/>
          </a:xfrm>
          <a:prstGeom prst="roundRect">
            <a:avLst>
              <a:gd name="adj" fmla="val 17778"/>
            </a:avLst>
          </a:prstGeom>
          <a:solidFill>
            <a:srgbClr val="E07A2F"/>
          </a:solidFill>
          <a:ln w="12700">
            <a:solidFill>
              <a:srgbClr val="E07A2F"/>
            </a:solidFill>
            <a:prstDash val="solid"/>
          </a:ln>
        </p:spPr>
        <p:txBody>
          <a:bodyPr/>
          <a:lstStyle/>
          <a:p>
            <a:endParaRPr lang="es-ES"/>
          </a:p>
        </p:txBody>
      </p:sp>
      <p:sp>
        <p:nvSpPr>
          <p:cNvPr id="11" name="Text 9"/>
          <p:cNvSpPr txBox="1"/>
          <p:nvPr/>
        </p:nvSpPr>
        <p:spPr>
          <a:xfrm>
            <a:off x="4297680" y="1005840"/>
            <a:ext cx="82296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vw</a:t>
            </a:r>
            <a:endParaRPr lang="en-US" sz="1600" dirty="0"/>
          </a:p>
        </p:txBody>
      </p:sp>
      <p:sp>
        <p:nvSpPr>
          <p:cNvPr id="12" name="Shape 10"/>
          <p:cNvSpPr/>
          <p:nvPr/>
        </p:nvSpPr>
        <p:spPr>
          <a:xfrm>
            <a:off x="5257800" y="1005840"/>
            <a:ext cx="822960" cy="411480"/>
          </a:xfrm>
          <a:prstGeom prst="roundRect">
            <a:avLst>
              <a:gd name="adj" fmla="val 17778"/>
            </a:avLst>
          </a:prstGeom>
          <a:solidFill>
            <a:srgbClr val="2E86AB"/>
          </a:solidFill>
          <a:ln w="12700">
            <a:solidFill>
              <a:srgbClr val="2E86AB"/>
            </a:solidFill>
            <a:prstDash val="solid"/>
          </a:ln>
        </p:spPr>
        <p:txBody>
          <a:bodyPr/>
          <a:lstStyle/>
          <a:p>
            <a:endParaRPr lang="es-ES"/>
          </a:p>
        </p:txBody>
      </p:sp>
      <p:sp>
        <p:nvSpPr>
          <p:cNvPr id="13" name="Text 11"/>
          <p:cNvSpPr txBox="1"/>
          <p:nvPr/>
        </p:nvSpPr>
        <p:spPr>
          <a:xfrm>
            <a:off x="5257800" y="1005840"/>
            <a:ext cx="82296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vh</a:t>
            </a:r>
            <a:endParaRPr lang="en-US" sz="1600" dirty="0"/>
          </a:p>
        </p:txBody>
      </p:sp>
      <p:sp>
        <p:nvSpPr>
          <p:cNvPr id="14" name="Text 12"/>
          <p:cNvSpPr txBox="1"/>
          <p:nvPr/>
        </p:nvSpPr>
        <p:spPr>
          <a:xfrm>
            <a:off x="457200" y="1828800"/>
            <a:ext cx="8229600" cy="9144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Unidades en CSS</a:t>
            </a:r>
            <a:endParaRPr lang="en-US" sz="4400" dirty="0"/>
          </a:p>
        </p:txBody>
      </p:sp>
      <p:sp>
        <p:nvSpPr>
          <p:cNvPr id="15" name="Text 13"/>
          <p:cNvSpPr txBox="1"/>
          <p:nvPr/>
        </p:nvSpPr>
        <p:spPr>
          <a:xfrm>
            <a:off x="457200" y="2743200"/>
            <a:ext cx="8229600" cy="457200"/>
          </a:xfrm>
          <a:prstGeom prst="rect">
            <a:avLst/>
          </a:prstGeom>
          <a:noFill/>
          <a:ln/>
        </p:spPr>
        <p:txBody>
          <a:bodyPr wrap="square" lIns="0" tIns="0" rIns="0" bIns="0" rtlCol="0" anchor="ctr"/>
          <a:lstStyle/>
          <a:p>
            <a:pPr marL="0" indent="0">
              <a:buNone/>
            </a:pPr>
            <a:r>
              <a:rPr lang="en-US" sz="2000" dirty="0">
                <a:solidFill>
                  <a:srgbClr val="C9D1E0"/>
                </a:solidFill>
                <a:latin typeface="Calibri" pitchFamily="34" charset="0"/>
                <a:ea typeface="Calibri" pitchFamily="34" charset="-122"/>
                <a:cs typeface="Calibri" pitchFamily="34" charset="-120"/>
              </a:rPr>
              <a:t>Absolutas, relativas y cuándo conviene usar cada una</a:t>
            </a:r>
            <a:endParaRPr lang="en-US" sz="2000" dirty="0"/>
          </a:p>
        </p:txBody>
      </p:sp>
      <p:sp>
        <p:nvSpPr>
          <p:cNvPr id="16" name="Text 14"/>
          <p:cNvSpPr txBox="1"/>
          <p:nvPr/>
        </p:nvSpPr>
        <p:spPr>
          <a:xfrm>
            <a:off x="457200" y="4389120"/>
            <a:ext cx="8229600" cy="365760"/>
          </a:xfrm>
          <a:prstGeom prst="rect">
            <a:avLst/>
          </a:prstGeom>
          <a:noFill/>
          <a:ln/>
        </p:spPr>
        <p:txBody>
          <a:bodyPr wrap="square" lIns="0" tIns="0" rIns="0" bIns="0" rtlCol="0" anchor="ctr"/>
          <a:lstStyle/>
          <a:p>
            <a:pPr marL="0" indent="0">
              <a:buNone/>
            </a:pPr>
            <a:r>
              <a:rPr lang="en-US" sz="1200" dirty="0">
                <a:solidFill>
                  <a:srgbClr val="8A93A6"/>
                </a:solidFill>
                <a:latin typeface="Calibri" pitchFamily="34" charset="0"/>
                <a:ea typeface="Calibri" pitchFamily="34" charset="-122"/>
                <a:cs typeface="Calibri" pitchFamily="34" charset="-120"/>
              </a:rPr>
              <a:t>Diseño de Interfaces Web · CSS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F2433"/>
                </a:solidFill>
                <a:latin typeface="Cambria" pitchFamily="34" charset="0"/>
                <a:ea typeface="Cambria" pitchFamily="34" charset="-122"/>
                <a:cs typeface="Cambria" pitchFamily="34" charset="-120"/>
              </a:rPr>
              <a:t>Una analogía: papel y trazos</a:t>
            </a:r>
            <a:endParaRPr lang="en-US" sz="3000" dirty="0"/>
          </a:p>
        </p:txBody>
      </p:sp>
      <p:sp>
        <p:nvSpPr>
          <p:cNvPr id="3" name="Shape 1"/>
          <p:cNvSpPr/>
          <p:nvPr/>
        </p:nvSpPr>
        <p:spPr>
          <a:xfrm>
            <a:off x="457200" y="1188720"/>
            <a:ext cx="3931920" cy="3291840"/>
          </a:xfrm>
          <a:prstGeom prst="roundRect">
            <a:avLst>
              <a:gd name="adj" fmla="val 2778"/>
            </a:avLst>
          </a:prstGeom>
          <a:solidFill>
            <a:srgbClr val="DCEEF5"/>
          </a:solidFill>
          <a:ln w="12700">
            <a:solidFill>
              <a:srgbClr val="DCEEF5"/>
            </a:solidFill>
            <a:prstDash val="solid"/>
          </a:ln>
        </p:spPr>
        <p:txBody>
          <a:bodyPr/>
          <a:lstStyle/>
          <a:p>
            <a:endParaRPr lang="es-ES"/>
          </a:p>
        </p:txBody>
      </p:sp>
      <p:sp>
        <p:nvSpPr>
          <p:cNvPr id="4" name="Text 2"/>
          <p:cNvSpPr txBox="1"/>
          <p:nvPr/>
        </p:nvSpPr>
        <p:spPr>
          <a:xfrm>
            <a:off x="731520" y="1371600"/>
            <a:ext cx="3383280" cy="457200"/>
          </a:xfrm>
          <a:prstGeom prst="rect">
            <a:avLst/>
          </a:prstGeom>
          <a:noFill/>
          <a:ln/>
        </p:spPr>
        <p:txBody>
          <a:bodyPr wrap="square" lIns="0" tIns="0" rIns="0" bIns="0" rtlCol="0" anchor="ctr"/>
          <a:lstStyle/>
          <a:p>
            <a:pPr marL="0" indent="0">
              <a:buNone/>
            </a:pPr>
            <a:r>
              <a:rPr lang="en-US" sz="2200" b="1" dirty="0">
                <a:solidFill>
                  <a:srgbClr val="2E86AB"/>
                </a:solidFill>
                <a:latin typeface="Cambria" pitchFamily="34" charset="0"/>
                <a:ea typeface="Cambria" pitchFamily="34" charset="-122"/>
                <a:cs typeface="Cambria" pitchFamily="34" charset="-120"/>
              </a:rPr>
              <a:t>El papel</a:t>
            </a:r>
            <a:endParaRPr lang="en-US" sz="2200" dirty="0"/>
          </a:p>
        </p:txBody>
      </p:sp>
      <p:sp>
        <p:nvSpPr>
          <p:cNvPr id="5" name="Text 3"/>
          <p:cNvSpPr txBox="1"/>
          <p:nvPr/>
        </p:nvSpPr>
        <p:spPr>
          <a:xfrm>
            <a:off x="731520" y="1920240"/>
            <a:ext cx="3383280" cy="2286000"/>
          </a:xfrm>
          <a:prstGeom prst="rect">
            <a:avLst/>
          </a:prstGeom>
          <a:noFill/>
          <a:ln/>
        </p:spPr>
        <p:txBody>
          <a:bodyPr wrap="square" lIns="0" tIns="0" rIns="0" bIns="0" rtlCol="0" anchor="t"/>
          <a:lstStyle/>
          <a:p>
            <a:pPr marL="0" indent="0">
              <a:buNone/>
            </a:pPr>
            <a:r>
              <a:rPr lang="en-US" sz="1600" dirty="0">
                <a:solidFill>
                  <a:srgbClr val="1F2433"/>
                </a:solidFill>
                <a:latin typeface="Calibri" pitchFamily="34" charset="0"/>
                <a:ea typeface="Calibri" pitchFamily="34" charset="-122"/>
                <a:cs typeface="Calibri" pitchFamily="34" charset="-120"/>
              </a:rPr>
              <a:t>Las distintas resoluciones de pantalla: móvil, tableta, portátil y escritorio. No sabemos de antemano en cuál se verá nuestra página.</a:t>
            </a:r>
            <a:endParaRPr lang="en-US" sz="1600" dirty="0"/>
          </a:p>
        </p:txBody>
      </p:sp>
      <p:sp>
        <p:nvSpPr>
          <p:cNvPr id="6" name="Shape 4"/>
          <p:cNvSpPr/>
          <p:nvPr/>
        </p:nvSpPr>
        <p:spPr>
          <a:xfrm>
            <a:off x="4754880" y="1188720"/>
            <a:ext cx="3931920" cy="3291840"/>
          </a:xfrm>
          <a:prstGeom prst="roundRect">
            <a:avLst>
              <a:gd name="adj" fmla="val 2778"/>
            </a:avLst>
          </a:prstGeom>
          <a:solidFill>
            <a:srgbClr val="FBE9DB"/>
          </a:solidFill>
          <a:ln w="12700">
            <a:solidFill>
              <a:srgbClr val="FBE9DB"/>
            </a:solidFill>
            <a:prstDash val="solid"/>
          </a:ln>
        </p:spPr>
        <p:txBody>
          <a:bodyPr/>
          <a:lstStyle/>
          <a:p>
            <a:endParaRPr lang="es-ES"/>
          </a:p>
        </p:txBody>
      </p:sp>
      <p:sp>
        <p:nvSpPr>
          <p:cNvPr id="7" name="Text 5"/>
          <p:cNvSpPr txBox="1"/>
          <p:nvPr/>
        </p:nvSpPr>
        <p:spPr>
          <a:xfrm>
            <a:off x="5029200" y="1371600"/>
            <a:ext cx="3383280" cy="457200"/>
          </a:xfrm>
          <a:prstGeom prst="rect">
            <a:avLst/>
          </a:prstGeom>
          <a:noFill/>
          <a:ln/>
        </p:spPr>
        <p:txBody>
          <a:bodyPr wrap="square" lIns="0" tIns="0" rIns="0" bIns="0" rtlCol="0" anchor="ctr"/>
          <a:lstStyle/>
          <a:p>
            <a:pPr marL="0" indent="0">
              <a:buNone/>
            </a:pPr>
            <a:r>
              <a:rPr lang="en-US" sz="2200" b="1" dirty="0">
                <a:solidFill>
                  <a:srgbClr val="E07A2F"/>
                </a:solidFill>
                <a:latin typeface="Cambria" pitchFamily="34" charset="0"/>
                <a:ea typeface="Cambria" pitchFamily="34" charset="-122"/>
                <a:cs typeface="Cambria" pitchFamily="34" charset="-120"/>
              </a:rPr>
              <a:t>Los trazos</a:t>
            </a:r>
            <a:endParaRPr lang="en-US" sz="2200" dirty="0"/>
          </a:p>
        </p:txBody>
      </p:sp>
      <p:sp>
        <p:nvSpPr>
          <p:cNvPr id="8" name="Text 6"/>
          <p:cNvSpPr txBox="1"/>
          <p:nvPr/>
        </p:nvSpPr>
        <p:spPr>
          <a:xfrm>
            <a:off x="5029200" y="1920240"/>
            <a:ext cx="3383280" cy="2286000"/>
          </a:xfrm>
          <a:prstGeom prst="rect">
            <a:avLst/>
          </a:prstGeom>
          <a:noFill/>
          <a:ln/>
        </p:spPr>
        <p:txBody>
          <a:bodyPr wrap="square" lIns="0" tIns="0" rIns="0" bIns="0" rtlCol="0" anchor="t"/>
          <a:lstStyle/>
          <a:p>
            <a:pPr marL="0" indent="0">
              <a:buNone/>
            </a:pPr>
            <a:r>
              <a:rPr lang="en-US" sz="1600" dirty="0">
                <a:solidFill>
                  <a:srgbClr val="1F2433"/>
                </a:solidFill>
                <a:latin typeface="Calibri" pitchFamily="34" charset="0"/>
                <a:ea typeface="Calibri" pitchFamily="34" charset="-122"/>
                <a:cs typeface="Calibri" pitchFamily="34" charset="-120"/>
              </a:rPr>
              <a:t>Líneas, formas y tipografías: sus tamaños, el espacio entre palabras y entre letras. Las unidades CSS definen cómo se miden esos trazos.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F2433"/>
                </a:solidFill>
                <a:latin typeface="Cambria" pitchFamily="34" charset="0"/>
                <a:ea typeface="Cambria" pitchFamily="34" charset="-122"/>
                <a:cs typeface="Cambria" pitchFamily="34" charset="-120"/>
              </a:rPr>
              <a:t>Dos grandes grupos de unidades</a:t>
            </a:r>
            <a:endParaRPr lang="en-US" sz="3000" dirty="0"/>
          </a:p>
        </p:txBody>
      </p:sp>
      <p:sp>
        <p:nvSpPr>
          <p:cNvPr id="3" name="Shape 1"/>
          <p:cNvSpPr/>
          <p:nvPr/>
        </p:nvSpPr>
        <p:spPr>
          <a:xfrm>
            <a:off x="457200" y="1188720"/>
            <a:ext cx="3931920" cy="3383280"/>
          </a:xfrm>
          <a:prstGeom prst="roundRect">
            <a:avLst>
              <a:gd name="adj" fmla="val 2703"/>
            </a:avLst>
          </a:prstGeom>
          <a:solidFill>
            <a:srgbClr val="EEF1F6"/>
          </a:solidFill>
          <a:ln w="12700">
            <a:solidFill>
              <a:srgbClr val="EEF1F6"/>
            </a:solidFill>
            <a:prstDash val="solid"/>
          </a:ln>
        </p:spPr>
        <p:txBody>
          <a:bodyPr/>
          <a:lstStyle/>
          <a:p>
            <a:endParaRPr lang="es-ES"/>
          </a:p>
        </p:txBody>
      </p:sp>
      <p:sp>
        <p:nvSpPr>
          <p:cNvPr id="4" name="Shape 2"/>
          <p:cNvSpPr/>
          <p:nvPr/>
        </p:nvSpPr>
        <p:spPr>
          <a:xfrm>
            <a:off x="731520" y="1417320"/>
            <a:ext cx="1737360" cy="411480"/>
          </a:xfrm>
          <a:prstGeom prst="roundRect">
            <a:avLst>
              <a:gd name="adj" fmla="val 17778"/>
            </a:avLst>
          </a:prstGeom>
          <a:solidFill>
            <a:srgbClr val="2C3347"/>
          </a:solidFill>
          <a:ln w="12700">
            <a:solidFill>
              <a:srgbClr val="2C3347"/>
            </a:solidFill>
            <a:prstDash val="solid"/>
          </a:ln>
        </p:spPr>
        <p:txBody>
          <a:bodyPr/>
          <a:lstStyle/>
          <a:p>
            <a:endParaRPr lang="es-ES"/>
          </a:p>
        </p:txBody>
      </p:sp>
      <p:sp>
        <p:nvSpPr>
          <p:cNvPr id="5" name="Text 3"/>
          <p:cNvSpPr txBox="1"/>
          <p:nvPr/>
        </p:nvSpPr>
        <p:spPr>
          <a:xfrm>
            <a:off x="731520" y="1417320"/>
            <a:ext cx="173736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cm  px  pt</a:t>
            </a:r>
            <a:endParaRPr lang="en-US" sz="1600" dirty="0"/>
          </a:p>
        </p:txBody>
      </p:sp>
      <p:sp>
        <p:nvSpPr>
          <p:cNvPr id="6" name="Text 4"/>
          <p:cNvSpPr txBox="1"/>
          <p:nvPr/>
        </p:nvSpPr>
        <p:spPr>
          <a:xfrm>
            <a:off x="731520" y="2011680"/>
            <a:ext cx="3383280" cy="457200"/>
          </a:xfrm>
          <a:prstGeom prst="rect">
            <a:avLst/>
          </a:prstGeom>
          <a:noFill/>
          <a:ln/>
        </p:spPr>
        <p:txBody>
          <a:bodyPr wrap="square" lIns="0" tIns="0" rIns="0" bIns="0" rtlCol="0" anchor="ctr"/>
          <a:lstStyle/>
          <a:p>
            <a:pPr marL="0" indent="0">
              <a:buNone/>
            </a:pPr>
            <a:r>
              <a:rPr lang="en-US" sz="2200" b="1" dirty="0">
                <a:solidFill>
                  <a:srgbClr val="1F2433"/>
                </a:solidFill>
                <a:latin typeface="Cambria" pitchFamily="34" charset="0"/>
                <a:ea typeface="Cambria" pitchFamily="34" charset="-122"/>
                <a:cs typeface="Cambria" pitchFamily="34" charset="-120"/>
              </a:rPr>
              <a:t>Absolutas</a:t>
            </a:r>
            <a:endParaRPr lang="en-US" sz="2200" dirty="0"/>
          </a:p>
        </p:txBody>
      </p:sp>
      <p:sp>
        <p:nvSpPr>
          <p:cNvPr id="7" name="Text 5"/>
          <p:cNvSpPr txBox="1"/>
          <p:nvPr/>
        </p:nvSpPr>
        <p:spPr>
          <a:xfrm>
            <a:off x="731520" y="2560320"/>
            <a:ext cx="3383280" cy="19202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433"/>
                </a:solidFill>
                <a:latin typeface="Calibri" pitchFamily="34" charset="0"/>
                <a:ea typeface="Calibri" pitchFamily="34" charset="-122"/>
                <a:cs typeface="Calibri" pitchFamily="34" charset="-120"/>
              </a:rPr>
              <a:t>Valor fijo, no depende de ninguna referencia</a:t>
            </a:r>
            <a:endParaRPr lang="en-US" sz="1500" dirty="0"/>
          </a:p>
          <a:p>
            <a:pPr marL="342900" indent="-342900">
              <a:spcAft>
                <a:spcPts val="800"/>
              </a:spcAft>
              <a:buSzPct val="100000"/>
              <a:buChar char="•"/>
            </a:pPr>
            <a:r>
              <a:rPr lang="en-US" sz="1500" dirty="0">
                <a:solidFill>
                  <a:srgbClr val="1F2433"/>
                </a:solidFill>
                <a:latin typeface="Calibri" pitchFamily="34" charset="0"/>
                <a:ea typeface="Calibri" pitchFamily="34" charset="-122"/>
                <a:cs typeface="Calibri" pitchFamily="34" charset="-120"/>
              </a:rPr>
              <a:t>Rígidas: dificultan el diseño adaptable</a:t>
            </a:r>
            <a:endParaRPr lang="en-US" sz="1500" dirty="0"/>
          </a:p>
          <a:p>
            <a:pPr marL="342900" indent="-342900">
              <a:spcAft>
                <a:spcPts val="800"/>
              </a:spcAft>
              <a:buSzPct val="100000"/>
              <a:buChar char="•"/>
            </a:pPr>
            <a:r>
              <a:rPr lang="en-US" sz="1500" dirty="0">
                <a:solidFill>
                  <a:srgbClr val="1F2433"/>
                </a:solidFill>
                <a:latin typeface="Calibri" pitchFamily="34" charset="0"/>
                <a:ea typeface="Calibri" pitchFamily="34" charset="-122"/>
                <a:cs typeface="Calibri" pitchFamily="34" charset="-120"/>
              </a:rPr>
              <a:t>Usarlas lo menos posible</a:t>
            </a:r>
            <a:endParaRPr lang="en-US" sz="1500" dirty="0"/>
          </a:p>
        </p:txBody>
      </p:sp>
      <p:sp>
        <p:nvSpPr>
          <p:cNvPr id="8" name="Shape 6"/>
          <p:cNvSpPr/>
          <p:nvPr/>
        </p:nvSpPr>
        <p:spPr>
          <a:xfrm>
            <a:off x="4754880" y="1188720"/>
            <a:ext cx="3931920" cy="3383280"/>
          </a:xfrm>
          <a:prstGeom prst="roundRect">
            <a:avLst>
              <a:gd name="adj" fmla="val 2703"/>
            </a:avLst>
          </a:prstGeom>
          <a:solidFill>
            <a:srgbClr val="FBE9DB"/>
          </a:solidFill>
          <a:ln w="12700">
            <a:solidFill>
              <a:srgbClr val="FBE9DB"/>
            </a:solidFill>
            <a:prstDash val="solid"/>
          </a:ln>
        </p:spPr>
        <p:txBody>
          <a:bodyPr/>
          <a:lstStyle/>
          <a:p>
            <a:endParaRPr lang="es-ES"/>
          </a:p>
        </p:txBody>
      </p:sp>
      <p:sp>
        <p:nvSpPr>
          <p:cNvPr id="9" name="Shape 7"/>
          <p:cNvSpPr/>
          <p:nvPr/>
        </p:nvSpPr>
        <p:spPr>
          <a:xfrm>
            <a:off x="5029200" y="1417320"/>
            <a:ext cx="2103120" cy="411480"/>
          </a:xfrm>
          <a:prstGeom prst="roundRect">
            <a:avLst>
              <a:gd name="adj" fmla="val 17778"/>
            </a:avLst>
          </a:prstGeom>
          <a:solidFill>
            <a:srgbClr val="E07A2F"/>
          </a:solidFill>
          <a:ln w="12700">
            <a:solidFill>
              <a:srgbClr val="E07A2F"/>
            </a:solidFill>
            <a:prstDash val="solid"/>
          </a:ln>
        </p:spPr>
        <p:txBody>
          <a:bodyPr/>
          <a:lstStyle/>
          <a:p>
            <a:endParaRPr lang="es-ES"/>
          </a:p>
        </p:txBody>
      </p:sp>
      <p:sp>
        <p:nvSpPr>
          <p:cNvPr id="10" name="Text 8"/>
          <p:cNvSpPr txBox="1"/>
          <p:nvPr/>
        </p:nvSpPr>
        <p:spPr>
          <a:xfrm>
            <a:off x="5029200" y="1417320"/>
            <a:ext cx="210312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  em  rem  vw</a:t>
            </a:r>
            <a:endParaRPr lang="en-US" sz="1600" dirty="0"/>
          </a:p>
        </p:txBody>
      </p:sp>
      <p:sp>
        <p:nvSpPr>
          <p:cNvPr id="11" name="Text 9"/>
          <p:cNvSpPr txBox="1"/>
          <p:nvPr/>
        </p:nvSpPr>
        <p:spPr>
          <a:xfrm>
            <a:off x="5029200" y="2011680"/>
            <a:ext cx="3383280" cy="457200"/>
          </a:xfrm>
          <a:prstGeom prst="rect">
            <a:avLst/>
          </a:prstGeom>
          <a:noFill/>
          <a:ln/>
        </p:spPr>
        <p:txBody>
          <a:bodyPr wrap="square" lIns="0" tIns="0" rIns="0" bIns="0" rtlCol="0" anchor="ctr"/>
          <a:lstStyle/>
          <a:p>
            <a:pPr marL="0" indent="0">
              <a:buNone/>
            </a:pPr>
            <a:r>
              <a:rPr lang="en-US" sz="2200" b="1" dirty="0">
                <a:solidFill>
                  <a:srgbClr val="1F2433"/>
                </a:solidFill>
                <a:latin typeface="Cambria" pitchFamily="34" charset="0"/>
                <a:ea typeface="Cambria" pitchFamily="34" charset="-122"/>
                <a:cs typeface="Cambria" pitchFamily="34" charset="-120"/>
              </a:rPr>
              <a:t>Relativas</a:t>
            </a:r>
            <a:endParaRPr lang="en-US" sz="2200" dirty="0"/>
          </a:p>
        </p:txBody>
      </p:sp>
      <p:sp>
        <p:nvSpPr>
          <p:cNvPr id="12" name="Text 10"/>
          <p:cNvSpPr txBox="1"/>
          <p:nvPr/>
        </p:nvSpPr>
        <p:spPr>
          <a:xfrm>
            <a:off x="5029200" y="2560320"/>
            <a:ext cx="3383280" cy="19202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433"/>
                </a:solidFill>
                <a:latin typeface="Calibri" pitchFamily="34" charset="0"/>
                <a:ea typeface="Calibri" pitchFamily="34" charset="-122"/>
                <a:cs typeface="Calibri" pitchFamily="34" charset="-120"/>
              </a:rPr>
              <a:t>Se calculan a partir de otro valor de referencia</a:t>
            </a:r>
            <a:endParaRPr lang="en-US" sz="1500" dirty="0"/>
          </a:p>
          <a:p>
            <a:pPr marL="342900" indent="-342900">
              <a:spcAft>
                <a:spcPts val="800"/>
              </a:spcAft>
              <a:buSzPct val="100000"/>
              <a:buChar char="•"/>
            </a:pPr>
            <a:r>
              <a:rPr lang="en-US" sz="1500" dirty="0">
                <a:solidFill>
                  <a:srgbClr val="1F2433"/>
                </a:solidFill>
                <a:latin typeface="Calibri" pitchFamily="34" charset="0"/>
                <a:ea typeface="Calibri" pitchFamily="34" charset="-122"/>
                <a:cs typeface="Calibri" pitchFamily="34" charset="-120"/>
              </a:rPr>
              <a:t>Flexibles: se adaptan al contexto</a:t>
            </a:r>
            <a:endParaRPr lang="en-US" sz="1500" dirty="0"/>
          </a:p>
          <a:p>
            <a:pPr marL="342900" indent="-342900">
              <a:spcAft>
                <a:spcPts val="800"/>
              </a:spcAft>
              <a:buSzPct val="100000"/>
              <a:buChar char="•"/>
            </a:pPr>
            <a:r>
              <a:rPr lang="en-US" sz="1500" dirty="0">
                <a:solidFill>
                  <a:srgbClr val="1F2433"/>
                </a:solidFill>
                <a:latin typeface="Calibri" pitchFamily="34" charset="0"/>
                <a:ea typeface="Calibri" pitchFamily="34" charset="-122"/>
                <a:cs typeface="Calibri" pitchFamily="34" charset="-120"/>
              </a:rPr>
              <a:t>Preferibles, sobre todo en responsive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F2433"/>
                </a:solidFill>
                <a:latin typeface="Cambria" pitchFamily="34" charset="0"/>
                <a:ea typeface="Cambria" pitchFamily="34" charset="-122"/>
                <a:cs typeface="Cambria" pitchFamily="34" charset="-120"/>
              </a:rPr>
              <a:t>Unidades absolutas</a:t>
            </a:r>
            <a:endParaRPr lang="en-US" sz="3000" dirty="0"/>
          </a:p>
        </p:txBody>
      </p:sp>
      <p:sp>
        <p:nvSpPr>
          <p:cNvPr id="3" name="Shape 1"/>
          <p:cNvSpPr/>
          <p:nvPr/>
        </p:nvSpPr>
        <p:spPr>
          <a:xfrm>
            <a:off x="457200" y="1188720"/>
            <a:ext cx="4023360" cy="914400"/>
          </a:xfrm>
          <a:prstGeom prst="roundRect">
            <a:avLst>
              <a:gd name="adj" fmla="val 10000"/>
            </a:avLst>
          </a:prstGeom>
          <a:solidFill>
            <a:srgbClr val="EEF1F6"/>
          </a:solidFill>
          <a:ln w="12700">
            <a:solidFill>
              <a:srgbClr val="EEF1F6"/>
            </a:solidFill>
            <a:prstDash val="solid"/>
          </a:ln>
        </p:spPr>
        <p:txBody>
          <a:bodyPr/>
          <a:lstStyle/>
          <a:p>
            <a:endParaRPr lang="es-ES"/>
          </a:p>
        </p:txBody>
      </p:sp>
      <p:sp>
        <p:nvSpPr>
          <p:cNvPr id="4" name="Shape 2"/>
          <p:cNvSpPr/>
          <p:nvPr/>
        </p:nvSpPr>
        <p:spPr>
          <a:xfrm>
            <a:off x="640080" y="1435608"/>
            <a:ext cx="731520" cy="411480"/>
          </a:xfrm>
          <a:prstGeom prst="roundRect">
            <a:avLst>
              <a:gd name="adj" fmla="val 17778"/>
            </a:avLst>
          </a:prstGeom>
          <a:solidFill>
            <a:srgbClr val="2C3347"/>
          </a:solidFill>
          <a:ln w="12700">
            <a:solidFill>
              <a:srgbClr val="2C3347"/>
            </a:solidFill>
            <a:prstDash val="solid"/>
          </a:ln>
        </p:spPr>
        <p:txBody>
          <a:bodyPr/>
          <a:lstStyle/>
          <a:p>
            <a:endParaRPr lang="es-ES"/>
          </a:p>
        </p:txBody>
      </p:sp>
      <p:sp>
        <p:nvSpPr>
          <p:cNvPr id="5" name="Text 3"/>
          <p:cNvSpPr txBox="1"/>
          <p:nvPr/>
        </p:nvSpPr>
        <p:spPr>
          <a:xfrm>
            <a:off x="640080" y="1435608"/>
            <a:ext cx="73152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cm</a:t>
            </a:r>
            <a:endParaRPr lang="en-US" sz="1600" dirty="0"/>
          </a:p>
        </p:txBody>
      </p:sp>
      <p:sp>
        <p:nvSpPr>
          <p:cNvPr id="6" name="Text 4"/>
          <p:cNvSpPr txBox="1"/>
          <p:nvPr/>
        </p:nvSpPr>
        <p:spPr>
          <a:xfrm>
            <a:off x="1554480" y="1325880"/>
            <a:ext cx="2743200" cy="320040"/>
          </a:xfrm>
          <a:prstGeom prst="rect">
            <a:avLst/>
          </a:prstGeom>
          <a:noFill/>
          <a:ln/>
        </p:spPr>
        <p:txBody>
          <a:bodyPr wrap="square" lIns="0" tIns="0" rIns="0" bIns="0" rtlCol="0" anchor="ctr"/>
          <a:lstStyle/>
          <a:p>
            <a:pPr marL="0" indent="0">
              <a:buNone/>
            </a:pPr>
            <a:r>
              <a:rPr lang="en-US" sz="1600" b="1" dirty="0">
                <a:solidFill>
                  <a:srgbClr val="1F2433"/>
                </a:solidFill>
                <a:latin typeface="Calibri" pitchFamily="34" charset="0"/>
                <a:ea typeface="Calibri" pitchFamily="34" charset="-122"/>
                <a:cs typeface="Calibri" pitchFamily="34" charset="-120"/>
              </a:rPr>
              <a:t>Centímetros</a:t>
            </a:r>
            <a:endParaRPr lang="en-US" sz="1600" dirty="0"/>
          </a:p>
        </p:txBody>
      </p:sp>
      <p:sp>
        <p:nvSpPr>
          <p:cNvPr id="7" name="Text 5"/>
          <p:cNvSpPr txBox="1"/>
          <p:nvPr/>
        </p:nvSpPr>
        <p:spPr>
          <a:xfrm>
            <a:off x="1554480" y="1664208"/>
            <a:ext cx="2743200" cy="320040"/>
          </a:xfrm>
          <a:prstGeom prst="rect">
            <a:avLst/>
          </a:prstGeom>
          <a:noFill/>
          <a:ln/>
        </p:spPr>
        <p:txBody>
          <a:bodyPr wrap="square" lIns="0" tIns="0" rIns="0" bIns="0" rtlCol="0" anchor="ctr"/>
          <a:lstStyle/>
          <a:p>
            <a:pPr marL="0" indent="0">
              <a:buNone/>
            </a:pPr>
            <a:r>
              <a:rPr lang="en-US" sz="1300" dirty="0">
                <a:solidFill>
                  <a:srgbClr val="5B6475"/>
                </a:solidFill>
                <a:latin typeface="Courier New" pitchFamily="34" charset="0"/>
                <a:ea typeface="Courier New" pitchFamily="34" charset="-122"/>
                <a:cs typeface="Courier New" pitchFamily="34" charset="-120"/>
              </a:rPr>
              <a:t>1cm = 96px / 2.54</a:t>
            </a:r>
            <a:endParaRPr lang="en-US" sz="1300" dirty="0"/>
          </a:p>
        </p:txBody>
      </p:sp>
      <p:sp>
        <p:nvSpPr>
          <p:cNvPr id="8" name="Shape 6"/>
          <p:cNvSpPr/>
          <p:nvPr/>
        </p:nvSpPr>
        <p:spPr>
          <a:xfrm>
            <a:off x="4663440" y="1188720"/>
            <a:ext cx="4023360" cy="914400"/>
          </a:xfrm>
          <a:prstGeom prst="roundRect">
            <a:avLst>
              <a:gd name="adj" fmla="val 10000"/>
            </a:avLst>
          </a:prstGeom>
          <a:solidFill>
            <a:srgbClr val="EEF1F6"/>
          </a:solidFill>
          <a:ln w="12700">
            <a:solidFill>
              <a:srgbClr val="EEF1F6"/>
            </a:solidFill>
            <a:prstDash val="solid"/>
          </a:ln>
        </p:spPr>
        <p:txBody>
          <a:bodyPr/>
          <a:lstStyle/>
          <a:p>
            <a:endParaRPr lang="es-ES"/>
          </a:p>
        </p:txBody>
      </p:sp>
      <p:sp>
        <p:nvSpPr>
          <p:cNvPr id="9" name="Shape 7"/>
          <p:cNvSpPr/>
          <p:nvPr/>
        </p:nvSpPr>
        <p:spPr>
          <a:xfrm>
            <a:off x="4846320" y="1435608"/>
            <a:ext cx="731520" cy="411480"/>
          </a:xfrm>
          <a:prstGeom prst="roundRect">
            <a:avLst>
              <a:gd name="adj" fmla="val 17778"/>
            </a:avLst>
          </a:prstGeom>
          <a:solidFill>
            <a:srgbClr val="2C3347"/>
          </a:solidFill>
          <a:ln w="12700">
            <a:solidFill>
              <a:srgbClr val="2C3347"/>
            </a:solidFill>
            <a:prstDash val="solid"/>
          </a:ln>
        </p:spPr>
        <p:txBody>
          <a:bodyPr/>
          <a:lstStyle/>
          <a:p>
            <a:endParaRPr lang="es-ES"/>
          </a:p>
        </p:txBody>
      </p:sp>
      <p:sp>
        <p:nvSpPr>
          <p:cNvPr id="10" name="Text 8"/>
          <p:cNvSpPr txBox="1"/>
          <p:nvPr/>
        </p:nvSpPr>
        <p:spPr>
          <a:xfrm>
            <a:off x="4846320" y="1435608"/>
            <a:ext cx="73152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mm</a:t>
            </a:r>
            <a:endParaRPr lang="en-US" sz="1600" dirty="0"/>
          </a:p>
        </p:txBody>
      </p:sp>
      <p:sp>
        <p:nvSpPr>
          <p:cNvPr id="11" name="Text 9"/>
          <p:cNvSpPr txBox="1"/>
          <p:nvPr/>
        </p:nvSpPr>
        <p:spPr>
          <a:xfrm>
            <a:off x="5760720" y="1325880"/>
            <a:ext cx="2743200" cy="320040"/>
          </a:xfrm>
          <a:prstGeom prst="rect">
            <a:avLst/>
          </a:prstGeom>
          <a:noFill/>
          <a:ln/>
        </p:spPr>
        <p:txBody>
          <a:bodyPr wrap="square" lIns="0" tIns="0" rIns="0" bIns="0" rtlCol="0" anchor="ctr"/>
          <a:lstStyle/>
          <a:p>
            <a:pPr marL="0" indent="0">
              <a:buNone/>
            </a:pPr>
            <a:r>
              <a:rPr lang="en-US" sz="1600" b="1" dirty="0">
                <a:solidFill>
                  <a:srgbClr val="1F2433"/>
                </a:solidFill>
                <a:latin typeface="Calibri" pitchFamily="34" charset="0"/>
                <a:ea typeface="Calibri" pitchFamily="34" charset="-122"/>
                <a:cs typeface="Calibri" pitchFamily="34" charset="-120"/>
              </a:rPr>
              <a:t>Milímetros</a:t>
            </a:r>
            <a:endParaRPr lang="en-US" sz="1600" dirty="0"/>
          </a:p>
        </p:txBody>
      </p:sp>
      <p:sp>
        <p:nvSpPr>
          <p:cNvPr id="12" name="Text 10"/>
          <p:cNvSpPr txBox="1"/>
          <p:nvPr/>
        </p:nvSpPr>
        <p:spPr>
          <a:xfrm>
            <a:off x="5760720" y="1664208"/>
            <a:ext cx="2743200" cy="320040"/>
          </a:xfrm>
          <a:prstGeom prst="rect">
            <a:avLst/>
          </a:prstGeom>
          <a:noFill/>
          <a:ln/>
        </p:spPr>
        <p:txBody>
          <a:bodyPr wrap="square" lIns="0" tIns="0" rIns="0" bIns="0" rtlCol="0" anchor="ctr"/>
          <a:lstStyle/>
          <a:p>
            <a:pPr marL="0" indent="0">
              <a:buNone/>
            </a:pPr>
            <a:r>
              <a:rPr lang="en-US" sz="1300" dirty="0">
                <a:solidFill>
                  <a:srgbClr val="5B6475"/>
                </a:solidFill>
                <a:latin typeface="Courier New" pitchFamily="34" charset="0"/>
                <a:ea typeface="Courier New" pitchFamily="34" charset="-122"/>
                <a:cs typeface="Courier New" pitchFamily="34" charset="-120"/>
              </a:rPr>
              <a:t>1mm = 1/10 cm</a:t>
            </a:r>
            <a:endParaRPr lang="en-US" sz="1300" dirty="0"/>
          </a:p>
        </p:txBody>
      </p:sp>
      <p:sp>
        <p:nvSpPr>
          <p:cNvPr id="13" name="Shape 11"/>
          <p:cNvSpPr/>
          <p:nvPr/>
        </p:nvSpPr>
        <p:spPr>
          <a:xfrm>
            <a:off x="457200" y="2286000"/>
            <a:ext cx="4023360" cy="914400"/>
          </a:xfrm>
          <a:prstGeom prst="roundRect">
            <a:avLst>
              <a:gd name="adj" fmla="val 10000"/>
            </a:avLst>
          </a:prstGeom>
          <a:solidFill>
            <a:srgbClr val="EEF1F6"/>
          </a:solidFill>
          <a:ln w="12700">
            <a:solidFill>
              <a:srgbClr val="EEF1F6"/>
            </a:solidFill>
            <a:prstDash val="solid"/>
          </a:ln>
        </p:spPr>
        <p:txBody>
          <a:bodyPr/>
          <a:lstStyle/>
          <a:p>
            <a:endParaRPr lang="es-ES"/>
          </a:p>
        </p:txBody>
      </p:sp>
      <p:sp>
        <p:nvSpPr>
          <p:cNvPr id="14" name="Shape 12"/>
          <p:cNvSpPr/>
          <p:nvPr/>
        </p:nvSpPr>
        <p:spPr>
          <a:xfrm>
            <a:off x="640080" y="2532888"/>
            <a:ext cx="731520" cy="411480"/>
          </a:xfrm>
          <a:prstGeom prst="roundRect">
            <a:avLst>
              <a:gd name="adj" fmla="val 17778"/>
            </a:avLst>
          </a:prstGeom>
          <a:solidFill>
            <a:srgbClr val="2C3347"/>
          </a:solidFill>
          <a:ln w="12700">
            <a:solidFill>
              <a:srgbClr val="2C3347"/>
            </a:solidFill>
            <a:prstDash val="solid"/>
          </a:ln>
        </p:spPr>
        <p:txBody>
          <a:bodyPr/>
          <a:lstStyle/>
          <a:p>
            <a:endParaRPr lang="es-ES"/>
          </a:p>
        </p:txBody>
      </p:sp>
      <p:sp>
        <p:nvSpPr>
          <p:cNvPr id="15" name="Text 13"/>
          <p:cNvSpPr txBox="1"/>
          <p:nvPr/>
        </p:nvSpPr>
        <p:spPr>
          <a:xfrm>
            <a:off x="640080" y="2532888"/>
            <a:ext cx="73152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in</a:t>
            </a:r>
            <a:endParaRPr lang="en-US" sz="1600" dirty="0"/>
          </a:p>
        </p:txBody>
      </p:sp>
      <p:sp>
        <p:nvSpPr>
          <p:cNvPr id="16" name="Text 14"/>
          <p:cNvSpPr txBox="1"/>
          <p:nvPr/>
        </p:nvSpPr>
        <p:spPr>
          <a:xfrm>
            <a:off x="1554480" y="2423160"/>
            <a:ext cx="2743200" cy="320040"/>
          </a:xfrm>
          <a:prstGeom prst="rect">
            <a:avLst/>
          </a:prstGeom>
          <a:noFill/>
          <a:ln/>
        </p:spPr>
        <p:txBody>
          <a:bodyPr wrap="square" lIns="0" tIns="0" rIns="0" bIns="0" rtlCol="0" anchor="ctr"/>
          <a:lstStyle/>
          <a:p>
            <a:pPr marL="0" indent="0">
              <a:buNone/>
            </a:pPr>
            <a:r>
              <a:rPr lang="en-US" sz="1600" b="1" dirty="0">
                <a:solidFill>
                  <a:srgbClr val="1F2433"/>
                </a:solidFill>
                <a:latin typeface="Calibri" pitchFamily="34" charset="0"/>
                <a:ea typeface="Calibri" pitchFamily="34" charset="-122"/>
                <a:cs typeface="Calibri" pitchFamily="34" charset="-120"/>
              </a:rPr>
              <a:t>Pulgadas</a:t>
            </a:r>
            <a:endParaRPr lang="en-US" sz="1600" dirty="0"/>
          </a:p>
        </p:txBody>
      </p:sp>
      <p:sp>
        <p:nvSpPr>
          <p:cNvPr id="17" name="Text 15"/>
          <p:cNvSpPr txBox="1"/>
          <p:nvPr/>
        </p:nvSpPr>
        <p:spPr>
          <a:xfrm>
            <a:off x="1554480" y="2761488"/>
            <a:ext cx="2743200" cy="320040"/>
          </a:xfrm>
          <a:prstGeom prst="rect">
            <a:avLst/>
          </a:prstGeom>
          <a:noFill/>
          <a:ln/>
        </p:spPr>
        <p:txBody>
          <a:bodyPr wrap="square" lIns="0" tIns="0" rIns="0" bIns="0" rtlCol="0" anchor="ctr"/>
          <a:lstStyle/>
          <a:p>
            <a:pPr marL="0" indent="0">
              <a:buNone/>
            </a:pPr>
            <a:r>
              <a:rPr lang="en-US" sz="1300" dirty="0">
                <a:solidFill>
                  <a:srgbClr val="5B6475"/>
                </a:solidFill>
                <a:latin typeface="Courier New" pitchFamily="34" charset="0"/>
                <a:ea typeface="Courier New" pitchFamily="34" charset="-122"/>
                <a:cs typeface="Courier New" pitchFamily="34" charset="-120"/>
              </a:rPr>
              <a:t>1in = 96px = 2.54cm</a:t>
            </a:r>
            <a:endParaRPr lang="en-US" sz="1300" dirty="0"/>
          </a:p>
        </p:txBody>
      </p:sp>
      <p:sp>
        <p:nvSpPr>
          <p:cNvPr id="18" name="Shape 16"/>
          <p:cNvSpPr/>
          <p:nvPr/>
        </p:nvSpPr>
        <p:spPr>
          <a:xfrm>
            <a:off x="4663440" y="2286000"/>
            <a:ext cx="4023360" cy="914400"/>
          </a:xfrm>
          <a:prstGeom prst="roundRect">
            <a:avLst>
              <a:gd name="adj" fmla="val 10000"/>
            </a:avLst>
          </a:prstGeom>
          <a:solidFill>
            <a:srgbClr val="EEF1F6"/>
          </a:solidFill>
          <a:ln w="12700">
            <a:solidFill>
              <a:srgbClr val="EEF1F6"/>
            </a:solidFill>
            <a:prstDash val="solid"/>
          </a:ln>
        </p:spPr>
        <p:txBody>
          <a:bodyPr/>
          <a:lstStyle/>
          <a:p>
            <a:endParaRPr lang="es-ES"/>
          </a:p>
        </p:txBody>
      </p:sp>
      <p:sp>
        <p:nvSpPr>
          <p:cNvPr id="19" name="Shape 17"/>
          <p:cNvSpPr/>
          <p:nvPr/>
        </p:nvSpPr>
        <p:spPr>
          <a:xfrm>
            <a:off x="4846320" y="2532888"/>
            <a:ext cx="731520" cy="411480"/>
          </a:xfrm>
          <a:prstGeom prst="roundRect">
            <a:avLst>
              <a:gd name="adj" fmla="val 17778"/>
            </a:avLst>
          </a:prstGeom>
          <a:solidFill>
            <a:srgbClr val="2C3347"/>
          </a:solidFill>
          <a:ln w="12700">
            <a:solidFill>
              <a:srgbClr val="2C3347"/>
            </a:solidFill>
            <a:prstDash val="solid"/>
          </a:ln>
        </p:spPr>
        <p:txBody>
          <a:bodyPr/>
          <a:lstStyle/>
          <a:p>
            <a:endParaRPr lang="es-ES"/>
          </a:p>
        </p:txBody>
      </p:sp>
      <p:sp>
        <p:nvSpPr>
          <p:cNvPr id="20" name="Text 18"/>
          <p:cNvSpPr txBox="1"/>
          <p:nvPr/>
        </p:nvSpPr>
        <p:spPr>
          <a:xfrm>
            <a:off x="4846320" y="2532888"/>
            <a:ext cx="73152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px</a:t>
            </a:r>
            <a:endParaRPr lang="en-US" sz="1600" dirty="0"/>
          </a:p>
        </p:txBody>
      </p:sp>
      <p:sp>
        <p:nvSpPr>
          <p:cNvPr id="21" name="Text 19"/>
          <p:cNvSpPr txBox="1"/>
          <p:nvPr/>
        </p:nvSpPr>
        <p:spPr>
          <a:xfrm>
            <a:off x="5760720" y="2423160"/>
            <a:ext cx="2743200" cy="320040"/>
          </a:xfrm>
          <a:prstGeom prst="rect">
            <a:avLst/>
          </a:prstGeom>
          <a:noFill/>
          <a:ln/>
        </p:spPr>
        <p:txBody>
          <a:bodyPr wrap="square" lIns="0" tIns="0" rIns="0" bIns="0" rtlCol="0" anchor="ctr"/>
          <a:lstStyle/>
          <a:p>
            <a:pPr marL="0" indent="0">
              <a:buNone/>
            </a:pPr>
            <a:r>
              <a:rPr lang="en-US" sz="1600" b="1" dirty="0">
                <a:solidFill>
                  <a:srgbClr val="1F2433"/>
                </a:solidFill>
                <a:latin typeface="Calibri" pitchFamily="34" charset="0"/>
                <a:ea typeface="Calibri" pitchFamily="34" charset="-122"/>
                <a:cs typeface="Calibri" pitchFamily="34" charset="-120"/>
              </a:rPr>
              <a:t>Píxeles</a:t>
            </a:r>
            <a:endParaRPr lang="en-US" sz="1600" dirty="0"/>
          </a:p>
        </p:txBody>
      </p:sp>
      <p:sp>
        <p:nvSpPr>
          <p:cNvPr id="22" name="Text 20"/>
          <p:cNvSpPr txBox="1"/>
          <p:nvPr/>
        </p:nvSpPr>
        <p:spPr>
          <a:xfrm>
            <a:off x="5760720" y="2761488"/>
            <a:ext cx="2743200" cy="320040"/>
          </a:xfrm>
          <a:prstGeom prst="rect">
            <a:avLst/>
          </a:prstGeom>
          <a:noFill/>
          <a:ln/>
        </p:spPr>
        <p:txBody>
          <a:bodyPr wrap="square" lIns="0" tIns="0" rIns="0" bIns="0" rtlCol="0" anchor="ctr"/>
          <a:lstStyle/>
          <a:p>
            <a:pPr marL="0" indent="0">
              <a:buNone/>
            </a:pPr>
            <a:r>
              <a:rPr lang="en-US" sz="1300" dirty="0">
                <a:solidFill>
                  <a:srgbClr val="5B6475"/>
                </a:solidFill>
                <a:latin typeface="Courier New" pitchFamily="34" charset="0"/>
                <a:ea typeface="Courier New" pitchFamily="34" charset="-122"/>
                <a:cs typeface="Courier New" pitchFamily="34" charset="-120"/>
              </a:rPr>
              <a:t>1px = 1/96 in</a:t>
            </a:r>
            <a:endParaRPr lang="en-US" sz="1300" dirty="0"/>
          </a:p>
        </p:txBody>
      </p:sp>
      <p:sp>
        <p:nvSpPr>
          <p:cNvPr id="23" name="Shape 21"/>
          <p:cNvSpPr/>
          <p:nvPr/>
        </p:nvSpPr>
        <p:spPr>
          <a:xfrm>
            <a:off x="457200" y="3383280"/>
            <a:ext cx="4023360" cy="914400"/>
          </a:xfrm>
          <a:prstGeom prst="roundRect">
            <a:avLst>
              <a:gd name="adj" fmla="val 10000"/>
            </a:avLst>
          </a:prstGeom>
          <a:solidFill>
            <a:srgbClr val="EEF1F6"/>
          </a:solidFill>
          <a:ln w="12700">
            <a:solidFill>
              <a:srgbClr val="EEF1F6"/>
            </a:solidFill>
            <a:prstDash val="solid"/>
          </a:ln>
        </p:spPr>
        <p:txBody>
          <a:bodyPr/>
          <a:lstStyle/>
          <a:p>
            <a:endParaRPr lang="es-ES"/>
          </a:p>
        </p:txBody>
      </p:sp>
      <p:sp>
        <p:nvSpPr>
          <p:cNvPr id="24" name="Shape 22"/>
          <p:cNvSpPr/>
          <p:nvPr/>
        </p:nvSpPr>
        <p:spPr>
          <a:xfrm>
            <a:off x="640080" y="3630168"/>
            <a:ext cx="731520" cy="411480"/>
          </a:xfrm>
          <a:prstGeom prst="roundRect">
            <a:avLst>
              <a:gd name="adj" fmla="val 17778"/>
            </a:avLst>
          </a:prstGeom>
          <a:solidFill>
            <a:srgbClr val="2C3347"/>
          </a:solidFill>
          <a:ln w="12700">
            <a:solidFill>
              <a:srgbClr val="2C3347"/>
            </a:solidFill>
            <a:prstDash val="solid"/>
          </a:ln>
        </p:spPr>
        <p:txBody>
          <a:bodyPr/>
          <a:lstStyle/>
          <a:p>
            <a:endParaRPr lang="es-ES"/>
          </a:p>
        </p:txBody>
      </p:sp>
      <p:sp>
        <p:nvSpPr>
          <p:cNvPr id="25" name="Text 23"/>
          <p:cNvSpPr txBox="1"/>
          <p:nvPr/>
        </p:nvSpPr>
        <p:spPr>
          <a:xfrm>
            <a:off x="640080" y="3630168"/>
            <a:ext cx="73152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pt</a:t>
            </a:r>
            <a:endParaRPr lang="en-US" sz="1600" dirty="0"/>
          </a:p>
        </p:txBody>
      </p:sp>
      <p:sp>
        <p:nvSpPr>
          <p:cNvPr id="26" name="Text 24"/>
          <p:cNvSpPr txBox="1"/>
          <p:nvPr/>
        </p:nvSpPr>
        <p:spPr>
          <a:xfrm>
            <a:off x="1554480" y="3520440"/>
            <a:ext cx="2743200" cy="320040"/>
          </a:xfrm>
          <a:prstGeom prst="rect">
            <a:avLst/>
          </a:prstGeom>
          <a:noFill/>
          <a:ln/>
        </p:spPr>
        <p:txBody>
          <a:bodyPr wrap="square" lIns="0" tIns="0" rIns="0" bIns="0" rtlCol="0" anchor="ctr"/>
          <a:lstStyle/>
          <a:p>
            <a:pPr marL="0" indent="0">
              <a:buNone/>
            </a:pPr>
            <a:r>
              <a:rPr lang="en-US" sz="1600" b="1" dirty="0">
                <a:solidFill>
                  <a:srgbClr val="1F2433"/>
                </a:solidFill>
                <a:latin typeface="Calibri" pitchFamily="34" charset="0"/>
                <a:ea typeface="Calibri" pitchFamily="34" charset="-122"/>
                <a:cs typeface="Calibri" pitchFamily="34" charset="-120"/>
              </a:rPr>
              <a:t>Puntos</a:t>
            </a:r>
            <a:endParaRPr lang="en-US" sz="1600" dirty="0"/>
          </a:p>
        </p:txBody>
      </p:sp>
      <p:sp>
        <p:nvSpPr>
          <p:cNvPr id="27" name="Text 25"/>
          <p:cNvSpPr txBox="1"/>
          <p:nvPr/>
        </p:nvSpPr>
        <p:spPr>
          <a:xfrm>
            <a:off x="1554480" y="3858768"/>
            <a:ext cx="2743200" cy="320040"/>
          </a:xfrm>
          <a:prstGeom prst="rect">
            <a:avLst/>
          </a:prstGeom>
          <a:noFill/>
          <a:ln/>
        </p:spPr>
        <p:txBody>
          <a:bodyPr wrap="square" lIns="0" tIns="0" rIns="0" bIns="0" rtlCol="0" anchor="ctr"/>
          <a:lstStyle/>
          <a:p>
            <a:pPr marL="0" indent="0">
              <a:buNone/>
            </a:pPr>
            <a:r>
              <a:rPr lang="en-US" sz="1300" dirty="0">
                <a:solidFill>
                  <a:srgbClr val="5B6475"/>
                </a:solidFill>
                <a:latin typeface="Courier New" pitchFamily="34" charset="0"/>
                <a:ea typeface="Courier New" pitchFamily="34" charset="-122"/>
                <a:cs typeface="Courier New" pitchFamily="34" charset="-120"/>
              </a:rPr>
              <a:t>1pt = 1/72 in</a:t>
            </a:r>
            <a:endParaRPr lang="en-US" sz="1300" dirty="0"/>
          </a:p>
        </p:txBody>
      </p:sp>
      <p:sp>
        <p:nvSpPr>
          <p:cNvPr id="28" name="Shape 26"/>
          <p:cNvSpPr/>
          <p:nvPr/>
        </p:nvSpPr>
        <p:spPr>
          <a:xfrm>
            <a:off x="4663440" y="3383280"/>
            <a:ext cx="4023360" cy="914400"/>
          </a:xfrm>
          <a:prstGeom prst="roundRect">
            <a:avLst>
              <a:gd name="adj" fmla="val 10000"/>
            </a:avLst>
          </a:prstGeom>
          <a:solidFill>
            <a:srgbClr val="EEF1F6"/>
          </a:solidFill>
          <a:ln w="12700">
            <a:solidFill>
              <a:srgbClr val="EEF1F6"/>
            </a:solidFill>
            <a:prstDash val="solid"/>
          </a:ln>
        </p:spPr>
        <p:txBody>
          <a:bodyPr/>
          <a:lstStyle/>
          <a:p>
            <a:endParaRPr lang="es-ES"/>
          </a:p>
        </p:txBody>
      </p:sp>
      <p:sp>
        <p:nvSpPr>
          <p:cNvPr id="29" name="Shape 27"/>
          <p:cNvSpPr/>
          <p:nvPr/>
        </p:nvSpPr>
        <p:spPr>
          <a:xfrm>
            <a:off x="4846320" y="3630168"/>
            <a:ext cx="731520" cy="411480"/>
          </a:xfrm>
          <a:prstGeom prst="roundRect">
            <a:avLst>
              <a:gd name="adj" fmla="val 17778"/>
            </a:avLst>
          </a:prstGeom>
          <a:solidFill>
            <a:srgbClr val="2C3347"/>
          </a:solidFill>
          <a:ln w="12700">
            <a:solidFill>
              <a:srgbClr val="2C3347"/>
            </a:solidFill>
            <a:prstDash val="solid"/>
          </a:ln>
        </p:spPr>
        <p:txBody>
          <a:bodyPr/>
          <a:lstStyle/>
          <a:p>
            <a:endParaRPr lang="es-ES"/>
          </a:p>
        </p:txBody>
      </p:sp>
      <p:sp>
        <p:nvSpPr>
          <p:cNvPr id="30" name="Text 28"/>
          <p:cNvSpPr txBox="1"/>
          <p:nvPr/>
        </p:nvSpPr>
        <p:spPr>
          <a:xfrm>
            <a:off x="4846320" y="3630168"/>
            <a:ext cx="73152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pc</a:t>
            </a:r>
            <a:endParaRPr lang="en-US" sz="1600" dirty="0"/>
          </a:p>
        </p:txBody>
      </p:sp>
      <p:sp>
        <p:nvSpPr>
          <p:cNvPr id="31" name="Text 29"/>
          <p:cNvSpPr txBox="1"/>
          <p:nvPr/>
        </p:nvSpPr>
        <p:spPr>
          <a:xfrm>
            <a:off x="5760720" y="3520440"/>
            <a:ext cx="2743200" cy="320040"/>
          </a:xfrm>
          <a:prstGeom prst="rect">
            <a:avLst/>
          </a:prstGeom>
          <a:noFill/>
          <a:ln/>
        </p:spPr>
        <p:txBody>
          <a:bodyPr wrap="square" lIns="0" tIns="0" rIns="0" bIns="0" rtlCol="0" anchor="ctr"/>
          <a:lstStyle/>
          <a:p>
            <a:pPr marL="0" indent="0">
              <a:buNone/>
            </a:pPr>
            <a:r>
              <a:rPr lang="en-US" sz="1600" b="1" dirty="0">
                <a:solidFill>
                  <a:srgbClr val="1F2433"/>
                </a:solidFill>
                <a:latin typeface="Calibri" pitchFamily="34" charset="0"/>
                <a:ea typeface="Calibri" pitchFamily="34" charset="-122"/>
                <a:cs typeface="Calibri" pitchFamily="34" charset="-120"/>
              </a:rPr>
              <a:t>Picas</a:t>
            </a:r>
            <a:endParaRPr lang="en-US" sz="1600" dirty="0"/>
          </a:p>
        </p:txBody>
      </p:sp>
      <p:sp>
        <p:nvSpPr>
          <p:cNvPr id="32" name="Text 30"/>
          <p:cNvSpPr txBox="1"/>
          <p:nvPr/>
        </p:nvSpPr>
        <p:spPr>
          <a:xfrm>
            <a:off x="5760720" y="3858768"/>
            <a:ext cx="2743200" cy="320040"/>
          </a:xfrm>
          <a:prstGeom prst="rect">
            <a:avLst/>
          </a:prstGeom>
          <a:noFill/>
          <a:ln/>
        </p:spPr>
        <p:txBody>
          <a:bodyPr wrap="square" lIns="0" tIns="0" rIns="0" bIns="0" rtlCol="0" anchor="ctr"/>
          <a:lstStyle/>
          <a:p>
            <a:pPr marL="0" indent="0">
              <a:buNone/>
            </a:pPr>
            <a:r>
              <a:rPr lang="en-US" sz="1300" dirty="0">
                <a:solidFill>
                  <a:srgbClr val="5B6475"/>
                </a:solidFill>
                <a:latin typeface="Courier New" pitchFamily="34" charset="0"/>
                <a:ea typeface="Courier New" pitchFamily="34" charset="-122"/>
                <a:cs typeface="Courier New" pitchFamily="34" charset="-120"/>
              </a:rPr>
              <a:t>1pc = 12pt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F2433"/>
                </a:solidFill>
                <a:latin typeface="Cambria" pitchFamily="34" charset="0"/>
                <a:ea typeface="Cambria" pitchFamily="34" charset="-122"/>
                <a:cs typeface="Cambria" pitchFamily="34" charset="-120"/>
              </a:rPr>
              <a:t>¿Por qué no usar px para todo?</a:t>
            </a:r>
            <a:endParaRPr lang="en-US" sz="3000" dirty="0"/>
          </a:p>
        </p:txBody>
      </p:sp>
      <p:sp>
        <p:nvSpPr>
          <p:cNvPr id="3" name="Shape 1"/>
          <p:cNvSpPr/>
          <p:nvPr/>
        </p:nvSpPr>
        <p:spPr>
          <a:xfrm>
            <a:off x="457200" y="1188720"/>
            <a:ext cx="3840480" cy="1463040"/>
          </a:xfrm>
          <a:prstGeom prst="roundRect">
            <a:avLst>
              <a:gd name="adj" fmla="val 6250"/>
            </a:avLst>
          </a:prstGeom>
          <a:solidFill>
            <a:srgbClr val="2C3347"/>
          </a:solidFill>
          <a:ln w="12700">
            <a:solidFill>
              <a:srgbClr val="2C3347"/>
            </a:solidFill>
            <a:prstDash val="solid"/>
          </a:ln>
        </p:spPr>
        <p:txBody>
          <a:bodyPr/>
          <a:lstStyle/>
          <a:p>
            <a:endParaRPr lang="es-ES"/>
          </a:p>
        </p:txBody>
      </p:sp>
      <p:sp>
        <p:nvSpPr>
          <p:cNvPr id="4" name="Text 2"/>
          <p:cNvSpPr txBox="1"/>
          <p:nvPr/>
        </p:nvSpPr>
        <p:spPr>
          <a:xfrm>
            <a:off x="640080" y="1325880"/>
            <a:ext cx="3474720" cy="1188720"/>
          </a:xfrm>
          <a:prstGeom prst="rect">
            <a:avLst/>
          </a:prstGeom>
          <a:noFill/>
          <a:ln/>
        </p:spPr>
        <p:txBody>
          <a:bodyPr wrap="square" lIns="0" tIns="0" rIns="0" bIns="0" rtlCol="0" anchor="t"/>
          <a:lstStyle/>
          <a:p>
            <a:pPr marL="0" indent="0">
              <a:buNone/>
            </a:pPr>
            <a:r>
              <a:rPr lang="en-US" sz="1600" dirty="0">
                <a:solidFill>
                  <a:srgbClr val="E8ECF3"/>
                </a:solidFill>
                <a:latin typeface="Courier New" pitchFamily="34" charset="0"/>
                <a:ea typeface="Courier New" pitchFamily="34" charset="-122"/>
                <a:cs typeface="Courier New" pitchFamily="34" charset="-120"/>
              </a:rPr>
              <a:t>p {</a:t>
            </a:r>
            <a:endParaRPr lang="en-US" sz="1600" dirty="0"/>
          </a:p>
          <a:p>
            <a:pPr marL="0" indent="0">
              <a:buNone/>
            </a:pPr>
            <a:r>
              <a:rPr lang="en-US" sz="1600" dirty="0">
                <a:solidFill>
                  <a:srgbClr val="E8ECF3"/>
                </a:solidFill>
                <a:latin typeface="Courier New" pitchFamily="34" charset="0"/>
                <a:ea typeface="Courier New" pitchFamily="34" charset="-122"/>
                <a:cs typeface="Courier New" pitchFamily="34" charset="-120"/>
              </a:rPr>
              <a:t>  font-size: 16px;</a:t>
            </a:r>
            <a:endParaRPr lang="en-US" sz="1600" dirty="0"/>
          </a:p>
          <a:p>
            <a:pPr marL="0" indent="0">
              <a:buNone/>
            </a:pPr>
            <a:r>
              <a:rPr lang="en-US" sz="1600" dirty="0">
                <a:solidFill>
                  <a:srgbClr val="E8ECF3"/>
                </a:solidFill>
                <a:latin typeface="Courier New" pitchFamily="34" charset="0"/>
                <a:ea typeface="Courier New" pitchFamily="34" charset="-122"/>
                <a:cs typeface="Courier New" pitchFamily="34" charset="-120"/>
              </a:rPr>
              <a:t>  width: 600px;</a:t>
            </a:r>
            <a:endParaRPr lang="en-US" sz="1600" dirty="0"/>
          </a:p>
          <a:p>
            <a:pPr marL="0" indent="0">
              <a:buNone/>
            </a:pPr>
            <a:r>
              <a:rPr lang="en-US" sz="1600" dirty="0">
                <a:solidFill>
                  <a:srgbClr val="E8ECF3"/>
                </a:solidFill>
                <a:latin typeface="Courier New" pitchFamily="34" charset="0"/>
                <a:ea typeface="Courier New" pitchFamily="34" charset="-122"/>
                <a:cs typeface="Courier New" pitchFamily="34" charset="-120"/>
              </a:rPr>
              <a:t>}</a:t>
            </a:r>
            <a:endParaRPr lang="en-US" sz="1600" dirty="0"/>
          </a:p>
        </p:txBody>
      </p:sp>
      <p:sp>
        <p:nvSpPr>
          <p:cNvPr id="5" name="Text 3"/>
          <p:cNvSpPr txBox="1"/>
          <p:nvPr/>
        </p:nvSpPr>
        <p:spPr>
          <a:xfrm>
            <a:off x="457200" y="2880360"/>
            <a:ext cx="3840480" cy="1463040"/>
          </a:xfrm>
          <a:prstGeom prst="rect">
            <a:avLst/>
          </a:prstGeom>
          <a:noFill/>
          <a:ln/>
        </p:spPr>
        <p:txBody>
          <a:bodyPr wrap="square" lIns="0" tIns="0" rIns="0" bIns="0" rtlCol="0" anchor="t"/>
          <a:lstStyle/>
          <a:p>
            <a:pPr marL="0" indent="0">
              <a:buNone/>
            </a:pPr>
            <a:r>
              <a:rPr lang="en-US" sz="1400" dirty="0">
                <a:solidFill>
                  <a:srgbClr val="5B6475"/>
                </a:solidFill>
                <a:latin typeface="Calibri" pitchFamily="34" charset="0"/>
                <a:ea typeface="Calibri" pitchFamily="34" charset="-122"/>
                <a:cs typeface="Calibri" pitchFamily="34" charset="-120"/>
              </a:rPr>
              <a:t>Tamaños rígidos: el texto ignora la configuración de tamaño de fuente del navegador del usuario, y el ancho no se adapta a pantallas estrechas.</a:t>
            </a:r>
            <a:endParaRPr lang="en-US" sz="1400" dirty="0"/>
          </a:p>
        </p:txBody>
      </p:sp>
      <p:sp>
        <p:nvSpPr>
          <p:cNvPr id="6" name="Text 4"/>
          <p:cNvSpPr txBox="1"/>
          <p:nvPr/>
        </p:nvSpPr>
        <p:spPr>
          <a:xfrm>
            <a:off x="4754880" y="1188720"/>
            <a:ext cx="3931920" cy="3291840"/>
          </a:xfrm>
          <a:prstGeom prst="rect">
            <a:avLst/>
          </a:prstGeom>
          <a:noFill/>
          <a:ln/>
        </p:spPr>
        <p:txBody>
          <a:bodyPr wrap="square" lIns="0" tIns="0" rIns="0" bIns="0" rtlCol="0" anchor="t"/>
          <a:lstStyle/>
          <a:p>
            <a:pPr marL="342900" indent="-342900">
              <a:spcAft>
                <a:spcPts val="800"/>
              </a:spcAft>
              <a:buSzPct val="100000"/>
              <a:buChar char="•"/>
            </a:pPr>
            <a:r>
              <a:rPr lang="en-US" sz="1500" b="1" dirty="0">
                <a:solidFill>
                  <a:srgbClr val="1F2433"/>
                </a:solidFill>
                <a:latin typeface="Calibri" pitchFamily="34" charset="0"/>
                <a:ea typeface="Calibri" pitchFamily="34" charset="-122"/>
                <a:cs typeface="Calibri" pitchFamily="34" charset="-120"/>
              </a:rPr>
              <a:t>Accesibilidad: </a:t>
            </a:r>
            <a:r>
              <a:rPr lang="en-US" sz="1500" dirty="0">
                <a:solidFill>
                  <a:srgbClr val="1F2433"/>
                </a:solidFill>
                <a:latin typeface="Calibri" pitchFamily="34" charset="0"/>
                <a:ea typeface="Calibri" pitchFamily="34" charset="-122"/>
                <a:cs typeface="Calibri" pitchFamily="34" charset="-120"/>
              </a:rPr>
              <a:t>quien aumenta la fuente por defecto del navegador no ve el cambio.</a:t>
            </a:r>
            <a:endParaRPr lang="en-US" sz="1500" dirty="0"/>
          </a:p>
          <a:p>
            <a:pPr marL="342900" indent="-342900">
              <a:spcAft>
                <a:spcPts val="800"/>
              </a:spcAft>
              <a:buSzPct val="100000"/>
              <a:buChar char="•"/>
            </a:pPr>
            <a:r>
              <a:rPr lang="en-US" sz="1500" b="1" dirty="0">
                <a:solidFill>
                  <a:srgbClr val="1F2433"/>
                </a:solidFill>
                <a:latin typeface="Calibri" pitchFamily="34" charset="0"/>
                <a:ea typeface="Calibri" pitchFamily="34" charset="-122"/>
                <a:cs typeface="Calibri" pitchFamily="34" charset="-120"/>
              </a:rPr>
              <a:t>Responsive: </a:t>
            </a:r>
            <a:r>
              <a:rPr lang="en-US" sz="1500" dirty="0">
                <a:solidFill>
                  <a:srgbClr val="1F2433"/>
                </a:solidFill>
                <a:latin typeface="Calibri" pitchFamily="34" charset="0"/>
                <a:ea typeface="Calibri" pitchFamily="34" charset="-122"/>
                <a:cs typeface="Calibri" pitchFamily="34" charset="-120"/>
              </a:rPr>
              <a:t>medidas fijas obligan a escribir muchas más media queries.</a:t>
            </a:r>
            <a:endParaRPr lang="en-US" sz="1500" dirty="0"/>
          </a:p>
          <a:p>
            <a:pPr marL="342900" indent="-342900">
              <a:spcAft>
                <a:spcPts val="800"/>
              </a:spcAft>
              <a:buSzPct val="100000"/>
              <a:buChar char="•"/>
            </a:pPr>
            <a:r>
              <a:rPr lang="en-US" sz="1500" b="1" dirty="0">
                <a:solidFill>
                  <a:srgbClr val="1F2433"/>
                </a:solidFill>
                <a:latin typeface="Calibri" pitchFamily="34" charset="0"/>
                <a:ea typeface="Calibri" pitchFamily="34" charset="-122"/>
                <a:cs typeface="Calibri" pitchFamily="34" charset="-120"/>
              </a:rPr>
              <a:t>Mantenimiento: </a:t>
            </a:r>
            <a:r>
              <a:rPr lang="en-US" sz="1500" dirty="0">
                <a:solidFill>
                  <a:srgbClr val="1F2433"/>
                </a:solidFill>
                <a:latin typeface="Calibri" pitchFamily="34" charset="0"/>
                <a:ea typeface="Calibri" pitchFamily="34" charset="-122"/>
                <a:cs typeface="Calibri" pitchFamily="34" charset="-120"/>
              </a:rPr>
              <a:t>cambiar la escala del diseño implica tocar muchos valores.</a:t>
            </a:r>
            <a:endParaRPr lang="en-US" sz="1500" dirty="0"/>
          </a:p>
          <a:p>
            <a:pPr marL="342900" indent="-342900">
              <a:spcAft>
                <a:spcPts val="800"/>
              </a:spcAft>
              <a:buSzPct val="100000"/>
              <a:buChar char="•"/>
            </a:pPr>
            <a:r>
              <a:rPr lang="en-US" sz="1500" b="1" dirty="0">
                <a:solidFill>
                  <a:srgbClr val="1F2433"/>
                </a:solidFill>
                <a:latin typeface="Calibri" pitchFamily="34" charset="0"/>
                <a:ea typeface="Calibri" pitchFamily="34" charset="-122"/>
                <a:cs typeface="Calibri" pitchFamily="34" charset="-120"/>
              </a:rPr>
              <a:t>Aun así, </a:t>
            </a:r>
            <a:r>
              <a:rPr lang="en-US" sz="1500" dirty="0">
                <a:solidFill>
                  <a:srgbClr val="1F2433"/>
                </a:solidFill>
                <a:latin typeface="Calibri" pitchFamily="34" charset="0"/>
                <a:ea typeface="Calibri" pitchFamily="34" charset="-122"/>
                <a:cs typeface="Calibri" pitchFamily="34" charset="-120"/>
              </a:rPr>
              <a:t>px sigue siendo útil para bordes, sombras o detalles pequeños.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F2433"/>
                </a:solidFill>
                <a:latin typeface="Cambria" pitchFamily="34" charset="0"/>
                <a:ea typeface="Cambria" pitchFamily="34" charset="-122"/>
                <a:cs typeface="Cambria" pitchFamily="34" charset="-120"/>
              </a:rPr>
              <a:t>Unidades relativas</a:t>
            </a:r>
            <a:endParaRPr lang="en-US" sz="3000" dirty="0"/>
          </a:p>
        </p:txBody>
      </p:sp>
      <p:sp>
        <p:nvSpPr>
          <p:cNvPr id="3" name="Shape 1"/>
          <p:cNvSpPr/>
          <p:nvPr/>
        </p:nvSpPr>
        <p:spPr>
          <a:xfrm>
            <a:off x="457200" y="1188720"/>
            <a:ext cx="3931920" cy="3383280"/>
          </a:xfrm>
          <a:prstGeom prst="roundRect">
            <a:avLst>
              <a:gd name="adj" fmla="val 2703"/>
            </a:avLst>
          </a:prstGeom>
          <a:solidFill>
            <a:srgbClr val="FBE9DB"/>
          </a:solidFill>
          <a:ln w="12700">
            <a:solidFill>
              <a:srgbClr val="FBE9DB"/>
            </a:solidFill>
            <a:prstDash val="solid"/>
          </a:ln>
        </p:spPr>
        <p:txBody>
          <a:bodyPr/>
          <a:lstStyle/>
          <a:p>
            <a:endParaRPr lang="es-ES"/>
          </a:p>
        </p:txBody>
      </p:sp>
      <p:sp>
        <p:nvSpPr>
          <p:cNvPr id="4" name="Text 2"/>
          <p:cNvSpPr txBox="1"/>
          <p:nvPr/>
        </p:nvSpPr>
        <p:spPr>
          <a:xfrm>
            <a:off x="731520" y="1371600"/>
            <a:ext cx="3474720" cy="411480"/>
          </a:xfrm>
          <a:prstGeom prst="rect">
            <a:avLst/>
          </a:prstGeom>
          <a:noFill/>
          <a:ln/>
        </p:spPr>
        <p:txBody>
          <a:bodyPr wrap="square" lIns="0" tIns="0" rIns="0" bIns="0" rtlCol="0" anchor="ctr"/>
          <a:lstStyle/>
          <a:p>
            <a:pPr marL="0" indent="0">
              <a:buNone/>
            </a:pPr>
            <a:r>
              <a:rPr lang="en-US" sz="1900" b="1" dirty="0">
                <a:solidFill>
                  <a:srgbClr val="E07A2F"/>
                </a:solidFill>
                <a:latin typeface="Cambria" pitchFamily="34" charset="0"/>
                <a:ea typeface="Cambria" pitchFamily="34" charset="-122"/>
                <a:cs typeface="Cambria" pitchFamily="34" charset="-120"/>
              </a:rPr>
              <a:t>Relativas a la tipografía</a:t>
            </a:r>
            <a:endParaRPr lang="en-US" sz="1900" dirty="0"/>
          </a:p>
        </p:txBody>
      </p:sp>
      <p:sp>
        <p:nvSpPr>
          <p:cNvPr id="5" name="Shape 3"/>
          <p:cNvSpPr/>
          <p:nvPr/>
        </p:nvSpPr>
        <p:spPr>
          <a:xfrm>
            <a:off x="731520" y="1965960"/>
            <a:ext cx="777240" cy="411480"/>
          </a:xfrm>
          <a:prstGeom prst="roundRect">
            <a:avLst>
              <a:gd name="adj" fmla="val 17778"/>
            </a:avLst>
          </a:prstGeom>
          <a:solidFill>
            <a:srgbClr val="E07A2F"/>
          </a:solidFill>
          <a:ln w="12700">
            <a:solidFill>
              <a:srgbClr val="E07A2F"/>
            </a:solidFill>
            <a:prstDash val="solid"/>
          </a:ln>
        </p:spPr>
        <p:txBody>
          <a:bodyPr/>
          <a:lstStyle/>
          <a:p>
            <a:endParaRPr lang="es-ES"/>
          </a:p>
        </p:txBody>
      </p:sp>
      <p:sp>
        <p:nvSpPr>
          <p:cNvPr id="6" name="Text 4"/>
          <p:cNvSpPr txBox="1"/>
          <p:nvPr/>
        </p:nvSpPr>
        <p:spPr>
          <a:xfrm>
            <a:off x="731520" y="1965960"/>
            <a:ext cx="77724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em</a:t>
            </a:r>
            <a:endParaRPr lang="en-US" sz="1600" dirty="0"/>
          </a:p>
        </p:txBody>
      </p:sp>
      <p:sp>
        <p:nvSpPr>
          <p:cNvPr id="7" name="Text 5"/>
          <p:cNvSpPr txBox="1"/>
          <p:nvPr/>
        </p:nvSpPr>
        <p:spPr>
          <a:xfrm>
            <a:off x="1691640" y="1920240"/>
            <a:ext cx="2560320" cy="502920"/>
          </a:xfrm>
          <a:prstGeom prst="rect">
            <a:avLst/>
          </a:prstGeom>
          <a:noFill/>
          <a:ln/>
        </p:spPr>
        <p:txBody>
          <a:bodyPr wrap="square" lIns="0" tIns="0" rIns="0" bIns="0" rtlCol="0" anchor="ctr"/>
          <a:lstStyle/>
          <a:p>
            <a:pPr marL="0" indent="0">
              <a:buNone/>
            </a:pPr>
            <a:r>
              <a:rPr lang="en-US" sz="1400" dirty="0">
                <a:solidFill>
                  <a:srgbClr val="1F2433"/>
                </a:solidFill>
                <a:latin typeface="Calibri" pitchFamily="34" charset="0"/>
                <a:ea typeface="Calibri" pitchFamily="34" charset="-122"/>
                <a:cs typeface="Calibri" pitchFamily="34" charset="-120"/>
              </a:rPr>
              <a:t>font-size del elemento (o del padre)</a:t>
            </a:r>
            <a:endParaRPr lang="en-US" sz="1400" dirty="0"/>
          </a:p>
        </p:txBody>
      </p:sp>
      <p:sp>
        <p:nvSpPr>
          <p:cNvPr id="8" name="Shape 6"/>
          <p:cNvSpPr/>
          <p:nvPr/>
        </p:nvSpPr>
        <p:spPr>
          <a:xfrm>
            <a:off x="731520" y="2788920"/>
            <a:ext cx="777240" cy="411480"/>
          </a:xfrm>
          <a:prstGeom prst="roundRect">
            <a:avLst>
              <a:gd name="adj" fmla="val 17778"/>
            </a:avLst>
          </a:prstGeom>
          <a:solidFill>
            <a:srgbClr val="E07A2F"/>
          </a:solidFill>
          <a:ln w="12700">
            <a:solidFill>
              <a:srgbClr val="E07A2F"/>
            </a:solidFill>
            <a:prstDash val="solid"/>
          </a:ln>
        </p:spPr>
        <p:txBody>
          <a:bodyPr/>
          <a:lstStyle/>
          <a:p>
            <a:endParaRPr lang="es-ES"/>
          </a:p>
        </p:txBody>
      </p:sp>
      <p:sp>
        <p:nvSpPr>
          <p:cNvPr id="9" name="Text 7"/>
          <p:cNvSpPr txBox="1"/>
          <p:nvPr/>
        </p:nvSpPr>
        <p:spPr>
          <a:xfrm>
            <a:off x="731520" y="2788920"/>
            <a:ext cx="77724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rem</a:t>
            </a:r>
            <a:endParaRPr lang="en-US" sz="1600" dirty="0"/>
          </a:p>
        </p:txBody>
      </p:sp>
      <p:sp>
        <p:nvSpPr>
          <p:cNvPr id="10" name="Text 8"/>
          <p:cNvSpPr txBox="1"/>
          <p:nvPr/>
        </p:nvSpPr>
        <p:spPr>
          <a:xfrm>
            <a:off x="1691640" y="2743200"/>
            <a:ext cx="2560320" cy="502920"/>
          </a:xfrm>
          <a:prstGeom prst="rect">
            <a:avLst/>
          </a:prstGeom>
          <a:noFill/>
          <a:ln/>
        </p:spPr>
        <p:txBody>
          <a:bodyPr wrap="square" lIns="0" tIns="0" rIns="0" bIns="0" rtlCol="0" anchor="ctr"/>
          <a:lstStyle/>
          <a:p>
            <a:pPr marL="0" indent="0">
              <a:buNone/>
            </a:pPr>
            <a:r>
              <a:rPr lang="en-US" sz="1400" dirty="0">
                <a:solidFill>
                  <a:srgbClr val="1F2433"/>
                </a:solidFill>
                <a:latin typeface="Calibri" pitchFamily="34" charset="0"/>
                <a:ea typeface="Calibri" pitchFamily="34" charset="-122"/>
                <a:cs typeface="Calibri" pitchFamily="34" charset="-120"/>
              </a:rPr>
              <a:t>font-size del elemento raíz &lt;html&gt;</a:t>
            </a:r>
            <a:endParaRPr lang="en-US" sz="1400" dirty="0"/>
          </a:p>
        </p:txBody>
      </p:sp>
      <p:sp>
        <p:nvSpPr>
          <p:cNvPr id="11" name="Shape 9"/>
          <p:cNvSpPr/>
          <p:nvPr/>
        </p:nvSpPr>
        <p:spPr>
          <a:xfrm>
            <a:off x="731520" y="3611880"/>
            <a:ext cx="777240" cy="411480"/>
          </a:xfrm>
          <a:prstGeom prst="roundRect">
            <a:avLst>
              <a:gd name="adj" fmla="val 17778"/>
            </a:avLst>
          </a:prstGeom>
          <a:solidFill>
            <a:srgbClr val="E07A2F"/>
          </a:solidFill>
          <a:ln w="12700">
            <a:solidFill>
              <a:srgbClr val="E07A2F"/>
            </a:solidFill>
            <a:prstDash val="solid"/>
          </a:ln>
        </p:spPr>
        <p:txBody>
          <a:bodyPr/>
          <a:lstStyle/>
          <a:p>
            <a:endParaRPr lang="es-ES"/>
          </a:p>
        </p:txBody>
      </p:sp>
      <p:sp>
        <p:nvSpPr>
          <p:cNvPr id="12" name="Text 10"/>
          <p:cNvSpPr txBox="1"/>
          <p:nvPr/>
        </p:nvSpPr>
        <p:spPr>
          <a:xfrm>
            <a:off x="731520" y="3611880"/>
            <a:ext cx="77724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ex</a:t>
            </a:r>
            <a:endParaRPr lang="en-US" sz="1600" dirty="0"/>
          </a:p>
        </p:txBody>
      </p:sp>
      <p:sp>
        <p:nvSpPr>
          <p:cNvPr id="13" name="Text 11"/>
          <p:cNvSpPr txBox="1"/>
          <p:nvPr/>
        </p:nvSpPr>
        <p:spPr>
          <a:xfrm>
            <a:off x="1691640" y="3566160"/>
            <a:ext cx="2560320" cy="502920"/>
          </a:xfrm>
          <a:prstGeom prst="rect">
            <a:avLst/>
          </a:prstGeom>
          <a:noFill/>
          <a:ln/>
        </p:spPr>
        <p:txBody>
          <a:bodyPr wrap="square" lIns="0" tIns="0" rIns="0" bIns="0" rtlCol="0" anchor="ctr"/>
          <a:lstStyle/>
          <a:p>
            <a:pPr marL="0" indent="0">
              <a:buNone/>
            </a:pPr>
            <a:r>
              <a:rPr lang="en-US" sz="1400" dirty="0">
                <a:solidFill>
                  <a:srgbClr val="1F2433"/>
                </a:solidFill>
                <a:latin typeface="Calibri" pitchFamily="34" charset="0"/>
                <a:ea typeface="Calibri" pitchFamily="34" charset="-122"/>
                <a:cs typeface="Calibri" pitchFamily="34" charset="-120"/>
              </a:rPr>
              <a:t>altura de la "x" minúscula</a:t>
            </a:r>
            <a:endParaRPr lang="en-US" sz="1400" dirty="0"/>
          </a:p>
        </p:txBody>
      </p:sp>
      <p:sp>
        <p:nvSpPr>
          <p:cNvPr id="14" name="Shape 12"/>
          <p:cNvSpPr/>
          <p:nvPr/>
        </p:nvSpPr>
        <p:spPr>
          <a:xfrm>
            <a:off x="4754880" y="1188720"/>
            <a:ext cx="3931920" cy="3383280"/>
          </a:xfrm>
          <a:prstGeom prst="roundRect">
            <a:avLst>
              <a:gd name="adj" fmla="val 2703"/>
            </a:avLst>
          </a:prstGeom>
          <a:solidFill>
            <a:srgbClr val="DCEEF5"/>
          </a:solidFill>
          <a:ln w="12700">
            <a:solidFill>
              <a:srgbClr val="DCEEF5"/>
            </a:solidFill>
            <a:prstDash val="solid"/>
          </a:ln>
        </p:spPr>
        <p:txBody>
          <a:bodyPr/>
          <a:lstStyle/>
          <a:p>
            <a:endParaRPr lang="es-ES"/>
          </a:p>
        </p:txBody>
      </p:sp>
      <p:sp>
        <p:nvSpPr>
          <p:cNvPr id="15" name="Text 13"/>
          <p:cNvSpPr txBox="1"/>
          <p:nvPr/>
        </p:nvSpPr>
        <p:spPr>
          <a:xfrm>
            <a:off x="5029200" y="1371600"/>
            <a:ext cx="3474720" cy="411480"/>
          </a:xfrm>
          <a:prstGeom prst="rect">
            <a:avLst/>
          </a:prstGeom>
          <a:noFill/>
          <a:ln/>
        </p:spPr>
        <p:txBody>
          <a:bodyPr wrap="square" lIns="0" tIns="0" rIns="0" bIns="0" rtlCol="0" anchor="ctr"/>
          <a:lstStyle/>
          <a:p>
            <a:pPr marL="0" indent="0">
              <a:buNone/>
            </a:pPr>
            <a:r>
              <a:rPr lang="en-US" sz="1900" b="1" dirty="0">
                <a:solidFill>
                  <a:srgbClr val="2E86AB"/>
                </a:solidFill>
                <a:latin typeface="Cambria" pitchFamily="34" charset="0"/>
                <a:ea typeface="Cambria" pitchFamily="34" charset="-122"/>
                <a:cs typeface="Cambria" pitchFamily="34" charset="-120"/>
              </a:rPr>
              <a:t>Relativas al viewport</a:t>
            </a:r>
            <a:endParaRPr lang="en-US" sz="1900" dirty="0"/>
          </a:p>
        </p:txBody>
      </p:sp>
      <p:sp>
        <p:nvSpPr>
          <p:cNvPr id="16" name="Shape 14"/>
          <p:cNvSpPr/>
          <p:nvPr/>
        </p:nvSpPr>
        <p:spPr>
          <a:xfrm>
            <a:off x="5029200" y="1920240"/>
            <a:ext cx="868680" cy="384048"/>
          </a:xfrm>
          <a:prstGeom prst="roundRect">
            <a:avLst>
              <a:gd name="adj" fmla="val 19048"/>
            </a:avLst>
          </a:prstGeom>
          <a:solidFill>
            <a:srgbClr val="2E86AB"/>
          </a:solidFill>
          <a:ln w="12700">
            <a:solidFill>
              <a:srgbClr val="2E86AB"/>
            </a:solidFill>
            <a:prstDash val="solid"/>
          </a:ln>
        </p:spPr>
        <p:txBody>
          <a:bodyPr/>
          <a:lstStyle/>
          <a:p>
            <a:endParaRPr lang="es-ES"/>
          </a:p>
        </p:txBody>
      </p:sp>
      <p:sp>
        <p:nvSpPr>
          <p:cNvPr id="17" name="Text 15"/>
          <p:cNvSpPr txBox="1"/>
          <p:nvPr/>
        </p:nvSpPr>
        <p:spPr>
          <a:xfrm>
            <a:off x="5029200" y="1920240"/>
            <a:ext cx="86868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vw</a:t>
            </a:r>
            <a:endParaRPr lang="en-US" sz="1400" dirty="0"/>
          </a:p>
        </p:txBody>
      </p:sp>
      <p:sp>
        <p:nvSpPr>
          <p:cNvPr id="18" name="Text 16"/>
          <p:cNvSpPr txBox="1"/>
          <p:nvPr/>
        </p:nvSpPr>
        <p:spPr>
          <a:xfrm>
            <a:off x="6035040" y="1920240"/>
            <a:ext cx="2468880" cy="384048"/>
          </a:xfrm>
          <a:prstGeom prst="rect">
            <a:avLst/>
          </a:prstGeom>
          <a:noFill/>
          <a:ln/>
        </p:spPr>
        <p:txBody>
          <a:bodyPr wrap="square" lIns="0" tIns="0" rIns="0" bIns="0" rtlCol="0" anchor="ctr"/>
          <a:lstStyle/>
          <a:p>
            <a:pPr marL="0" indent="0">
              <a:buNone/>
            </a:pPr>
            <a:r>
              <a:rPr lang="en-US" sz="1400" dirty="0">
                <a:solidFill>
                  <a:srgbClr val="1F2433"/>
                </a:solidFill>
                <a:latin typeface="Calibri" pitchFamily="34" charset="0"/>
                <a:ea typeface="Calibri" pitchFamily="34" charset="-122"/>
                <a:cs typeface="Calibri" pitchFamily="34" charset="-120"/>
              </a:rPr>
              <a:t>1% del ancho</a:t>
            </a:r>
            <a:endParaRPr lang="en-US" sz="1400" dirty="0"/>
          </a:p>
        </p:txBody>
      </p:sp>
      <p:sp>
        <p:nvSpPr>
          <p:cNvPr id="19" name="Shape 17"/>
          <p:cNvSpPr/>
          <p:nvPr/>
        </p:nvSpPr>
        <p:spPr>
          <a:xfrm>
            <a:off x="5029200" y="2542032"/>
            <a:ext cx="868680" cy="384048"/>
          </a:xfrm>
          <a:prstGeom prst="roundRect">
            <a:avLst>
              <a:gd name="adj" fmla="val 19048"/>
            </a:avLst>
          </a:prstGeom>
          <a:solidFill>
            <a:srgbClr val="2E86AB"/>
          </a:solidFill>
          <a:ln w="12700">
            <a:solidFill>
              <a:srgbClr val="2E86AB"/>
            </a:solidFill>
            <a:prstDash val="solid"/>
          </a:ln>
        </p:spPr>
        <p:txBody>
          <a:bodyPr/>
          <a:lstStyle/>
          <a:p>
            <a:endParaRPr lang="es-ES"/>
          </a:p>
        </p:txBody>
      </p:sp>
      <p:sp>
        <p:nvSpPr>
          <p:cNvPr id="20" name="Text 18"/>
          <p:cNvSpPr txBox="1"/>
          <p:nvPr/>
        </p:nvSpPr>
        <p:spPr>
          <a:xfrm>
            <a:off x="5029200" y="2542032"/>
            <a:ext cx="86868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vh</a:t>
            </a:r>
            <a:endParaRPr lang="en-US" sz="1400" dirty="0"/>
          </a:p>
        </p:txBody>
      </p:sp>
      <p:sp>
        <p:nvSpPr>
          <p:cNvPr id="21" name="Text 19"/>
          <p:cNvSpPr txBox="1"/>
          <p:nvPr/>
        </p:nvSpPr>
        <p:spPr>
          <a:xfrm>
            <a:off x="6035040" y="2542032"/>
            <a:ext cx="2468880" cy="384048"/>
          </a:xfrm>
          <a:prstGeom prst="rect">
            <a:avLst/>
          </a:prstGeom>
          <a:noFill/>
          <a:ln/>
        </p:spPr>
        <p:txBody>
          <a:bodyPr wrap="square" lIns="0" tIns="0" rIns="0" bIns="0" rtlCol="0" anchor="ctr"/>
          <a:lstStyle/>
          <a:p>
            <a:pPr marL="0" indent="0">
              <a:buNone/>
            </a:pPr>
            <a:r>
              <a:rPr lang="en-US" sz="1400" dirty="0">
                <a:solidFill>
                  <a:srgbClr val="1F2433"/>
                </a:solidFill>
                <a:latin typeface="Calibri" pitchFamily="34" charset="0"/>
                <a:ea typeface="Calibri" pitchFamily="34" charset="-122"/>
                <a:cs typeface="Calibri" pitchFamily="34" charset="-120"/>
              </a:rPr>
              <a:t>1% del alto</a:t>
            </a:r>
            <a:endParaRPr lang="en-US" sz="1400" dirty="0"/>
          </a:p>
        </p:txBody>
      </p:sp>
      <p:sp>
        <p:nvSpPr>
          <p:cNvPr id="22" name="Shape 20"/>
          <p:cNvSpPr/>
          <p:nvPr/>
        </p:nvSpPr>
        <p:spPr>
          <a:xfrm>
            <a:off x="5029200" y="3163824"/>
            <a:ext cx="868680" cy="384048"/>
          </a:xfrm>
          <a:prstGeom prst="roundRect">
            <a:avLst>
              <a:gd name="adj" fmla="val 19048"/>
            </a:avLst>
          </a:prstGeom>
          <a:solidFill>
            <a:srgbClr val="2E86AB"/>
          </a:solidFill>
          <a:ln w="12700">
            <a:solidFill>
              <a:srgbClr val="2E86AB"/>
            </a:solidFill>
            <a:prstDash val="solid"/>
          </a:ln>
        </p:spPr>
        <p:txBody>
          <a:bodyPr/>
          <a:lstStyle/>
          <a:p>
            <a:endParaRPr lang="es-ES"/>
          </a:p>
        </p:txBody>
      </p:sp>
      <p:sp>
        <p:nvSpPr>
          <p:cNvPr id="23" name="Text 21"/>
          <p:cNvSpPr txBox="1"/>
          <p:nvPr/>
        </p:nvSpPr>
        <p:spPr>
          <a:xfrm>
            <a:off x="5029200" y="3163824"/>
            <a:ext cx="86868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vmin</a:t>
            </a:r>
            <a:endParaRPr lang="en-US" sz="1400" dirty="0"/>
          </a:p>
        </p:txBody>
      </p:sp>
      <p:sp>
        <p:nvSpPr>
          <p:cNvPr id="24" name="Text 22"/>
          <p:cNvSpPr txBox="1"/>
          <p:nvPr/>
        </p:nvSpPr>
        <p:spPr>
          <a:xfrm>
            <a:off x="6035040" y="3163824"/>
            <a:ext cx="2468880" cy="384048"/>
          </a:xfrm>
          <a:prstGeom prst="rect">
            <a:avLst/>
          </a:prstGeom>
          <a:noFill/>
          <a:ln/>
        </p:spPr>
        <p:txBody>
          <a:bodyPr wrap="square" lIns="0" tIns="0" rIns="0" bIns="0" rtlCol="0" anchor="ctr"/>
          <a:lstStyle/>
          <a:p>
            <a:pPr marL="0" indent="0">
              <a:buNone/>
            </a:pPr>
            <a:r>
              <a:rPr lang="en-US" sz="1400" dirty="0">
                <a:solidFill>
                  <a:srgbClr val="1F2433"/>
                </a:solidFill>
                <a:latin typeface="Calibri" pitchFamily="34" charset="0"/>
                <a:ea typeface="Calibri" pitchFamily="34" charset="-122"/>
                <a:cs typeface="Calibri" pitchFamily="34" charset="-120"/>
              </a:rPr>
              <a:t>el menor de vw y vh</a:t>
            </a:r>
            <a:endParaRPr lang="en-US" sz="1400" dirty="0"/>
          </a:p>
        </p:txBody>
      </p:sp>
      <p:sp>
        <p:nvSpPr>
          <p:cNvPr id="25" name="Shape 23"/>
          <p:cNvSpPr/>
          <p:nvPr/>
        </p:nvSpPr>
        <p:spPr>
          <a:xfrm>
            <a:off x="5029200" y="3785616"/>
            <a:ext cx="868680" cy="384048"/>
          </a:xfrm>
          <a:prstGeom prst="roundRect">
            <a:avLst>
              <a:gd name="adj" fmla="val 19048"/>
            </a:avLst>
          </a:prstGeom>
          <a:solidFill>
            <a:srgbClr val="2E86AB"/>
          </a:solidFill>
          <a:ln w="12700">
            <a:solidFill>
              <a:srgbClr val="2E86AB"/>
            </a:solidFill>
            <a:prstDash val="solid"/>
          </a:ln>
        </p:spPr>
        <p:txBody>
          <a:bodyPr/>
          <a:lstStyle/>
          <a:p>
            <a:endParaRPr lang="es-ES"/>
          </a:p>
        </p:txBody>
      </p:sp>
      <p:sp>
        <p:nvSpPr>
          <p:cNvPr id="26" name="Text 24"/>
          <p:cNvSpPr txBox="1"/>
          <p:nvPr/>
        </p:nvSpPr>
        <p:spPr>
          <a:xfrm>
            <a:off x="5029200" y="3785616"/>
            <a:ext cx="86868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vmax</a:t>
            </a:r>
            <a:endParaRPr lang="en-US" sz="1400" dirty="0"/>
          </a:p>
        </p:txBody>
      </p:sp>
      <p:sp>
        <p:nvSpPr>
          <p:cNvPr id="27" name="Text 25"/>
          <p:cNvSpPr txBox="1"/>
          <p:nvPr/>
        </p:nvSpPr>
        <p:spPr>
          <a:xfrm>
            <a:off x="6035040" y="3785616"/>
            <a:ext cx="2468880" cy="384048"/>
          </a:xfrm>
          <a:prstGeom prst="rect">
            <a:avLst/>
          </a:prstGeom>
          <a:noFill/>
          <a:ln/>
        </p:spPr>
        <p:txBody>
          <a:bodyPr wrap="square" lIns="0" tIns="0" rIns="0" bIns="0" rtlCol="0" anchor="ctr"/>
          <a:lstStyle/>
          <a:p>
            <a:pPr marL="0" indent="0">
              <a:buNone/>
            </a:pPr>
            <a:r>
              <a:rPr lang="en-US" sz="1400" dirty="0">
                <a:solidFill>
                  <a:srgbClr val="1F2433"/>
                </a:solidFill>
                <a:latin typeface="Calibri" pitchFamily="34" charset="0"/>
                <a:ea typeface="Calibri" pitchFamily="34" charset="-122"/>
                <a:cs typeface="Calibri" pitchFamily="34" charset="-120"/>
              </a:rPr>
              <a:t>el mayor de vw y vh</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F2433"/>
                </a:solidFill>
                <a:latin typeface="Cambria" pitchFamily="34" charset="0"/>
                <a:ea typeface="Cambria" pitchFamily="34" charset="-122"/>
                <a:cs typeface="Cambria" pitchFamily="34" charset="-120"/>
              </a:rPr>
              <a:t>vw y vh: medir respecto a la pantalla</a:t>
            </a:r>
            <a:endParaRPr lang="en-US" sz="3000" dirty="0"/>
          </a:p>
        </p:txBody>
      </p:sp>
      <p:sp>
        <p:nvSpPr>
          <p:cNvPr id="3" name="Shape 1"/>
          <p:cNvSpPr/>
          <p:nvPr/>
        </p:nvSpPr>
        <p:spPr>
          <a:xfrm>
            <a:off x="457200" y="1188720"/>
            <a:ext cx="1920240" cy="1554480"/>
          </a:xfrm>
          <a:prstGeom prst="roundRect">
            <a:avLst>
              <a:gd name="adj" fmla="val 5882"/>
            </a:avLst>
          </a:prstGeom>
          <a:solidFill>
            <a:srgbClr val="DCEEF5"/>
          </a:solidFill>
          <a:ln w="12700">
            <a:solidFill>
              <a:srgbClr val="DCEEF5"/>
            </a:solidFill>
            <a:prstDash val="solid"/>
          </a:ln>
        </p:spPr>
        <p:txBody>
          <a:bodyPr/>
          <a:lstStyle/>
          <a:p>
            <a:endParaRPr lang="es-ES"/>
          </a:p>
        </p:txBody>
      </p:sp>
      <p:sp>
        <p:nvSpPr>
          <p:cNvPr id="4" name="Text 2"/>
          <p:cNvSpPr txBox="1"/>
          <p:nvPr/>
        </p:nvSpPr>
        <p:spPr>
          <a:xfrm>
            <a:off x="457200" y="1325880"/>
            <a:ext cx="1920240" cy="731520"/>
          </a:xfrm>
          <a:prstGeom prst="rect">
            <a:avLst/>
          </a:prstGeom>
          <a:noFill/>
          <a:ln/>
        </p:spPr>
        <p:txBody>
          <a:bodyPr wrap="square" lIns="0" tIns="0" rIns="0" bIns="0" rtlCol="0" anchor="ctr"/>
          <a:lstStyle/>
          <a:p>
            <a:pPr marL="0" indent="0" algn="ctr">
              <a:buNone/>
            </a:pPr>
            <a:r>
              <a:rPr lang="en-US" sz="3200" b="1" dirty="0">
                <a:solidFill>
                  <a:srgbClr val="2E86AB"/>
                </a:solidFill>
                <a:latin typeface="Courier New" pitchFamily="34" charset="0"/>
                <a:ea typeface="Courier New" pitchFamily="34" charset="-122"/>
                <a:cs typeface="Courier New" pitchFamily="34" charset="-120"/>
              </a:rPr>
              <a:t>1vw</a:t>
            </a:r>
            <a:endParaRPr lang="en-US" sz="3200" dirty="0"/>
          </a:p>
        </p:txBody>
      </p:sp>
      <p:sp>
        <p:nvSpPr>
          <p:cNvPr id="5" name="Text 3"/>
          <p:cNvSpPr txBox="1"/>
          <p:nvPr/>
        </p:nvSpPr>
        <p:spPr>
          <a:xfrm>
            <a:off x="594360" y="2103120"/>
            <a:ext cx="1645920" cy="502920"/>
          </a:xfrm>
          <a:prstGeom prst="rect">
            <a:avLst/>
          </a:prstGeom>
          <a:noFill/>
          <a:ln/>
        </p:spPr>
        <p:txBody>
          <a:bodyPr wrap="square" lIns="0" tIns="0" rIns="0" bIns="0" rtlCol="0" anchor="ctr"/>
          <a:lstStyle/>
          <a:p>
            <a:pPr marL="0" indent="0" algn="ctr">
              <a:buNone/>
            </a:pPr>
            <a:r>
              <a:rPr lang="en-US" sz="1300" dirty="0">
                <a:solidFill>
                  <a:srgbClr val="1F2433"/>
                </a:solidFill>
                <a:latin typeface="Calibri" pitchFamily="34" charset="0"/>
                <a:ea typeface="Calibri" pitchFamily="34" charset="-122"/>
                <a:cs typeface="Calibri" pitchFamily="34" charset="-120"/>
              </a:rPr>
              <a:t>1% del ancho del viewport</a:t>
            </a:r>
            <a:endParaRPr lang="en-US" sz="1300" dirty="0"/>
          </a:p>
        </p:txBody>
      </p:sp>
      <p:sp>
        <p:nvSpPr>
          <p:cNvPr id="6" name="Shape 4"/>
          <p:cNvSpPr/>
          <p:nvPr/>
        </p:nvSpPr>
        <p:spPr>
          <a:xfrm>
            <a:off x="2560320" y="1188720"/>
            <a:ext cx="1920240" cy="1554480"/>
          </a:xfrm>
          <a:prstGeom prst="roundRect">
            <a:avLst>
              <a:gd name="adj" fmla="val 5882"/>
            </a:avLst>
          </a:prstGeom>
          <a:solidFill>
            <a:srgbClr val="DCEEF5"/>
          </a:solidFill>
          <a:ln w="12700">
            <a:solidFill>
              <a:srgbClr val="DCEEF5"/>
            </a:solidFill>
            <a:prstDash val="solid"/>
          </a:ln>
        </p:spPr>
        <p:txBody>
          <a:bodyPr/>
          <a:lstStyle/>
          <a:p>
            <a:endParaRPr lang="es-ES"/>
          </a:p>
        </p:txBody>
      </p:sp>
      <p:sp>
        <p:nvSpPr>
          <p:cNvPr id="7" name="Text 5"/>
          <p:cNvSpPr txBox="1"/>
          <p:nvPr/>
        </p:nvSpPr>
        <p:spPr>
          <a:xfrm>
            <a:off x="2560320" y="1325880"/>
            <a:ext cx="1920240" cy="731520"/>
          </a:xfrm>
          <a:prstGeom prst="rect">
            <a:avLst/>
          </a:prstGeom>
          <a:noFill/>
          <a:ln/>
        </p:spPr>
        <p:txBody>
          <a:bodyPr wrap="square" lIns="0" tIns="0" rIns="0" bIns="0" rtlCol="0" anchor="ctr"/>
          <a:lstStyle/>
          <a:p>
            <a:pPr marL="0" indent="0" algn="ctr">
              <a:buNone/>
            </a:pPr>
            <a:r>
              <a:rPr lang="en-US" sz="3200" b="1" dirty="0">
                <a:solidFill>
                  <a:srgbClr val="2E86AB"/>
                </a:solidFill>
                <a:latin typeface="Courier New" pitchFamily="34" charset="0"/>
                <a:ea typeface="Courier New" pitchFamily="34" charset="-122"/>
                <a:cs typeface="Courier New" pitchFamily="34" charset="-120"/>
              </a:rPr>
              <a:t>100vw</a:t>
            </a:r>
            <a:endParaRPr lang="en-US" sz="3200" dirty="0"/>
          </a:p>
        </p:txBody>
      </p:sp>
      <p:sp>
        <p:nvSpPr>
          <p:cNvPr id="8" name="Text 6"/>
          <p:cNvSpPr txBox="1"/>
          <p:nvPr/>
        </p:nvSpPr>
        <p:spPr>
          <a:xfrm>
            <a:off x="2697480" y="2103120"/>
            <a:ext cx="1645920" cy="502920"/>
          </a:xfrm>
          <a:prstGeom prst="rect">
            <a:avLst/>
          </a:prstGeom>
          <a:noFill/>
          <a:ln/>
        </p:spPr>
        <p:txBody>
          <a:bodyPr wrap="square" lIns="0" tIns="0" rIns="0" bIns="0" rtlCol="0" anchor="ctr"/>
          <a:lstStyle/>
          <a:p>
            <a:pPr marL="0" indent="0" algn="ctr">
              <a:buNone/>
            </a:pPr>
            <a:r>
              <a:rPr lang="en-US" sz="1300" dirty="0">
                <a:solidFill>
                  <a:srgbClr val="1F2433"/>
                </a:solidFill>
                <a:latin typeface="Calibri" pitchFamily="34" charset="0"/>
                <a:ea typeface="Calibri" pitchFamily="34" charset="-122"/>
                <a:cs typeface="Calibri" pitchFamily="34" charset="-120"/>
              </a:rPr>
              <a:t>todo el ancho</a:t>
            </a:r>
            <a:endParaRPr lang="en-US" sz="1300" dirty="0"/>
          </a:p>
        </p:txBody>
      </p:sp>
      <p:sp>
        <p:nvSpPr>
          <p:cNvPr id="9" name="Shape 7"/>
          <p:cNvSpPr/>
          <p:nvPr/>
        </p:nvSpPr>
        <p:spPr>
          <a:xfrm>
            <a:off x="4663440" y="1188720"/>
            <a:ext cx="1920240" cy="1554480"/>
          </a:xfrm>
          <a:prstGeom prst="roundRect">
            <a:avLst>
              <a:gd name="adj" fmla="val 5882"/>
            </a:avLst>
          </a:prstGeom>
          <a:solidFill>
            <a:srgbClr val="FBE9DB"/>
          </a:solidFill>
          <a:ln w="12700">
            <a:solidFill>
              <a:srgbClr val="FBE9DB"/>
            </a:solidFill>
            <a:prstDash val="solid"/>
          </a:ln>
        </p:spPr>
        <p:txBody>
          <a:bodyPr/>
          <a:lstStyle/>
          <a:p>
            <a:endParaRPr lang="es-ES"/>
          </a:p>
        </p:txBody>
      </p:sp>
      <p:sp>
        <p:nvSpPr>
          <p:cNvPr id="10" name="Text 8"/>
          <p:cNvSpPr txBox="1"/>
          <p:nvPr/>
        </p:nvSpPr>
        <p:spPr>
          <a:xfrm>
            <a:off x="4663440" y="1325880"/>
            <a:ext cx="1920240" cy="731520"/>
          </a:xfrm>
          <a:prstGeom prst="rect">
            <a:avLst/>
          </a:prstGeom>
          <a:noFill/>
          <a:ln/>
        </p:spPr>
        <p:txBody>
          <a:bodyPr wrap="square" lIns="0" tIns="0" rIns="0" bIns="0" rtlCol="0" anchor="ctr"/>
          <a:lstStyle/>
          <a:p>
            <a:pPr marL="0" indent="0" algn="ctr">
              <a:buNone/>
            </a:pPr>
            <a:r>
              <a:rPr lang="en-US" sz="3200" b="1" dirty="0">
                <a:solidFill>
                  <a:srgbClr val="E07A2F"/>
                </a:solidFill>
                <a:latin typeface="Courier New" pitchFamily="34" charset="0"/>
                <a:ea typeface="Courier New" pitchFamily="34" charset="-122"/>
                <a:cs typeface="Courier New" pitchFamily="34" charset="-120"/>
              </a:rPr>
              <a:t>1vh</a:t>
            </a:r>
            <a:endParaRPr lang="en-US" sz="3200" dirty="0"/>
          </a:p>
        </p:txBody>
      </p:sp>
      <p:sp>
        <p:nvSpPr>
          <p:cNvPr id="11" name="Text 9"/>
          <p:cNvSpPr txBox="1"/>
          <p:nvPr/>
        </p:nvSpPr>
        <p:spPr>
          <a:xfrm>
            <a:off x="4800600" y="2103120"/>
            <a:ext cx="1645920" cy="502920"/>
          </a:xfrm>
          <a:prstGeom prst="rect">
            <a:avLst/>
          </a:prstGeom>
          <a:noFill/>
          <a:ln/>
        </p:spPr>
        <p:txBody>
          <a:bodyPr wrap="square" lIns="0" tIns="0" rIns="0" bIns="0" rtlCol="0" anchor="ctr"/>
          <a:lstStyle/>
          <a:p>
            <a:pPr marL="0" indent="0" algn="ctr">
              <a:buNone/>
            </a:pPr>
            <a:r>
              <a:rPr lang="en-US" sz="1300" dirty="0">
                <a:solidFill>
                  <a:srgbClr val="1F2433"/>
                </a:solidFill>
                <a:latin typeface="Calibri" pitchFamily="34" charset="0"/>
                <a:ea typeface="Calibri" pitchFamily="34" charset="-122"/>
                <a:cs typeface="Calibri" pitchFamily="34" charset="-120"/>
              </a:rPr>
              <a:t>1% del alto del viewport</a:t>
            </a:r>
            <a:endParaRPr lang="en-US" sz="1300" dirty="0"/>
          </a:p>
        </p:txBody>
      </p:sp>
      <p:sp>
        <p:nvSpPr>
          <p:cNvPr id="12" name="Shape 10"/>
          <p:cNvSpPr/>
          <p:nvPr/>
        </p:nvSpPr>
        <p:spPr>
          <a:xfrm>
            <a:off x="6766560" y="1188720"/>
            <a:ext cx="1920240" cy="1554480"/>
          </a:xfrm>
          <a:prstGeom prst="roundRect">
            <a:avLst>
              <a:gd name="adj" fmla="val 5882"/>
            </a:avLst>
          </a:prstGeom>
          <a:solidFill>
            <a:srgbClr val="FBE9DB"/>
          </a:solidFill>
          <a:ln w="12700">
            <a:solidFill>
              <a:srgbClr val="FBE9DB"/>
            </a:solidFill>
            <a:prstDash val="solid"/>
          </a:ln>
        </p:spPr>
        <p:txBody>
          <a:bodyPr/>
          <a:lstStyle/>
          <a:p>
            <a:endParaRPr lang="es-ES"/>
          </a:p>
        </p:txBody>
      </p:sp>
      <p:sp>
        <p:nvSpPr>
          <p:cNvPr id="13" name="Text 11"/>
          <p:cNvSpPr txBox="1"/>
          <p:nvPr/>
        </p:nvSpPr>
        <p:spPr>
          <a:xfrm>
            <a:off x="6766560" y="1325880"/>
            <a:ext cx="1920240" cy="731520"/>
          </a:xfrm>
          <a:prstGeom prst="rect">
            <a:avLst/>
          </a:prstGeom>
          <a:noFill/>
          <a:ln/>
        </p:spPr>
        <p:txBody>
          <a:bodyPr wrap="square" lIns="0" tIns="0" rIns="0" bIns="0" rtlCol="0" anchor="ctr"/>
          <a:lstStyle/>
          <a:p>
            <a:pPr marL="0" indent="0" algn="ctr">
              <a:buNone/>
            </a:pPr>
            <a:r>
              <a:rPr lang="en-US" sz="3200" b="1" dirty="0">
                <a:solidFill>
                  <a:srgbClr val="E07A2F"/>
                </a:solidFill>
                <a:latin typeface="Courier New" pitchFamily="34" charset="0"/>
                <a:ea typeface="Courier New" pitchFamily="34" charset="-122"/>
                <a:cs typeface="Courier New" pitchFamily="34" charset="-120"/>
              </a:rPr>
              <a:t>100vh</a:t>
            </a:r>
            <a:endParaRPr lang="en-US" sz="3200" dirty="0"/>
          </a:p>
        </p:txBody>
      </p:sp>
      <p:sp>
        <p:nvSpPr>
          <p:cNvPr id="14" name="Text 12"/>
          <p:cNvSpPr txBox="1"/>
          <p:nvPr/>
        </p:nvSpPr>
        <p:spPr>
          <a:xfrm>
            <a:off x="6903720" y="2103120"/>
            <a:ext cx="1645920" cy="502920"/>
          </a:xfrm>
          <a:prstGeom prst="rect">
            <a:avLst/>
          </a:prstGeom>
          <a:noFill/>
          <a:ln/>
        </p:spPr>
        <p:txBody>
          <a:bodyPr wrap="square" lIns="0" tIns="0" rIns="0" bIns="0" rtlCol="0" anchor="ctr"/>
          <a:lstStyle/>
          <a:p>
            <a:pPr marL="0" indent="0" algn="ctr">
              <a:buNone/>
            </a:pPr>
            <a:r>
              <a:rPr lang="en-US" sz="1300" dirty="0">
                <a:solidFill>
                  <a:srgbClr val="1F2433"/>
                </a:solidFill>
                <a:latin typeface="Calibri" pitchFamily="34" charset="0"/>
                <a:ea typeface="Calibri" pitchFamily="34" charset="-122"/>
                <a:cs typeface="Calibri" pitchFamily="34" charset="-120"/>
              </a:rPr>
              <a:t>todo el alto</a:t>
            </a:r>
            <a:endParaRPr lang="en-US" sz="1300" dirty="0"/>
          </a:p>
        </p:txBody>
      </p:sp>
      <p:sp>
        <p:nvSpPr>
          <p:cNvPr id="15" name="Shape 13"/>
          <p:cNvSpPr/>
          <p:nvPr/>
        </p:nvSpPr>
        <p:spPr>
          <a:xfrm>
            <a:off x="457200" y="3063240"/>
            <a:ext cx="4023360" cy="1554480"/>
          </a:xfrm>
          <a:prstGeom prst="roundRect">
            <a:avLst>
              <a:gd name="adj" fmla="val 5882"/>
            </a:avLst>
          </a:prstGeom>
          <a:solidFill>
            <a:srgbClr val="2C3347"/>
          </a:solidFill>
          <a:ln w="12700">
            <a:solidFill>
              <a:srgbClr val="2C3347"/>
            </a:solidFill>
            <a:prstDash val="solid"/>
          </a:ln>
        </p:spPr>
        <p:txBody>
          <a:bodyPr/>
          <a:lstStyle/>
          <a:p>
            <a:endParaRPr lang="es-ES"/>
          </a:p>
        </p:txBody>
      </p:sp>
      <p:sp>
        <p:nvSpPr>
          <p:cNvPr id="16" name="Text 14"/>
          <p:cNvSpPr txBox="1"/>
          <p:nvPr/>
        </p:nvSpPr>
        <p:spPr>
          <a:xfrm>
            <a:off x="640080" y="3200400"/>
            <a:ext cx="3657600" cy="1280160"/>
          </a:xfrm>
          <a:prstGeom prst="rect">
            <a:avLst/>
          </a:prstGeom>
          <a:noFill/>
          <a:ln/>
        </p:spPr>
        <p:txBody>
          <a:bodyPr wrap="square" lIns="0" tIns="0" rIns="0" bIns="0" rtlCol="0" anchor="t"/>
          <a:lstStyle/>
          <a:p>
            <a:pPr marL="0" indent="0">
              <a:buNone/>
            </a:pPr>
            <a:r>
              <a:rPr lang="en-US" sz="1600" dirty="0">
                <a:solidFill>
                  <a:srgbClr val="E8ECF3"/>
                </a:solidFill>
                <a:latin typeface="Courier New" pitchFamily="34" charset="0"/>
                <a:ea typeface="Courier New" pitchFamily="34" charset="-122"/>
                <a:cs typeface="Courier New" pitchFamily="34" charset="-120"/>
              </a:rPr>
              <a:t>.hero {</a:t>
            </a:r>
            <a:endParaRPr lang="en-US" sz="1600" dirty="0"/>
          </a:p>
          <a:p>
            <a:pPr marL="0" indent="0">
              <a:buNone/>
            </a:pPr>
            <a:r>
              <a:rPr lang="en-US" sz="1600" dirty="0">
                <a:solidFill>
                  <a:srgbClr val="E8ECF3"/>
                </a:solidFill>
                <a:latin typeface="Courier New" pitchFamily="34" charset="0"/>
                <a:ea typeface="Courier New" pitchFamily="34" charset="-122"/>
                <a:cs typeface="Courier New" pitchFamily="34" charset="-120"/>
              </a:rPr>
              <a:t>  min-height: 100vh;</a:t>
            </a:r>
            <a:endParaRPr lang="en-US" sz="1600" dirty="0"/>
          </a:p>
          <a:p>
            <a:pPr marL="0" indent="0">
              <a:buNone/>
            </a:pPr>
            <a:r>
              <a:rPr lang="en-US" sz="1600" dirty="0">
                <a:solidFill>
                  <a:srgbClr val="E8ECF3"/>
                </a:solidFill>
                <a:latin typeface="Courier New" pitchFamily="34" charset="0"/>
                <a:ea typeface="Courier New" pitchFamily="34" charset="-122"/>
                <a:cs typeface="Courier New" pitchFamily="34" charset="-120"/>
              </a:rPr>
              <a:t>}</a:t>
            </a:r>
            <a:endParaRPr lang="en-US" sz="1600" dirty="0"/>
          </a:p>
        </p:txBody>
      </p:sp>
      <p:sp>
        <p:nvSpPr>
          <p:cNvPr id="17" name="Text 15"/>
          <p:cNvSpPr txBox="1"/>
          <p:nvPr/>
        </p:nvSpPr>
        <p:spPr>
          <a:xfrm>
            <a:off x="4754880" y="3063240"/>
            <a:ext cx="3931920" cy="16459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433"/>
                </a:solidFill>
                <a:latin typeface="Calibri" pitchFamily="34" charset="0"/>
                <a:ea typeface="Calibri" pitchFamily="34" charset="-122"/>
                <a:cs typeface="Calibri" pitchFamily="34" charset="-120"/>
              </a:rPr>
              <a:t>Secciones o imágenes de fondo que ocupan toda la pantalla</a:t>
            </a:r>
            <a:endParaRPr lang="en-US" sz="1500" dirty="0"/>
          </a:p>
          <a:p>
            <a:pPr marL="342900" indent="-342900">
              <a:spcAft>
                <a:spcPts val="800"/>
              </a:spcAft>
              <a:buSzPct val="100000"/>
              <a:buChar char="•"/>
            </a:pPr>
            <a:r>
              <a:rPr lang="en-US" sz="1500" dirty="0">
                <a:solidFill>
                  <a:srgbClr val="1F2433"/>
                </a:solidFill>
                <a:latin typeface="Calibri" pitchFamily="34" charset="0"/>
                <a:ea typeface="Calibri" pitchFamily="34" charset="-122"/>
                <a:cs typeface="Calibri" pitchFamily="34" charset="-120"/>
              </a:rPr>
              <a:t>Textos que escalan con el tamaño del dispositivo</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F2433"/>
                </a:solidFill>
                <a:latin typeface="Cambria" pitchFamily="34" charset="0"/>
                <a:ea typeface="Cambria" pitchFamily="34" charset="-122"/>
                <a:cs typeface="Cambria" pitchFamily="34" charset="-120"/>
              </a:rPr>
              <a:t>Porcentajes: contenedor responsive</a:t>
            </a:r>
            <a:endParaRPr lang="en-US" sz="3000" dirty="0"/>
          </a:p>
        </p:txBody>
      </p:sp>
      <p:sp>
        <p:nvSpPr>
          <p:cNvPr id="3" name="Shape 1"/>
          <p:cNvSpPr/>
          <p:nvPr/>
        </p:nvSpPr>
        <p:spPr>
          <a:xfrm>
            <a:off x="457200" y="1188720"/>
            <a:ext cx="4023360" cy="1828800"/>
          </a:xfrm>
          <a:prstGeom prst="roundRect">
            <a:avLst>
              <a:gd name="adj" fmla="val 5000"/>
            </a:avLst>
          </a:prstGeom>
          <a:solidFill>
            <a:srgbClr val="2C3347"/>
          </a:solidFill>
          <a:ln w="12700">
            <a:solidFill>
              <a:srgbClr val="2C3347"/>
            </a:solidFill>
            <a:prstDash val="solid"/>
          </a:ln>
        </p:spPr>
        <p:txBody>
          <a:bodyPr/>
          <a:lstStyle/>
          <a:p>
            <a:endParaRPr lang="es-ES"/>
          </a:p>
        </p:txBody>
      </p:sp>
      <p:sp>
        <p:nvSpPr>
          <p:cNvPr id="4" name="Text 2"/>
          <p:cNvSpPr txBox="1"/>
          <p:nvPr/>
        </p:nvSpPr>
        <p:spPr>
          <a:xfrm>
            <a:off x="640080" y="1325880"/>
            <a:ext cx="3657600" cy="1554480"/>
          </a:xfrm>
          <a:prstGeom prst="rect">
            <a:avLst/>
          </a:prstGeom>
          <a:noFill/>
          <a:ln/>
        </p:spPr>
        <p:txBody>
          <a:bodyPr wrap="square" lIns="0" tIns="0" rIns="0" bIns="0" rtlCol="0" anchor="t"/>
          <a:lstStyle/>
          <a:p>
            <a:pPr marL="0" indent="0">
              <a:buNone/>
            </a:pPr>
            <a:r>
              <a:rPr lang="en-US" sz="1600" dirty="0">
                <a:solidFill>
                  <a:srgbClr val="E8ECF3"/>
                </a:solidFill>
                <a:latin typeface="Courier New" pitchFamily="34" charset="0"/>
                <a:ea typeface="Courier New" pitchFamily="34" charset="-122"/>
                <a:cs typeface="Courier New" pitchFamily="34" charset="-120"/>
              </a:rPr>
              <a:t>.container {</a:t>
            </a:r>
            <a:endParaRPr lang="en-US" sz="1600" dirty="0"/>
          </a:p>
          <a:p>
            <a:pPr marL="0" indent="0">
              <a:buNone/>
            </a:pPr>
            <a:r>
              <a:rPr lang="en-US" sz="1600" dirty="0">
                <a:solidFill>
                  <a:srgbClr val="E8ECF3"/>
                </a:solidFill>
                <a:latin typeface="Courier New" pitchFamily="34" charset="0"/>
                <a:ea typeface="Courier New" pitchFamily="34" charset="-122"/>
                <a:cs typeface="Courier New" pitchFamily="34" charset="-120"/>
              </a:rPr>
              <a:t>  margin: 0 auto;</a:t>
            </a:r>
            <a:endParaRPr lang="en-US" sz="1600" dirty="0"/>
          </a:p>
          <a:p>
            <a:pPr marL="0" indent="0">
              <a:buNone/>
            </a:pPr>
            <a:r>
              <a:rPr lang="en-US" sz="1600" dirty="0">
                <a:solidFill>
                  <a:srgbClr val="E8ECF3"/>
                </a:solidFill>
                <a:latin typeface="Courier New" pitchFamily="34" charset="0"/>
                <a:ea typeface="Courier New" pitchFamily="34" charset="-122"/>
                <a:cs typeface="Courier New" pitchFamily="34" charset="-120"/>
              </a:rPr>
              <a:t>  width: 96%;</a:t>
            </a:r>
            <a:endParaRPr lang="en-US" sz="1600" dirty="0"/>
          </a:p>
          <a:p>
            <a:pPr marL="0" indent="0">
              <a:buNone/>
            </a:pPr>
            <a:r>
              <a:rPr lang="en-US" sz="1600" dirty="0">
                <a:solidFill>
                  <a:srgbClr val="E8ECF3"/>
                </a:solidFill>
                <a:latin typeface="Courier New" pitchFamily="34" charset="0"/>
                <a:ea typeface="Courier New" pitchFamily="34" charset="-122"/>
                <a:cs typeface="Courier New" pitchFamily="34" charset="-120"/>
              </a:rPr>
              <a:t>  max-width: 1280px;</a:t>
            </a:r>
            <a:endParaRPr lang="en-US" sz="1600" dirty="0"/>
          </a:p>
          <a:p>
            <a:pPr marL="0" indent="0">
              <a:buNone/>
            </a:pPr>
            <a:r>
              <a:rPr lang="en-US" sz="1600" dirty="0">
                <a:solidFill>
                  <a:srgbClr val="E8ECF3"/>
                </a:solidFill>
                <a:latin typeface="Courier New" pitchFamily="34" charset="0"/>
                <a:ea typeface="Courier New" pitchFamily="34" charset="-122"/>
                <a:cs typeface="Courier New" pitchFamily="34" charset="-120"/>
              </a:rPr>
              <a:t>}</a:t>
            </a:r>
            <a:endParaRPr lang="en-US" sz="1600" dirty="0"/>
          </a:p>
        </p:txBody>
      </p:sp>
      <p:sp>
        <p:nvSpPr>
          <p:cNvPr id="5" name="Text 3"/>
          <p:cNvSpPr txBox="1"/>
          <p:nvPr/>
        </p:nvSpPr>
        <p:spPr>
          <a:xfrm>
            <a:off x="457200" y="3246120"/>
            <a:ext cx="4023360" cy="731520"/>
          </a:xfrm>
          <a:prstGeom prst="rect">
            <a:avLst/>
          </a:prstGeom>
          <a:noFill/>
          <a:ln/>
        </p:spPr>
        <p:txBody>
          <a:bodyPr wrap="square" lIns="0" tIns="0" rIns="0" bIns="0" rtlCol="0" anchor="ctr"/>
          <a:lstStyle/>
          <a:p>
            <a:pPr marL="0" indent="0">
              <a:buNone/>
            </a:pPr>
            <a:r>
              <a:rPr lang="en-US" sz="1700" i="1" dirty="0">
                <a:solidFill>
                  <a:srgbClr val="E07A2F"/>
                </a:solidFill>
                <a:latin typeface="Cambria" pitchFamily="34" charset="0"/>
                <a:ea typeface="Cambria" pitchFamily="34" charset="-122"/>
                <a:cs typeface="Cambria" pitchFamily="34" charset="-120"/>
              </a:rPr>
              <a:t>Sin media queries: el contenedor se adapta solo.</a:t>
            </a:r>
            <a:endParaRPr lang="en-US" sz="1700" dirty="0"/>
          </a:p>
        </p:txBody>
      </p:sp>
      <p:sp>
        <p:nvSpPr>
          <p:cNvPr id="6" name="Shape 4"/>
          <p:cNvSpPr/>
          <p:nvPr/>
        </p:nvSpPr>
        <p:spPr>
          <a:xfrm>
            <a:off x="4754880" y="1188720"/>
            <a:ext cx="3931920" cy="914400"/>
          </a:xfrm>
          <a:prstGeom prst="roundRect">
            <a:avLst>
              <a:gd name="adj" fmla="val 10000"/>
            </a:avLst>
          </a:prstGeom>
          <a:solidFill>
            <a:srgbClr val="EEF1F6"/>
          </a:solidFill>
          <a:ln w="12700">
            <a:solidFill>
              <a:srgbClr val="EEF1F6"/>
            </a:solidFill>
            <a:prstDash val="solid"/>
          </a:ln>
        </p:spPr>
        <p:txBody>
          <a:bodyPr/>
          <a:lstStyle/>
          <a:p>
            <a:endParaRPr lang="es-ES"/>
          </a:p>
        </p:txBody>
      </p:sp>
      <p:sp>
        <p:nvSpPr>
          <p:cNvPr id="7" name="Text 5"/>
          <p:cNvSpPr txBox="1"/>
          <p:nvPr/>
        </p:nvSpPr>
        <p:spPr>
          <a:xfrm>
            <a:off x="4937760" y="1298448"/>
            <a:ext cx="3566160" cy="347472"/>
          </a:xfrm>
          <a:prstGeom prst="rect">
            <a:avLst/>
          </a:prstGeom>
          <a:noFill/>
          <a:ln/>
        </p:spPr>
        <p:txBody>
          <a:bodyPr wrap="square" lIns="0" tIns="0" rIns="0" bIns="0" rtlCol="0" anchor="ctr"/>
          <a:lstStyle/>
          <a:p>
            <a:pPr marL="0" indent="0">
              <a:buNone/>
            </a:pPr>
            <a:r>
              <a:rPr lang="en-US" sz="1400" b="1" dirty="0">
                <a:solidFill>
                  <a:srgbClr val="2E86AB"/>
                </a:solidFill>
                <a:latin typeface="Courier New" pitchFamily="34" charset="0"/>
                <a:ea typeface="Courier New" pitchFamily="34" charset="-122"/>
                <a:cs typeface="Courier New" pitchFamily="34" charset="-120"/>
              </a:rPr>
              <a:t>margin: 0 auto</a:t>
            </a:r>
            <a:endParaRPr lang="en-US" sz="1400" dirty="0"/>
          </a:p>
        </p:txBody>
      </p:sp>
      <p:sp>
        <p:nvSpPr>
          <p:cNvPr id="8" name="Text 6"/>
          <p:cNvSpPr txBox="1"/>
          <p:nvPr/>
        </p:nvSpPr>
        <p:spPr>
          <a:xfrm>
            <a:off x="4937760" y="1664208"/>
            <a:ext cx="3566160" cy="347472"/>
          </a:xfrm>
          <a:prstGeom prst="rect">
            <a:avLst/>
          </a:prstGeom>
          <a:noFill/>
          <a:ln/>
        </p:spPr>
        <p:txBody>
          <a:bodyPr wrap="square" lIns="0" tIns="0" rIns="0" bIns="0" rtlCol="0" anchor="ctr"/>
          <a:lstStyle/>
          <a:p>
            <a:pPr marL="0" indent="0">
              <a:buNone/>
            </a:pPr>
            <a:r>
              <a:rPr lang="en-US" sz="1400" dirty="0">
                <a:solidFill>
                  <a:srgbClr val="1F2433"/>
                </a:solidFill>
                <a:latin typeface="Calibri" pitchFamily="34" charset="0"/>
                <a:ea typeface="Calibri" pitchFamily="34" charset="-122"/>
                <a:cs typeface="Calibri" pitchFamily="34" charset="-120"/>
              </a:rPr>
              <a:t>Centra el elemento horizontalmente</a:t>
            </a:r>
            <a:endParaRPr lang="en-US" sz="1400" dirty="0"/>
          </a:p>
        </p:txBody>
      </p:sp>
      <p:sp>
        <p:nvSpPr>
          <p:cNvPr id="9" name="Shape 7"/>
          <p:cNvSpPr/>
          <p:nvPr/>
        </p:nvSpPr>
        <p:spPr>
          <a:xfrm>
            <a:off x="4754880" y="2286000"/>
            <a:ext cx="3931920" cy="914400"/>
          </a:xfrm>
          <a:prstGeom prst="roundRect">
            <a:avLst>
              <a:gd name="adj" fmla="val 10000"/>
            </a:avLst>
          </a:prstGeom>
          <a:solidFill>
            <a:srgbClr val="EEF1F6"/>
          </a:solidFill>
          <a:ln w="12700">
            <a:solidFill>
              <a:srgbClr val="EEF1F6"/>
            </a:solidFill>
            <a:prstDash val="solid"/>
          </a:ln>
        </p:spPr>
        <p:txBody>
          <a:bodyPr/>
          <a:lstStyle/>
          <a:p>
            <a:endParaRPr lang="es-ES"/>
          </a:p>
        </p:txBody>
      </p:sp>
      <p:sp>
        <p:nvSpPr>
          <p:cNvPr id="10" name="Text 8"/>
          <p:cNvSpPr txBox="1"/>
          <p:nvPr/>
        </p:nvSpPr>
        <p:spPr>
          <a:xfrm>
            <a:off x="4937760" y="2395728"/>
            <a:ext cx="3566160" cy="347472"/>
          </a:xfrm>
          <a:prstGeom prst="rect">
            <a:avLst/>
          </a:prstGeom>
          <a:noFill/>
          <a:ln/>
        </p:spPr>
        <p:txBody>
          <a:bodyPr wrap="square" lIns="0" tIns="0" rIns="0" bIns="0" rtlCol="0" anchor="ctr"/>
          <a:lstStyle/>
          <a:p>
            <a:pPr marL="0" indent="0">
              <a:buNone/>
            </a:pPr>
            <a:r>
              <a:rPr lang="en-US" sz="1400" b="1" dirty="0">
                <a:solidFill>
                  <a:srgbClr val="2E86AB"/>
                </a:solidFill>
                <a:latin typeface="Courier New" pitchFamily="34" charset="0"/>
                <a:ea typeface="Courier New" pitchFamily="34" charset="-122"/>
                <a:cs typeface="Courier New" pitchFamily="34" charset="-120"/>
              </a:rPr>
              <a:t>width: 96%</a:t>
            </a:r>
            <a:endParaRPr lang="en-US" sz="1400" dirty="0"/>
          </a:p>
        </p:txBody>
      </p:sp>
      <p:sp>
        <p:nvSpPr>
          <p:cNvPr id="11" name="Text 9"/>
          <p:cNvSpPr txBox="1"/>
          <p:nvPr/>
        </p:nvSpPr>
        <p:spPr>
          <a:xfrm>
            <a:off x="4937760" y="2761488"/>
            <a:ext cx="3566160" cy="347472"/>
          </a:xfrm>
          <a:prstGeom prst="rect">
            <a:avLst/>
          </a:prstGeom>
          <a:noFill/>
          <a:ln/>
        </p:spPr>
        <p:txBody>
          <a:bodyPr wrap="square" lIns="0" tIns="0" rIns="0" bIns="0" rtlCol="0" anchor="ctr"/>
          <a:lstStyle/>
          <a:p>
            <a:pPr marL="0" indent="0">
              <a:buNone/>
            </a:pPr>
            <a:r>
              <a:rPr lang="en-US" sz="1400" dirty="0">
                <a:solidFill>
                  <a:srgbClr val="1F2433"/>
                </a:solidFill>
                <a:latin typeface="Calibri" pitchFamily="34" charset="0"/>
                <a:ea typeface="Calibri" pitchFamily="34" charset="-122"/>
                <a:cs typeface="Calibri" pitchFamily="34" charset="-120"/>
              </a:rPr>
              <a:t>Ocupa el 96% del ancho disponible</a:t>
            </a:r>
            <a:endParaRPr lang="en-US" sz="1400" dirty="0"/>
          </a:p>
        </p:txBody>
      </p:sp>
      <p:sp>
        <p:nvSpPr>
          <p:cNvPr id="12" name="Shape 10"/>
          <p:cNvSpPr/>
          <p:nvPr/>
        </p:nvSpPr>
        <p:spPr>
          <a:xfrm>
            <a:off x="4754880" y="3383280"/>
            <a:ext cx="3931920" cy="914400"/>
          </a:xfrm>
          <a:prstGeom prst="roundRect">
            <a:avLst>
              <a:gd name="adj" fmla="val 10000"/>
            </a:avLst>
          </a:prstGeom>
          <a:solidFill>
            <a:srgbClr val="EEF1F6"/>
          </a:solidFill>
          <a:ln w="12700">
            <a:solidFill>
              <a:srgbClr val="EEF1F6"/>
            </a:solidFill>
            <a:prstDash val="solid"/>
          </a:ln>
        </p:spPr>
        <p:txBody>
          <a:bodyPr/>
          <a:lstStyle/>
          <a:p>
            <a:endParaRPr lang="es-ES"/>
          </a:p>
        </p:txBody>
      </p:sp>
      <p:sp>
        <p:nvSpPr>
          <p:cNvPr id="13" name="Text 11"/>
          <p:cNvSpPr txBox="1"/>
          <p:nvPr/>
        </p:nvSpPr>
        <p:spPr>
          <a:xfrm>
            <a:off x="4937760" y="3493008"/>
            <a:ext cx="3566160" cy="347472"/>
          </a:xfrm>
          <a:prstGeom prst="rect">
            <a:avLst/>
          </a:prstGeom>
          <a:noFill/>
          <a:ln/>
        </p:spPr>
        <p:txBody>
          <a:bodyPr wrap="square" lIns="0" tIns="0" rIns="0" bIns="0" rtlCol="0" anchor="ctr"/>
          <a:lstStyle/>
          <a:p>
            <a:pPr marL="0" indent="0">
              <a:buNone/>
            </a:pPr>
            <a:r>
              <a:rPr lang="en-US" sz="1400" b="1" dirty="0">
                <a:solidFill>
                  <a:srgbClr val="2E86AB"/>
                </a:solidFill>
                <a:latin typeface="Courier New" pitchFamily="34" charset="0"/>
                <a:ea typeface="Courier New" pitchFamily="34" charset="-122"/>
                <a:cs typeface="Courier New" pitchFamily="34" charset="-120"/>
              </a:rPr>
              <a:t>max-width: 1280px</a:t>
            </a:r>
            <a:endParaRPr lang="en-US" sz="1400" dirty="0"/>
          </a:p>
        </p:txBody>
      </p:sp>
      <p:sp>
        <p:nvSpPr>
          <p:cNvPr id="14" name="Text 12"/>
          <p:cNvSpPr txBox="1"/>
          <p:nvPr/>
        </p:nvSpPr>
        <p:spPr>
          <a:xfrm>
            <a:off x="4937760" y="3858768"/>
            <a:ext cx="3566160" cy="347472"/>
          </a:xfrm>
          <a:prstGeom prst="rect">
            <a:avLst/>
          </a:prstGeom>
          <a:noFill/>
          <a:ln/>
        </p:spPr>
        <p:txBody>
          <a:bodyPr wrap="square" lIns="0" tIns="0" rIns="0" bIns="0" rtlCol="0" anchor="ctr"/>
          <a:lstStyle/>
          <a:p>
            <a:pPr marL="0" indent="0">
              <a:buNone/>
            </a:pPr>
            <a:r>
              <a:rPr lang="en-US" sz="1400" dirty="0">
                <a:solidFill>
                  <a:srgbClr val="1F2433"/>
                </a:solidFill>
                <a:latin typeface="Calibri" pitchFamily="34" charset="0"/>
                <a:ea typeface="Calibri" pitchFamily="34" charset="-122"/>
                <a:cs typeface="Calibri" pitchFamily="34" charset="-120"/>
              </a:rPr>
              <a:t>Nunca supera los 1280 px</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F2433"/>
                </a:solidFill>
                <a:latin typeface="Cambria" pitchFamily="34" charset="0"/>
                <a:ea typeface="Cambria" pitchFamily="34" charset="-122"/>
                <a:cs typeface="Cambria" pitchFamily="34" charset="-120"/>
              </a:rPr>
              <a:t>Porcentajes dentro del layout</a:t>
            </a:r>
            <a:endParaRPr lang="en-US" sz="3000" dirty="0"/>
          </a:p>
        </p:txBody>
      </p:sp>
      <p:sp>
        <p:nvSpPr>
          <p:cNvPr id="3" name="Shape 1"/>
          <p:cNvSpPr/>
          <p:nvPr/>
        </p:nvSpPr>
        <p:spPr>
          <a:xfrm>
            <a:off x="457200" y="1188720"/>
            <a:ext cx="8229600" cy="2011680"/>
          </a:xfrm>
          <a:prstGeom prst="roundRect">
            <a:avLst>
              <a:gd name="adj" fmla="val 4545"/>
            </a:avLst>
          </a:prstGeom>
          <a:solidFill>
            <a:srgbClr val="EEF1F6"/>
          </a:solidFill>
          <a:ln w="12700">
            <a:solidFill>
              <a:srgbClr val="EEF1F6"/>
            </a:solidFill>
            <a:prstDash val="solid"/>
          </a:ln>
        </p:spPr>
        <p:txBody>
          <a:bodyPr/>
          <a:lstStyle/>
          <a:p>
            <a:endParaRPr lang="es-ES"/>
          </a:p>
        </p:txBody>
      </p:sp>
      <p:sp>
        <p:nvSpPr>
          <p:cNvPr id="4" name="Shape 2"/>
          <p:cNvSpPr/>
          <p:nvPr/>
        </p:nvSpPr>
        <p:spPr>
          <a:xfrm>
            <a:off x="640080" y="1371600"/>
            <a:ext cx="5760720" cy="1645920"/>
          </a:xfrm>
          <a:prstGeom prst="roundRect">
            <a:avLst>
              <a:gd name="adj" fmla="val 4444"/>
            </a:avLst>
          </a:prstGeom>
          <a:solidFill>
            <a:srgbClr val="DCEEF5"/>
          </a:solidFill>
          <a:ln w="12700">
            <a:solidFill>
              <a:srgbClr val="2E86AB"/>
            </a:solidFill>
            <a:prstDash val="solid"/>
          </a:ln>
        </p:spPr>
        <p:txBody>
          <a:bodyPr/>
          <a:lstStyle/>
          <a:p>
            <a:endParaRPr lang="es-ES"/>
          </a:p>
        </p:txBody>
      </p:sp>
      <p:sp>
        <p:nvSpPr>
          <p:cNvPr id="5" name="Text 3"/>
          <p:cNvSpPr txBox="1"/>
          <p:nvPr/>
        </p:nvSpPr>
        <p:spPr>
          <a:xfrm>
            <a:off x="640080" y="1371600"/>
            <a:ext cx="5760720" cy="1645920"/>
          </a:xfrm>
          <a:prstGeom prst="rect">
            <a:avLst/>
          </a:prstGeom>
          <a:noFill/>
          <a:ln/>
        </p:spPr>
        <p:txBody>
          <a:bodyPr wrap="square" lIns="0" tIns="0" rIns="0" bIns="0" rtlCol="0" anchor="ctr"/>
          <a:lstStyle/>
          <a:p>
            <a:pPr marL="0" indent="0" algn="ctr">
              <a:buNone/>
            </a:pPr>
            <a:r>
              <a:rPr lang="en-US" sz="1800" b="1" dirty="0">
                <a:solidFill>
                  <a:srgbClr val="2E86AB"/>
                </a:solidFill>
                <a:latin typeface="Courier New" pitchFamily="34" charset="0"/>
                <a:ea typeface="Courier New" pitchFamily="34" charset="-122"/>
                <a:cs typeface="Courier New" pitchFamily="34" charset="-120"/>
              </a:rPr>
              <a:t>main</a:t>
            </a:r>
            <a:endParaRPr lang="en-US" sz="1800" dirty="0"/>
          </a:p>
          <a:p>
            <a:pPr marL="0" indent="0" algn="ctr">
              <a:buNone/>
            </a:pPr>
            <a:r>
              <a:rPr lang="en-US" sz="1800" dirty="0">
                <a:solidFill>
                  <a:srgbClr val="2E86AB"/>
                </a:solidFill>
                <a:latin typeface="Courier New" pitchFamily="34" charset="0"/>
                <a:ea typeface="Courier New" pitchFamily="34" charset="-122"/>
                <a:cs typeface="Courier New" pitchFamily="34" charset="-120"/>
              </a:rPr>
              <a:t>width: 75%</a:t>
            </a:r>
            <a:endParaRPr lang="en-US" sz="1800" dirty="0"/>
          </a:p>
        </p:txBody>
      </p:sp>
      <p:sp>
        <p:nvSpPr>
          <p:cNvPr id="6" name="Shape 4"/>
          <p:cNvSpPr/>
          <p:nvPr/>
        </p:nvSpPr>
        <p:spPr>
          <a:xfrm>
            <a:off x="6537960" y="1371600"/>
            <a:ext cx="1965960" cy="1645920"/>
          </a:xfrm>
          <a:prstGeom prst="roundRect">
            <a:avLst>
              <a:gd name="adj" fmla="val 4444"/>
            </a:avLst>
          </a:prstGeom>
          <a:solidFill>
            <a:srgbClr val="FBE9DB"/>
          </a:solidFill>
          <a:ln w="12700">
            <a:solidFill>
              <a:srgbClr val="E07A2F"/>
            </a:solidFill>
            <a:prstDash val="solid"/>
          </a:ln>
        </p:spPr>
        <p:txBody>
          <a:bodyPr/>
          <a:lstStyle/>
          <a:p>
            <a:endParaRPr lang="es-ES"/>
          </a:p>
        </p:txBody>
      </p:sp>
      <p:sp>
        <p:nvSpPr>
          <p:cNvPr id="7" name="Text 5"/>
          <p:cNvSpPr txBox="1"/>
          <p:nvPr/>
        </p:nvSpPr>
        <p:spPr>
          <a:xfrm>
            <a:off x="6537960" y="1371600"/>
            <a:ext cx="1965960" cy="1645920"/>
          </a:xfrm>
          <a:prstGeom prst="rect">
            <a:avLst/>
          </a:prstGeom>
          <a:noFill/>
          <a:ln/>
        </p:spPr>
        <p:txBody>
          <a:bodyPr wrap="square" lIns="0" tIns="0" rIns="0" bIns="0" rtlCol="0" anchor="ctr"/>
          <a:lstStyle/>
          <a:p>
            <a:pPr marL="0" indent="0" algn="ctr">
              <a:buNone/>
            </a:pPr>
            <a:r>
              <a:rPr lang="en-US" sz="1600" b="1" dirty="0">
                <a:solidFill>
                  <a:srgbClr val="E07A2F"/>
                </a:solidFill>
                <a:latin typeface="Courier New" pitchFamily="34" charset="0"/>
                <a:ea typeface="Courier New" pitchFamily="34" charset="-122"/>
                <a:cs typeface="Courier New" pitchFamily="34" charset="-120"/>
              </a:rPr>
              <a:t>aside</a:t>
            </a:r>
            <a:endParaRPr lang="en-US" sz="1600" dirty="0"/>
          </a:p>
          <a:p>
            <a:pPr marL="0" indent="0" algn="ctr">
              <a:buNone/>
            </a:pPr>
            <a:r>
              <a:rPr lang="en-US" sz="1600" dirty="0">
                <a:solidFill>
                  <a:srgbClr val="E07A2F"/>
                </a:solidFill>
                <a:latin typeface="Courier New" pitchFamily="34" charset="0"/>
                <a:ea typeface="Courier New" pitchFamily="34" charset="-122"/>
                <a:cs typeface="Courier New" pitchFamily="34" charset="-120"/>
              </a:rPr>
              <a:t>width: 25%</a:t>
            </a:r>
            <a:endParaRPr lang="en-US" sz="1600" dirty="0"/>
          </a:p>
        </p:txBody>
      </p:sp>
      <p:sp>
        <p:nvSpPr>
          <p:cNvPr id="8" name="Text 6"/>
          <p:cNvSpPr txBox="1"/>
          <p:nvPr/>
        </p:nvSpPr>
        <p:spPr>
          <a:xfrm>
            <a:off x="457200" y="3474720"/>
            <a:ext cx="8229600" cy="12801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433"/>
                </a:solidFill>
                <a:latin typeface="Calibri" pitchFamily="34" charset="0"/>
                <a:ea typeface="Calibri" pitchFamily="34" charset="-122"/>
                <a:cs typeface="Calibri" pitchFamily="34" charset="-120"/>
              </a:rPr>
              <a:t>Cada porcentaje se calcula respecto al ancho del contenedor padre, no de la pantalla</a:t>
            </a:r>
            <a:endParaRPr lang="en-US" sz="1500" dirty="0"/>
          </a:p>
          <a:p>
            <a:pPr marL="342900" indent="-342900">
              <a:spcAft>
                <a:spcPts val="800"/>
              </a:spcAft>
              <a:buSzPct val="100000"/>
              <a:buChar char="•"/>
            </a:pPr>
            <a:r>
              <a:rPr lang="en-US" sz="1500" dirty="0">
                <a:solidFill>
                  <a:srgbClr val="1F2433"/>
                </a:solidFill>
                <a:latin typeface="Calibri" pitchFamily="34" charset="0"/>
                <a:ea typeface="Calibri" pitchFamily="34" charset="-122"/>
                <a:cs typeface="Calibri" pitchFamily="34" charset="-120"/>
              </a:rPr>
              <a:t>Columna principal y barra lateral mantienen su proporción en cualquier tamaño</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F2433"/>
                </a:solidFill>
                <a:latin typeface="Cambria" pitchFamily="34" charset="0"/>
                <a:ea typeface="Cambria" pitchFamily="34" charset="-122"/>
                <a:cs typeface="Cambria" pitchFamily="34" charset="-120"/>
              </a:rPr>
              <a:t>em: depende del elemento padre</a:t>
            </a:r>
            <a:endParaRPr lang="en-US" sz="3000" dirty="0"/>
          </a:p>
        </p:txBody>
      </p:sp>
      <p:sp>
        <p:nvSpPr>
          <p:cNvPr id="3" name="Shape 1"/>
          <p:cNvSpPr/>
          <p:nvPr/>
        </p:nvSpPr>
        <p:spPr>
          <a:xfrm>
            <a:off x="457200" y="1188720"/>
            <a:ext cx="4754880" cy="3474720"/>
          </a:xfrm>
          <a:prstGeom prst="roundRect">
            <a:avLst>
              <a:gd name="adj" fmla="val 2632"/>
            </a:avLst>
          </a:prstGeom>
          <a:solidFill>
            <a:srgbClr val="EEF1F6"/>
          </a:solidFill>
          <a:ln w="12700">
            <a:solidFill>
              <a:srgbClr val="5B6475"/>
            </a:solidFill>
            <a:prstDash val="solid"/>
          </a:ln>
        </p:spPr>
        <p:txBody>
          <a:bodyPr/>
          <a:lstStyle/>
          <a:p>
            <a:endParaRPr lang="es-ES"/>
          </a:p>
        </p:txBody>
      </p:sp>
      <p:sp>
        <p:nvSpPr>
          <p:cNvPr id="4" name="Text 2"/>
          <p:cNvSpPr txBox="1"/>
          <p:nvPr/>
        </p:nvSpPr>
        <p:spPr>
          <a:xfrm>
            <a:off x="640080" y="1280160"/>
            <a:ext cx="4389120" cy="365760"/>
          </a:xfrm>
          <a:prstGeom prst="rect">
            <a:avLst/>
          </a:prstGeom>
          <a:noFill/>
          <a:ln/>
        </p:spPr>
        <p:txBody>
          <a:bodyPr wrap="square" lIns="0" tIns="0" rIns="0" bIns="0" rtlCol="0" anchor="ctr"/>
          <a:lstStyle/>
          <a:p>
            <a:pPr marL="0" indent="0">
              <a:buNone/>
            </a:pPr>
            <a:r>
              <a:rPr lang="en-US" sz="1400" b="1" dirty="0">
                <a:solidFill>
                  <a:srgbClr val="1F2433"/>
                </a:solidFill>
                <a:latin typeface="Courier New" pitchFamily="34" charset="0"/>
                <a:ea typeface="Courier New" pitchFamily="34" charset="-122"/>
                <a:cs typeface="Courier New" pitchFamily="34" charset="-120"/>
              </a:rPr>
              <a:t>body · 16px</a:t>
            </a:r>
            <a:endParaRPr lang="en-US" sz="1400" dirty="0"/>
          </a:p>
        </p:txBody>
      </p:sp>
      <p:sp>
        <p:nvSpPr>
          <p:cNvPr id="5" name="Shape 3"/>
          <p:cNvSpPr/>
          <p:nvPr/>
        </p:nvSpPr>
        <p:spPr>
          <a:xfrm>
            <a:off x="822960" y="1783080"/>
            <a:ext cx="4023360" cy="2651760"/>
          </a:xfrm>
          <a:prstGeom prst="roundRect">
            <a:avLst>
              <a:gd name="adj" fmla="val 3448"/>
            </a:avLst>
          </a:prstGeom>
          <a:solidFill>
            <a:srgbClr val="DCEEF5"/>
          </a:solidFill>
          <a:ln w="12700">
            <a:solidFill>
              <a:srgbClr val="2E86AB"/>
            </a:solidFill>
            <a:prstDash val="solid"/>
          </a:ln>
        </p:spPr>
        <p:txBody>
          <a:bodyPr/>
          <a:lstStyle/>
          <a:p>
            <a:endParaRPr lang="es-ES"/>
          </a:p>
        </p:txBody>
      </p:sp>
      <p:sp>
        <p:nvSpPr>
          <p:cNvPr id="6" name="Text 4"/>
          <p:cNvSpPr txBox="1"/>
          <p:nvPr/>
        </p:nvSpPr>
        <p:spPr>
          <a:xfrm>
            <a:off x="1005840" y="1874520"/>
            <a:ext cx="3657600" cy="365760"/>
          </a:xfrm>
          <a:prstGeom prst="rect">
            <a:avLst/>
          </a:prstGeom>
          <a:noFill/>
          <a:ln/>
        </p:spPr>
        <p:txBody>
          <a:bodyPr wrap="square" lIns="0" tIns="0" rIns="0" bIns="0" rtlCol="0" anchor="ctr"/>
          <a:lstStyle/>
          <a:p>
            <a:pPr marL="0" indent="0">
              <a:buNone/>
            </a:pPr>
            <a:r>
              <a:rPr lang="en-US" sz="1400" b="1" dirty="0">
                <a:solidFill>
                  <a:srgbClr val="2E86AB"/>
                </a:solidFill>
                <a:latin typeface="Courier New" pitchFamily="34" charset="0"/>
                <a:ea typeface="Courier New" pitchFamily="34" charset="-122"/>
                <a:cs typeface="Courier New" pitchFamily="34" charset="-120"/>
              </a:rPr>
              <a:t>hijo · 1.3em = 20.8px</a:t>
            </a:r>
            <a:endParaRPr lang="en-US" sz="1400" dirty="0"/>
          </a:p>
        </p:txBody>
      </p:sp>
      <p:sp>
        <p:nvSpPr>
          <p:cNvPr id="7" name="Shape 5"/>
          <p:cNvSpPr/>
          <p:nvPr/>
        </p:nvSpPr>
        <p:spPr>
          <a:xfrm>
            <a:off x="1188720" y="2377440"/>
            <a:ext cx="3291840" cy="1828800"/>
          </a:xfrm>
          <a:prstGeom prst="roundRect">
            <a:avLst>
              <a:gd name="adj" fmla="val 5000"/>
            </a:avLst>
          </a:prstGeom>
          <a:solidFill>
            <a:srgbClr val="FBE9DB"/>
          </a:solidFill>
          <a:ln w="12700">
            <a:solidFill>
              <a:srgbClr val="E07A2F"/>
            </a:solidFill>
            <a:prstDash val="solid"/>
          </a:ln>
        </p:spPr>
        <p:txBody>
          <a:bodyPr/>
          <a:lstStyle/>
          <a:p>
            <a:endParaRPr lang="es-ES"/>
          </a:p>
        </p:txBody>
      </p:sp>
      <p:sp>
        <p:nvSpPr>
          <p:cNvPr id="8" name="Text 6"/>
          <p:cNvSpPr txBox="1"/>
          <p:nvPr/>
        </p:nvSpPr>
        <p:spPr>
          <a:xfrm>
            <a:off x="1371600" y="2468880"/>
            <a:ext cx="3017520" cy="365760"/>
          </a:xfrm>
          <a:prstGeom prst="rect">
            <a:avLst/>
          </a:prstGeom>
          <a:noFill/>
          <a:ln/>
        </p:spPr>
        <p:txBody>
          <a:bodyPr wrap="square" lIns="0" tIns="0" rIns="0" bIns="0" rtlCol="0" anchor="ctr"/>
          <a:lstStyle/>
          <a:p>
            <a:pPr marL="0" indent="0">
              <a:buNone/>
            </a:pPr>
            <a:r>
              <a:rPr lang="en-US" sz="1400" b="1" dirty="0">
                <a:solidFill>
                  <a:srgbClr val="E07A2F"/>
                </a:solidFill>
                <a:latin typeface="Courier New" pitchFamily="34" charset="0"/>
                <a:ea typeface="Courier New" pitchFamily="34" charset="-122"/>
                <a:cs typeface="Courier New" pitchFamily="34" charset="-120"/>
              </a:rPr>
              <a:t>nieto · 1.3em = 27.04px</a:t>
            </a:r>
            <a:endParaRPr lang="en-US" sz="1400" dirty="0"/>
          </a:p>
        </p:txBody>
      </p:sp>
      <p:sp>
        <p:nvSpPr>
          <p:cNvPr id="9" name="Text 7"/>
          <p:cNvSpPr txBox="1"/>
          <p:nvPr/>
        </p:nvSpPr>
        <p:spPr>
          <a:xfrm>
            <a:off x="1371600" y="3017520"/>
            <a:ext cx="2926080" cy="914400"/>
          </a:xfrm>
          <a:prstGeom prst="rect">
            <a:avLst/>
          </a:prstGeom>
          <a:noFill/>
          <a:ln/>
        </p:spPr>
        <p:txBody>
          <a:bodyPr wrap="square" lIns="0" tIns="0" rIns="0" bIns="0" rtlCol="0" anchor="ctr"/>
          <a:lstStyle/>
          <a:p>
            <a:pPr marL="0" indent="0">
              <a:buNone/>
            </a:pPr>
            <a:r>
              <a:rPr lang="en-US" sz="1400" i="1" dirty="0">
                <a:solidFill>
                  <a:srgbClr val="1F2433"/>
                </a:solidFill>
                <a:latin typeface="Calibri" pitchFamily="34" charset="0"/>
                <a:ea typeface="Calibri" pitchFamily="34" charset="-122"/>
                <a:cs typeface="Calibri" pitchFamily="34" charset="-120"/>
              </a:rPr>
              <a:t>El valor se acumula en cada nivel de anidamiento</a:t>
            </a:r>
            <a:endParaRPr lang="en-US" sz="1400" dirty="0"/>
          </a:p>
        </p:txBody>
      </p:sp>
      <p:sp>
        <p:nvSpPr>
          <p:cNvPr id="10" name="Text 8"/>
          <p:cNvSpPr txBox="1"/>
          <p:nvPr/>
        </p:nvSpPr>
        <p:spPr>
          <a:xfrm>
            <a:off x="5577840" y="1280160"/>
            <a:ext cx="3108960" cy="914400"/>
          </a:xfrm>
          <a:prstGeom prst="rect">
            <a:avLst/>
          </a:prstGeom>
          <a:noFill/>
          <a:ln/>
        </p:spPr>
        <p:txBody>
          <a:bodyPr wrap="square" lIns="0" tIns="0" rIns="0" bIns="0" rtlCol="0" anchor="ctr"/>
          <a:lstStyle/>
          <a:p>
            <a:pPr marL="0" indent="0">
              <a:buNone/>
            </a:pPr>
            <a:r>
              <a:rPr lang="en-US" sz="1600" b="1" dirty="0">
                <a:solidFill>
                  <a:srgbClr val="1F2433"/>
                </a:solidFill>
                <a:latin typeface="Courier New" pitchFamily="34" charset="0"/>
                <a:ea typeface="Courier New" pitchFamily="34" charset="-122"/>
                <a:cs typeface="Courier New" pitchFamily="34" charset="-120"/>
              </a:rPr>
              <a:t>16 × 1.3 = 20.8</a:t>
            </a:r>
            <a:endParaRPr lang="en-US" sz="1600" dirty="0"/>
          </a:p>
          <a:p>
            <a:pPr marL="0" indent="0">
              <a:buNone/>
            </a:pPr>
            <a:r>
              <a:rPr lang="en-US" sz="1600" b="1" dirty="0">
                <a:solidFill>
                  <a:srgbClr val="1F2433"/>
                </a:solidFill>
                <a:latin typeface="Courier New" pitchFamily="34" charset="0"/>
                <a:ea typeface="Courier New" pitchFamily="34" charset="-122"/>
                <a:cs typeface="Courier New" pitchFamily="34" charset="-120"/>
              </a:rPr>
              <a:t>20.8 × 1.3 = 27.04</a:t>
            </a:r>
            <a:endParaRPr lang="en-US" sz="1600" dirty="0"/>
          </a:p>
        </p:txBody>
      </p:sp>
      <p:sp>
        <p:nvSpPr>
          <p:cNvPr id="11" name="Text 9"/>
          <p:cNvSpPr txBox="1"/>
          <p:nvPr/>
        </p:nvSpPr>
        <p:spPr>
          <a:xfrm>
            <a:off x="5577840" y="2377440"/>
            <a:ext cx="3108960" cy="2194560"/>
          </a:xfrm>
          <a:prstGeom prst="rect">
            <a:avLst/>
          </a:prstGeom>
          <a:noFill/>
          <a:ln/>
        </p:spPr>
        <p:txBody>
          <a:bodyPr wrap="square" lIns="0" tIns="0" rIns="0" bIns="0" rtlCol="0" anchor="t"/>
          <a:lstStyle/>
          <a:p>
            <a:pPr marL="0" indent="0">
              <a:buNone/>
            </a:pPr>
            <a:r>
              <a:rPr lang="en-US" sz="1500" dirty="0">
                <a:solidFill>
                  <a:srgbClr val="5B6475"/>
                </a:solidFill>
                <a:latin typeface="Calibri" pitchFamily="34" charset="0"/>
                <a:ea typeface="Calibri" pitchFamily="34" charset="-122"/>
                <a:cs typeface="Calibri" pitchFamily="34" charset="-120"/>
              </a:rPr>
              <a:t>1em equivale al tamaño de fuente del elemento. Si el propio font-size se escribe en em, se toma el del padre: por eso los valores se multiplican al anidar.</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F2433"/>
                </a:solidFill>
                <a:latin typeface="Cambria" pitchFamily="34" charset="0"/>
                <a:ea typeface="Cambria" pitchFamily="34" charset="-122"/>
                <a:cs typeface="Cambria" pitchFamily="34" charset="-120"/>
              </a:rPr>
              <a:t>em: cuándo usarlo</a:t>
            </a:r>
            <a:endParaRPr lang="en-US" sz="3000" dirty="0"/>
          </a:p>
        </p:txBody>
      </p:sp>
      <p:sp>
        <p:nvSpPr>
          <p:cNvPr id="3" name="Shape 1"/>
          <p:cNvSpPr/>
          <p:nvPr/>
        </p:nvSpPr>
        <p:spPr>
          <a:xfrm>
            <a:off x="457200" y="1188720"/>
            <a:ext cx="3931920" cy="3383280"/>
          </a:xfrm>
          <a:prstGeom prst="roundRect">
            <a:avLst>
              <a:gd name="adj" fmla="val 2703"/>
            </a:avLst>
          </a:prstGeom>
          <a:solidFill>
            <a:srgbClr val="DCEEF5"/>
          </a:solidFill>
          <a:ln w="12700">
            <a:solidFill>
              <a:srgbClr val="DCEEF5"/>
            </a:solidFill>
            <a:prstDash val="solid"/>
          </a:ln>
        </p:spPr>
        <p:txBody>
          <a:bodyPr/>
          <a:lstStyle/>
          <a:p>
            <a:endParaRPr lang="es-ES"/>
          </a:p>
        </p:txBody>
      </p:sp>
      <p:sp>
        <p:nvSpPr>
          <p:cNvPr id="4" name="Text 2"/>
          <p:cNvSpPr txBox="1"/>
          <p:nvPr/>
        </p:nvSpPr>
        <p:spPr>
          <a:xfrm>
            <a:off x="731520" y="1371600"/>
            <a:ext cx="3383280" cy="411480"/>
          </a:xfrm>
          <a:prstGeom prst="rect">
            <a:avLst/>
          </a:prstGeom>
          <a:noFill/>
          <a:ln/>
        </p:spPr>
        <p:txBody>
          <a:bodyPr wrap="square" lIns="0" tIns="0" rIns="0" bIns="0" rtlCol="0" anchor="ctr"/>
          <a:lstStyle/>
          <a:p>
            <a:pPr marL="0" indent="0">
              <a:buNone/>
            </a:pPr>
            <a:r>
              <a:rPr lang="en-US" sz="2000" b="1" dirty="0">
                <a:solidFill>
                  <a:srgbClr val="2E86AB"/>
                </a:solidFill>
                <a:latin typeface="Cambria" pitchFamily="34" charset="0"/>
                <a:ea typeface="Cambria" pitchFamily="34" charset="-122"/>
                <a:cs typeface="Cambria" pitchFamily="34" charset="-120"/>
              </a:rPr>
              <a:t>Recomendado para</a:t>
            </a:r>
            <a:endParaRPr lang="en-US" sz="2000" dirty="0"/>
          </a:p>
        </p:txBody>
      </p:sp>
      <p:sp>
        <p:nvSpPr>
          <p:cNvPr id="5" name="Text 3"/>
          <p:cNvSpPr txBox="1"/>
          <p:nvPr/>
        </p:nvSpPr>
        <p:spPr>
          <a:xfrm>
            <a:off x="731520" y="1920240"/>
            <a:ext cx="3383280" cy="25603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433"/>
                </a:solidFill>
                <a:latin typeface="Calibri" pitchFamily="34" charset="0"/>
                <a:ea typeface="Calibri" pitchFamily="34" charset="-122"/>
                <a:cs typeface="Calibri" pitchFamily="34" charset="-120"/>
              </a:rPr>
              <a:t>Altos de línea y espaciados ligados al texto</a:t>
            </a:r>
            <a:endParaRPr lang="en-US" sz="1500" dirty="0"/>
          </a:p>
          <a:p>
            <a:pPr marL="342900" indent="-342900">
              <a:spcAft>
                <a:spcPts val="800"/>
              </a:spcAft>
              <a:buSzPct val="100000"/>
              <a:buChar char="•"/>
            </a:pPr>
            <a:r>
              <a:rPr lang="en-US" sz="1500" dirty="0">
                <a:solidFill>
                  <a:srgbClr val="1F2433"/>
                </a:solidFill>
                <a:latin typeface="Calibri" pitchFamily="34" charset="0"/>
                <a:ea typeface="Calibri" pitchFamily="34" charset="-122"/>
                <a:cs typeface="Calibri" pitchFamily="34" charset="-120"/>
              </a:rPr>
              <a:t>Margen entre párrafos</a:t>
            </a:r>
            <a:endParaRPr lang="en-US" sz="1500" dirty="0"/>
          </a:p>
          <a:p>
            <a:pPr marL="342900" indent="-342900">
              <a:spcAft>
                <a:spcPts val="800"/>
              </a:spcAft>
              <a:buSzPct val="100000"/>
              <a:buChar char="•"/>
            </a:pPr>
            <a:r>
              <a:rPr lang="en-US" sz="1500" dirty="0">
                <a:solidFill>
                  <a:srgbClr val="1F2433"/>
                </a:solidFill>
                <a:latin typeface="Calibri" pitchFamily="34" charset="0"/>
                <a:ea typeface="Calibri" pitchFamily="34" charset="-122"/>
                <a:cs typeface="Calibri" pitchFamily="34" charset="-120"/>
              </a:rPr>
              <a:t>Relleno interior de botones o blockquotes</a:t>
            </a:r>
            <a:endParaRPr lang="en-US" sz="1500" dirty="0"/>
          </a:p>
          <a:p>
            <a:pPr marL="342900" indent="-342900">
              <a:spcAft>
                <a:spcPts val="800"/>
              </a:spcAft>
              <a:buSzPct val="100000"/>
              <a:buChar char="•"/>
            </a:pPr>
            <a:r>
              <a:rPr lang="en-US" sz="1500" dirty="0">
                <a:solidFill>
                  <a:srgbClr val="1F2433"/>
                </a:solidFill>
                <a:latin typeface="Calibri" pitchFamily="34" charset="0"/>
                <a:ea typeface="Calibri" pitchFamily="34" charset="-122"/>
                <a:cs typeface="Calibri" pitchFamily="34" charset="-120"/>
              </a:rPr>
              <a:t>Componentes que deben escalar con su propio texto</a:t>
            </a:r>
            <a:endParaRPr lang="en-US" sz="1500" dirty="0"/>
          </a:p>
        </p:txBody>
      </p:sp>
      <p:sp>
        <p:nvSpPr>
          <p:cNvPr id="6" name="Shape 4"/>
          <p:cNvSpPr/>
          <p:nvPr/>
        </p:nvSpPr>
        <p:spPr>
          <a:xfrm>
            <a:off x="4754880" y="1188720"/>
            <a:ext cx="3931920" cy="3383280"/>
          </a:xfrm>
          <a:prstGeom prst="roundRect">
            <a:avLst>
              <a:gd name="adj" fmla="val 2703"/>
            </a:avLst>
          </a:prstGeom>
          <a:solidFill>
            <a:srgbClr val="FBE9DB"/>
          </a:solidFill>
          <a:ln w="12700">
            <a:solidFill>
              <a:srgbClr val="FBE9DB"/>
            </a:solidFill>
            <a:prstDash val="solid"/>
          </a:ln>
        </p:spPr>
        <p:txBody>
          <a:bodyPr/>
          <a:lstStyle/>
          <a:p>
            <a:endParaRPr lang="es-ES"/>
          </a:p>
        </p:txBody>
      </p:sp>
      <p:sp>
        <p:nvSpPr>
          <p:cNvPr id="7" name="Text 5"/>
          <p:cNvSpPr txBox="1"/>
          <p:nvPr/>
        </p:nvSpPr>
        <p:spPr>
          <a:xfrm>
            <a:off x="5029200" y="1371600"/>
            <a:ext cx="3383280" cy="411480"/>
          </a:xfrm>
          <a:prstGeom prst="rect">
            <a:avLst/>
          </a:prstGeom>
          <a:noFill/>
          <a:ln/>
        </p:spPr>
        <p:txBody>
          <a:bodyPr wrap="square" lIns="0" tIns="0" rIns="0" bIns="0" rtlCol="0" anchor="ctr"/>
          <a:lstStyle/>
          <a:p>
            <a:pPr marL="0" indent="0">
              <a:buNone/>
            </a:pPr>
            <a:r>
              <a:rPr lang="en-US" sz="2000" b="1" dirty="0">
                <a:solidFill>
                  <a:srgbClr val="E07A2F"/>
                </a:solidFill>
                <a:latin typeface="Cambria" pitchFamily="34" charset="0"/>
                <a:ea typeface="Cambria" pitchFamily="34" charset="-122"/>
                <a:cs typeface="Cambria" pitchFamily="34" charset="-120"/>
              </a:rPr>
              <a:t>Con precaución</a:t>
            </a:r>
            <a:endParaRPr lang="en-US" sz="2000" dirty="0"/>
          </a:p>
        </p:txBody>
      </p:sp>
      <p:sp>
        <p:nvSpPr>
          <p:cNvPr id="8" name="Text 6"/>
          <p:cNvSpPr txBox="1"/>
          <p:nvPr/>
        </p:nvSpPr>
        <p:spPr>
          <a:xfrm>
            <a:off x="5029200" y="1920240"/>
            <a:ext cx="3383280" cy="25603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433"/>
                </a:solidFill>
                <a:latin typeface="Calibri" pitchFamily="34" charset="0"/>
                <a:ea typeface="Calibri" pitchFamily="34" charset="-122"/>
                <a:cs typeface="Calibri" pitchFamily="34" charset="-120"/>
              </a:rPr>
              <a:t>Elementos generales del layout: si cambia la fuente de un contenedor, cambian sus medidas</a:t>
            </a:r>
            <a:endParaRPr lang="en-US" sz="1500" dirty="0"/>
          </a:p>
          <a:p>
            <a:pPr marL="342900" indent="-342900">
              <a:spcAft>
                <a:spcPts val="800"/>
              </a:spcAft>
              <a:buSzPct val="100000"/>
              <a:buChar char="•"/>
            </a:pPr>
            <a:r>
              <a:rPr lang="en-US" sz="1500" dirty="0">
                <a:solidFill>
                  <a:srgbClr val="1F2433"/>
                </a:solidFill>
                <a:latin typeface="Calibri" pitchFamily="34" charset="0"/>
                <a:ea typeface="Calibri" pitchFamily="34" charset="-122"/>
                <a:cs typeface="Calibri" pitchFamily="34" charset="-120"/>
              </a:rPr>
              <a:t>Tamaños de fuente en estructuras muy anidadas: el efecto acumulativo es difícil de controlar</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F2433"/>
                </a:solidFill>
                <a:latin typeface="Cambria" pitchFamily="34" charset="0"/>
                <a:ea typeface="Cambria" pitchFamily="34" charset="-122"/>
                <a:cs typeface="Cambria" pitchFamily="34" charset="-120"/>
              </a:rPr>
              <a:t>rem: relativo a la raíz</a:t>
            </a:r>
            <a:endParaRPr lang="en-US" sz="3000" dirty="0"/>
          </a:p>
        </p:txBody>
      </p:sp>
      <p:sp>
        <p:nvSpPr>
          <p:cNvPr id="3" name="Text 1"/>
          <p:cNvSpPr txBox="1"/>
          <p:nvPr/>
        </p:nvSpPr>
        <p:spPr>
          <a:xfrm>
            <a:off x="457200" y="1188720"/>
            <a:ext cx="4023360" cy="548640"/>
          </a:xfrm>
          <a:prstGeom prst="rect">
            <a:avLst/>
          </a:prstGeom>
          <a:noFill/>
          <a:ln/>
        </p:spPr>
        <p:txBody>
          <a:bodyPr wrap="square" lIns="0" tIns="0" rIns="0" bIns="0" rtlCol="0" anchor="ctr"/>
          <a:lstStyle/>
          <a:p>
            <a:pPr marL="0" indent="0">
              <a:buNone/>
            </a:pPr>
            <a:r>
              <a:rPr lang="en-US" sz="2400" b="1" i="1" dirty="0">
                <a:solidFill>
                  <a:srgbClr val="E07A2F"/>
                </a:solidFill>
                <a:latin typeface="Cambria" pitchFamily="34" charset="0"/>
                <a:ea typeface="Cambria" pitchFamily="34" charset="-122"/>
                <a:cs typeface="Cambria" pitchFamily="34" charset="-120"/>
              </a:rPr>
              <a:t>rem = "root em"</a:t>
            </a:r>
            <a:endParaRPr lang="en-US" sz="2400" dirty="0"/>
          </a:p>
        </p:txBody>
      </p:sp>
      <p:sp>
        <p:nvSpPr>
          <p:cNvPr id="4" name="Text 2"/>
          <p:cNvSpPr txBox="1"/>
          <p:nvPr/>
        </p:nvSpPr>
        <p:spPr>
          <a:xfrm>
            <a:off x="457200" y="1874520"/>
            <a:ext cx="402336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433"/>
                </a:solidFill>
                <a:latin typeface="Calibri" pitchFamily="34" charset="0"/>
                <a:ea typeface="Calibri" pitchFamily="34" charset="-122"/>
                <a:cs typeface="Calibri" pitchFamily="34" charset="-120"/>
              </a:rPr>
              <a:t>Se calcula siempre respecto al font-size de &lt;html&gt;</a:t>
            </a:r>
            <a:endParaRPr lang="en-US" sz="1500" dirty="0"/>
          </a:p>
          <a:p>
            <a:pPr marL="342900" indent="-342900">
              <a:spcAft>
                <a:spcPts val="800"/>
              </a:spcAft>
              <a:buSzPct val="100000"/>
              <a:buChar char="•"/>
            </a:pPr>
            <a:r>
              <a:rPr lang="en-US" sz="1500" dirty="0">
                <a:solidFill>
                  <a:srgbClr val="1F2433"/>
                </a:solidFill>
                <a:latin typeface="Calibri" pitchFamily="34" charset="0"/>
                <a:ea typeface="Calibri" pitchFamily="34" charset="-122"/>
                <a:cs typeface="Calibri" pitchFamily="34" charset="-120"/>
              </a:rPr>
              <a:t>No se acumula al anidar elementos</a:t>
            </a:r>
            <a:endParaRPr lang="en-US" sz="1500" dirty="0"/>
          </a:p>
          <a:p>
            <a:pPr marL="342900" indent="-342900">
              <a:spcAft>
                <a:spcPts val="800"/>
              </a:spcAft>
              <a:buSzPct val="100000"/>
              <a:buChar char="•"/>
            </a:pPr>
            <a:r>
              <a:rPr lang="en-US" sz="1500" dirty="0">
                <a:solidFill>
                  <a:srgbClr val="1F2433"/>
                </a:solidFill>
                <a:latin typeface="Calibri" pitchFamily="34" charset="0"/>
                <a:ea typeface="Calibri" pitchFamily="34" charset="-122"/>
                <a:cs typeface="Calibri" pitchFamily="34" charset="-120"/>
              </a:rPr>
              <a:t>Por defecto, 1rem = 16px</a:t>
            </a:r>
            <a:endParaRPr lang="en-US" sz="1500" dirty="0"/>
          </a:p>
          <a:p>
            <a:pPr marL="342900" indent="-342900">
              <a:spcAft>
                <a:spcPts val="800"/>
              </a:spcAft>
              <a:buSzPct val="100000"/>
              <a:buChar char="•"/>
            </a:pPr>
            <a:r>
              <a:rPr lang="en-US" sz="1500" dirty="0">
                <a:solidFill>
                  <a:srgbClr val="1F2433"/>
                </a:solidFill>
                <a:latin typeface="Calibri" pitchFamily="34" charset="0"/>
                <a:ea typeface="Calibri" pitchFamily="34" charset="-122"/>
                <a:cs typeface="Calibri" pitchFamily="34" charset="-120"/>
              </a:rPr>
              <a:t>Respeta el tamaño de fuente configurado por el usuario</a:t>
            </a:r>
            <a:endParaRPr lang="en-US" sz="1500" dirty="0"/>
          </a:p>
        </p:txBody>
      </p:sp>
      <p:sp>
        <p:nvSpPr>
          <p:cNvPr id="5" name="Shape 3"/>
          <p:cNvSpPr/>
          <p:nvPr/>
        </p:nvSpPr>
        <p:spPr>
          <a:xfrm>
            <a:off x="4754880" y="1188720"/>
            <a:ext cx="3931920" cy="2011680"/>
          </a:xfrm>
          <a:prstGeom prst="roundRect">
            <a:avLst>
              <a:gd name="adj" fmla="val 4545"/>
            </a:avLst>
          </a:prstGeom>
          <a:solidFill>
            <a:srgbClr val="2C3347"/>
          </a:solidFill>
          <a:ln w="12700">
            <a:solidFill>
              <a:srgbClr val="2C3347"/>
            </a:solidFill>
            <a:prstDash val="solid"/>
          </a:ln>
        </p:spPr>
        <p:txBody>
          <a:bodyPr/>
          <a:lstStyle/>
          <a:p>
            <a:endParaRPr lang="es-ES"/>
          </a:p>
        </p:txBody>
      </p:sp>
      <p:sp>
        <p:nvSpPr>
          <p:cNvPr id="6" name="Text 4"/>
          <p:cNvSpPr txBox="1"/>
          <p:nvPr/>
        </p:nvSpPr>
        <p:spPr>
          <a:xfrm>
            <a:off x="4937760" y="1325880"/>
            <a:ext cx="3566160" cy="1737360"/>
          </a:xfrm>
          <a:prstGeom prst="rect">
            <a:avLst/>
          </a:prstGeom>
          <a:noFill/>
          <a:ln/>
        </p:spPr>
        <p:txBody>
          <a:bodyPr wrap="square" lIns="0" tIns="0" rIns="0" bIns="0" rtlCol="0" anchor="t"/>
          <a:lstStyle/>
          <a:p>
            <a:pPr marL="0" indent="0">
              <a:buNone/>
            </a:pPr>
            <a:r>
              <a:rPr lang="en-US" sz="1300" dirty="0">
                <a:solidFill>
                  <a:srgbClr val="E8ECF3"/>
                </a:solidFill>
                <a:latin typeface="Courier New" pitchFamily="34" charset="0"/>
                <a:ea typeface="Courier New" pitchFamily="34" charset="-122"/>
                <a:cs typeface="Courier New" pitchFamily="34" charset="-120"/>
              </a:rPr>
              <a:t>html { font-size: 100%; }</a:t>
            </a:r>
            <a:endParaRPr lang="en-US" sz="1300" dirty="0"/>
          </a:p>
          <a:p>
            <a:pPr marL="0" indent="0">
              <a:buNone/>
            </a:pPr>
            <a:r>
              <a:rPr lang="en-US" sz="1300" dirty="0">
                <a:solidFill>
                  <a:srgbClr val="E8ECF3"/>
                </a:solidFill>
                <a:latin typeface="Courier New" pitchFamily="34" charset="0"/>
                <a:ea typeface="Courier New" pitchFamily="34" charset="-122"/>
                <a:cs typeface="Courier New" pitchFamily="34" charset="-120"/>
              </a:rPr>
              <a:t>/* = 16px */</a:t>
            </a:r>
            <a:endParaRPr lang="en-US" sz="1300" dirty="0"/>
          </a:p>
          <a:p>
            <a:pPr marL="0" indent="0">
              <a:buNone/>
            </a:pPr>
            <a:endParaRPr lang="en-US" sz="1300" dirty="0"/>
          </a:p>
          <a:p>
            <a:pPr marL="0" indent="0">
              <a:buNone/>
            </a:pPr>
            <a:r>
              <a:rPr lang="en-US" sz="1300" dirty="0">
                <a:solidFill>
                  <a:srgbClr val="E8ECF3"/>
                </a:solidFill>
                <a:latin typeface="Courier New" pitchFamily="34" charset="0"/>
                <a:ea typeface="Courier New" pitchFamily="34" charset="-122"/>
                <a:cs typeface="Courier New" pitchFamily="34" charset="-120"/>
              </a:rPr>
              <a:t>h1 { font-size: 2rem; }</a:t>
            </a:r>
            <a:endParaRPr lang="en-US" sz="1300" dirty="0"/>
          </a:p>
          <a:p>
            <a:pPr marL="0" indent="0">
              <a:buNone/>
            </a:pPr>
            <a:r>
              <a:rPr lang="en-US" sz="1300" dirty="0">
                <a:solidFill>
                  <a:srgbClr val="E8ECF3"/>
                </a:solidFill>
                <a:latin typeface="Courier New" pitchFamily="34" charset="0"/>
                <a:ea typeface="Courier New" pitchFamily="34" charset="-122"/>
                <a:cs typeface="Courier New" pitchFamily="34" charset="-120"/>
              </a:rPr>
              <a:t>/* = 32px */</a:t>
            </a:r>
            <a:endParaRPr lang="en-US" sz="1300" dirty="0"/>
          </a:p>
          <a:p>
            <a:pPr marL="0" indent="0">
              <a:buNone/>
            </a:pPr>
            <a:endParaRPr lang="en-US" sz="1300" dirty="0"/>
          </a:p>
          <a:p>
            <a:pPr marL="0" indent="0">
              <a:buNone/>
            </a:pPr>
            <a:r>
              <a:rPr lang="en-US" sz="1300" dirty="0">
                <a:solidFill>
                  <a:srgbClr val="E8ECF3"/>
                </a:solidFill>
                <a:latin typeface="Courier New" pitchFamily="34" charset="0"/>
                <a:ea typeface="Courier New" pitchFamily="34" charset="-122"/>
                <a:cs typeface="Courier New" pitchFamily="34" charset="-120"/>
              </a:rPr>
              <a:t>.box { padding: 1.5rem; }</a:t>
            </a:r>
            <a:endParaRPr lang="en-US" sz="1300" dirty="0"/>
          </a:p>
          <a:p>
            <a:pPr marL="0" indent="0">
              <a:buNone/>
            </a:pPr>
            <a:r>
              <a:rPr lang="en-US" sz="1300" dirty="0">
                <a:solidFill>
                  <a:srgbClr val="E8ECF3"/>
                </a:solidFill>
                <a:latin typeface="Courier New" pitchFamily="34" charset="0"/>
                <a:ea typeface="Courier New" pitchFamily="34" charset="-122"/>
                <a:cs typeface="Courier New" pitchFamily="34" charset="-120"/>
              </a:rPr>
              <a:t>/* = 24px */</a:t>
            </a:r>
            <a:endParaRPr lang="en-US" sz="1300" dirty="0"/>
          </a:p>
        </p:txBody>
      </p:sp>
      <p:sp>
        <p:nvSpPr>
          <p:cNvPr id="7" name="Shape 5"/>
          <p:cNvSpPr/>
          <p:nvPr/>
        </p:nvSpPr>
        <p:spPr>
          <a:xfrm>
            <a:off x="4754880" y="3429000"/>
            <a:ext cx="3931920" cy="1188720"/>
          </a:xfrm>
          <a:prstGeom prst="roundRect">
            <a:avLst>
              <a:gd name="adj" fmla="val 7692"/>
            </a:avLst>
          </a:prstGeom>
          <a:solidFill>
            <a:srgbClr val="EEF1F6"/>
          </a:solidFill>
          <a:ln w="12700">
            <a:solidFill>
              <a:srgbClr val="EEF1F6"/>
            </a:solidFill>
            <a:prstDash val="solid"/>
          </a:ln>
        </p:spPr>
        <p:txBody>
          <a:bodyPr/>
          <a:lstStyle/>
          <a:p>
            <a:endParaRPr lang="es-ES"/>
          </a:p>
        </p:txBody>
      </p:sp>
      <p:sp>
        <p:nvSpPr>
          <p:cNvPr id="8" name="Text 6"/>
          <p:cNvSpPr txBox="1"/>
          <p:nvPr/>
        </p:nvSpPr>
        <p:spPr>
          <a:xfrm>
            <a:off x="4937760" y="3520440"/>
            <a:ext cx="3566160" cy="1005840"/>
          </a:xfrm>
          <a:prstGeom prst="rect">
            <a:avLst/>
          </a:prstGeom>
          <a:noFill/>
          <a:ln/>
        </p:spPr>
        <p:txBody>
          <a:bodyPr wrap="square" lIns="0" tIns="0" rIns="0" bIns="0" rtlCol="0" anchor="ctr"/>
          <a:lstStyle/>
          <a:p>
            <a:pPr marL="0" indent="0">
              <a:buNone/>
            </a:pPr>
            <a:r>
              <a:rPr lang="en-US" sz="1500" dirty="0">
                <a:solidFill>
                  <a:srgbClr val="1F2433"/>
                </a:solidFill>
                <a:latin typeface="Calibri" pitchFamily="34" charset="0"/>
                <a:ea typeface="Calibri" pitchFamily="34" charset="-122"/>
                <a:cs typeface="Calibri" pitchFamily="34" charset="-120"/>
              </a:rPr>
              <a:t>Útil para tipografía, espaciados del layout y media queries.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F2433"/>
                </a:solidFill>
                <a:latin typeface="Cambria" pitchFamily="34" charset="0"/>
                <a:ea typeface="Cambria" pitchFamily="34" charset="-122"/>
                <a:cs typeface="Cambria" pitchFamily="34" charset="-120"/>
              </a:rPr>
              <a:t>em frente a rem</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237744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566928">
                <a:tc>
                  <a:txBody>
                    <a:bodyPr/>
                    <a:lstStyle/>
                    <a:p>
                      <a:pPr marL="0" indent="0">
                        <a:buNone/>
                      </a:pPr>
                      <a:endParaRPr lang="en-US" sz="1500" dirty="0">
                        <a:latin typeface="Calibri" charset="0"/>
                        <a:ea typeface="Calibri" charset="0"/>
                        <a:cs typeface="Calibri" charset="0"/>
                      </a:endParaRPr>
                    </a:p>
                  </a:txBody>
                  <a:tcPr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FFFFFF"/>
                          </a:solidFill>
                          <a:latin typeface="Courier New" pitchFamily="34" charset="0"/>
                          <a:ea typeface="Courier New" pitchFamily="34" charset="-122"/>
                          <a:cs typeface="Courier New" pitchFamily="34" charset="-120"/>
                        </a:rPr>
                        <a:t>em</a:t>
                      </a:r>
                      <a:endParaRPr lang="en-US" sz="1800" dirty="0">
                        <a:latin typeface="Courier New" charset="0"/>
                        <a:ea typeface="Courier New" charset="0"/>
                        <a:cs typeface="Courier New" charset="0"/>
                      </a:endParaRPr>
                    </a:p>
                  </a:txBody>
                  <a:tcPr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2E86AB"/>
                    </a:solidFill>
                  </a:tcPr>
                </a:tc>
                <a:tc>
                  <a:txBody>
                    <a:bodyPr/>
                    <a:lstStyle/>
                    <a:p>
                      <a:pPr marL="0" indent="0" algn="ctr">
                        <a:buNone/>
                      </a:pPr>
                      <a:r>
                        <a:rPr lang="en-US" sz="1800" b="1" dirty="0">
                          <a:solidFill>
                            <a:srgbClr val="FFFFFF"/>
                          </a:solidFill>
                          <a:latin typeface="Courier New" pitchFamily="34" charset="0"/>
                          <a:ea typeface="Courier New" pitchFamily="34" charset="-122"/>
                          <a:cs typeface="Courier New" pitchFamily="34" charset="-120"/>
                        </a:rPr>
                        <a:t>rem</a:t>
                      </a:r>
                      <a:endParaRPr lang="en-US" sz="1800" dirty="0">
                        <a:latin typeface="Courier New" charset="0"/>
                        <a:ea typeface="Courier New" charset="0"/>
                        <a:cs typeface="Courier New" charset="0"/>
                      </a:endParaRPr>
                    </a:p>
                  </a:txBody>
                  <a:tcPr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07A2F"/>
                    </a:solidFill>
                  </a:tcPr>
                </a:tc>
                <a:extLst>
                  <a:ext uri="{0D108BD9-81ED-4DB2-BD59-A6C34878D82A}">
                    <a16:rowId xmlns:a16="http://schemas.microsoft.com/office/drawing/2014/main" val="10000"/>
                  </a:ext>
                </a:extLst>
              </a:tr>
              <a:tr h="566928">
                <a:tc>
                  <a:txBody>
                    <a:bodyPr/>
                    <a:lstStyle/>
                    <a:p>
                      <a:pPr marL="0" indent="0" algn="l">
                        <a:buNone/>
                      </a:pPr>
                      <a:r>
                        <a:rPr lang="en-US" sz="1500" b="1" dirty="0">
                          <a:solidFill>
                            <a:srgbClr val="1F2433"/>
                          </a:solidFill>
                          <a:latin typeface="Calibri" pitchFamily="34" charset="0"/>
                          <a:ea typeface="Calibri" pitchFamily="34" charset="-122"/>
                          <a:cs typeface="Calibri" pitchFamily="34" charset="-120"/>
                        </a:rPr>
                        <a:t>Referencia</a:t>
                      </a:r>
                      <a:endParaRPr lang="en-US" sz="1500" dirty="0">
                        <a:latin typeface="Calibri" charset="0"/>
                        <a:ea typeface="Calibri" charset="0"/>
                        <a:cs typeface="Calibri" charset="0"/>
                      </a:endParaRPr>
                    </a:p>
                  </a:txBody>
                  <a:tcPr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marL="0" indent="0" algn="ctr">
                        <a:buNone/>
                      </a:pPr>
                      <a:r>
                        <a:rPr lang="en-US" sz="1500" dirty="0">
                          <a:solidFill>
                            <a:srgbClr val="1F2433"/>
                          </a:solidFill>
                          <a:latin typeface="Calibri" pitchFamily="34" charset="0"/>
                          <a:ea typeface="Calibri" pitchFamily="34" charset="-122"/>
                          <a:cs typeface="Calibri" pitchFamily="34" charset="-120"/>
                        </a:rPr>
                        <a:t>font-size del elemento / padre</a:t>
                      </a:r>
                      <a:endParaRPr lang="en-US" sz="1500" dirty="0">
                        <a:latin typeface="Calibri" charset="0"/>
                        <a:ea typeface="Calibri" charset="0"/>
                        <a:cs typeface="Calibri" charset="0"/>
                      </a:endParaRPr>
                    </a:p>
                  </a:txBody>
                  <a:tcPr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marL="0" indent="0" algn="ctr">
                        <a:buNone/>
                      </a:pPr>
                      <a:r>
                        <a:rPr lang="en-US" sz="1500" dirty="0">
                          <a:solidFill>
                            <a:srgbClr val="1F2433"/>
                          </a:solidFill>
                          <a:latin typeface="Calibri" pitchFamily="34" charset="0"/>
                          <a:ea typeface="Calibri" pitchFamily="34" charset="-122"/>
                          <a:cs typeface="Calibri" pitchFamily="34" charset="-120"/>
                        </a:rPr>
                        <a:t>font-size de &lt;html&gt;</a:t>
                      </a:r>
                      <a:endParaRPr lang="en-US" sz="1500" dirty="0">
                        <a:latin typeface="Calibri" charset="0"/>
                        <a:ea typeface="Calibri" charset="0"/>
                        <a:cs typeface="Calibri" charset="0"/>
                      </a:endParaRPr>
                    </a:p>
                  </a:txBody>
                  <a:tcPr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extLst>
                  <a:ext uri="{0D108BD9-81ED-4DB2-BD59-A6C34878D82A}">
                    <a16:rowId xmlns:a16="http://schemas.microsoft.com/office/drawing/2014/main" val="10001"/>
                  </a:ext>
                </a:extLst>
              </a:tr>
              <a:tr h="566928">
                <a:tc>
                  <a:txBody>
                    <a:bodyPr/>
                    <a:lstStyle/>
                    <a:p>
                      <a:pPr marL="0" indent="0" algn="l">
                        <a:buNone/>
                      </a:pPr>
                      <a:r>
                        <a:rPr lang="en-US" sz="1500" b="1" dirty="0">
                          <a:solidFill>
                            <a:srgbClr val="1F2433"/>
                          </a:solidFill>
                          <a:latin typeface="Calibri" pitchFamily="34" charset="0"/>
                          <a:ea typeface="Calibri" pitchFamily="34" charset="-122"/>
                          <a:cs typeface="Calibri" pitchFamily="34" charset="-120"/>
                        </a:rPr>
                        <a:t>¿Se acumula al anidar?</a:t>
                      </a:r>
                      <a:endParaRPr lang="en-US" sz="1500" dirty="0">
                        <a:latin typeface="Calibri" charset="0"/>
                        <a:ea typeface="Calibri" charset="0"/>
                        <a:cs typeface="Calibri" charset="0"/>
                      </a:endParaRPr>
                    </a:p>
                  </a:txBody>
                  <a:tcPr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433"/>
                          </a:solidFill>
                          <a:latin typeface="Calibri" pitchFamily="34" charset="0"/>
                          <a:ea typeface="Calibri" pitchFamily="34" charset="-122"/>
                          <a:cs typeface="Calibri" pitchFamily="34" charset="-120"/>
                        </a:rPr>
                        <a:t>Sí</a:t>
                      </a:r>
                      <a:endParaRPr lang="en-US" sz="1500" dirty="0">
                        <a:latin typeface="Calibri" charset="0"/>
                        <a:ea typeface="Calibri" charset="0"/>
                        <a:cs typeface="Calibri" charset="0"/>
                      </a:endParaRPr>
                    </a:p>
                  </a:txBody>
                  <a:tcPr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433"/>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lgn="l">
                        <a:buNone/>
                      </a:pPr>
                      <a:r>
                        <a:rPr lang="en-US" sz="1500" b="1" dirty="0">
                          <a:solidFill>
                            <a:srgbClr val="1F2433"/>
                          </a:solidFill>
                          <a:latin typeface="Calibri" pitchFamily="34" charset="0"/>
                          <a:ea typeface="Calibri" pitchFamily="34" charset="-122"/>
                          <a:cs typeface="Calibri" pitchFamily="34" charset="-120"/>
                        </a:rPr>
                        <a:t>Previsibilidad</a:t>
                      </a:r>
                      <a:endParaRPr lang="en-US" sz="1500" dirty="0">
                        <a:latin typeface="Calibri" charset="0"/>
                        <a:ea typeface="Calibri" charset="0"/>
                        <a:cs typeface="Calibri" charset="0"/>
                      </a:endParaRPr>
                    </a:p>
                  </a:txBody>
                  <a:tcPr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marL="0" indent="0" algn="ctr">
                        <a:buNone/>
                      </a:pPr>
                      <a:r>
                        <a:rPr lang="en-US" sz="1500" dirty="0">
                          <a:solidFill>
                            <a:srgbClr val="1F2433"/>
                          </a:solidFill>
                          <a:latin typeface="Calibri" pitchFamily="34" charset="0"/>
                          <a:ea typeface="Calibri" pitchFamily="34" charset="-122"/>
                          <a:cs typeface="Calibri" pitchFamily="34" charset="-120"/>
                        </a:rPr>
                        <a:t>Depende del contexto</a:t>
                      </a:r>
                      <a:endParaRPr lang="en-US" sz="1500" dirty="0">
                        <a:latin typeface="Calibri" charset="0"/>
                        <a:ea typeface="Calibri" charset="0"/>
                        <a:cs typeface="Calibri" charset="0"/>
                      </a:endParaRPr>
                    </a:p>
                  </a:txBody>
                  <a:tcPr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marL="0" indent="0" algn="ctr">
                        <a:buNone/>
                      </a:pPr>
                      <a:r>
                        <a:rPr lang="en-US" sz="1500" dirty="0">
                          <a:solidFill>
                            <a:srgbClr val="1F2433"/>
                          </a:solidFill>
                          <a:latin typeface="Calibri" pitchFamily="34" charset="0"/>
                          <a:ea typeface="Calibri" pitchFamily="34" charset="-122"/>
                          <a:cs typeface="Calibri" pitchFamily="34" charset="-120"/>
                        </a:rPr>
                        <a:t>Siempre la misma</a:t>
                      </a:r>
                      <a:endParaRPr lang="en-US" sz="1500" dirty="0">
                        <a:latin typeface="Calibri" charset="0"/>
                        <a:ea typeface="Calibri" charset="0"/>
                        <a:cs typeface="Calibri" charset="0"/>
                      </a:endParaRPr>
                    </a:p>
                  </a:txBody>
                  <a:tcPr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extLst>
                  <a:ext uri="{0D108BD9-81ED-4DB2-BD59-A6C34878D82A}">
                    <a16:rowId xmlns:a16="http://schemas.microsoft.com/office/drawing/2014/main" val="10003"/>
                  </a:ext>
                </a:extLst>
              </a:tr>
              <a:tr h="566928">
                <a:tc>
                  <a:txBody>
                    <a:bodyPr/>
                    <a:lstStyle/>
                    <a:p>
                      <a:pPr marL="0" indent="0" algn="l">
                        <a:buNone/>
                      </a:pPr>
                      <a:r>
                        <a:rPr lang="en-US" sz="1500" b="1" dirty="0">
                          <a:solidFill>
                            <a:srgbClr val="1F2433"/>
                          </a:solidFill>
                          <a:latin typeface="Calibri" pitchFamily="34" charset="0"/>
                          <a:ea typeface="Calibri" pitchFamily="34" charset="-122"/>
                          <a:cs typeface="Calibri" pitchFamily="34" charset="-120"/>
                        </a:rPr>
                        <a:t>Uso típico</a:t>
                      </a:r>
                      <a:endParaRPr lang="en-US" sz="1500" dirty="0">
                        <a:latin typeface="Calibri" charset="0"/>
                        <a:ea typeface="Calibri" charset="0"/>
                        <a:cs typeface="Calibri" charset="0"/>
                      </a:endParaRPr>
                    </a:p>
                  </a:txBody>
                  <a:tcPr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433"/>
                          </a:solidFill>
                          <a:latin typeface="Calibri" pitchFamily="34" charset="0"/>
                          <a:ea typeface="Calibri" pitchFamily="34" charset="-122"/>
                          <a:cs typeface="Calibri" pitchFamily="34" charset="-120"/>
                        </a:rPr>
                        <a:t>Espaciado interno de componentes</a:t>
                      </a:r>
                      <a:endParaRPr lang="en-US" sz="1500" dirty="0">
                        <a:latin typeface="Calibri" charset="0"/>
                        <a:ea typeface="Calibri" charset="0"/>
                        <a:cs typeface="Calibri" charset="0"/>
                      </a:endParaRPr>
                    </a:p>
                  </a:txBody>
                  <a:tcPr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433"/>
                          </a:solidFill>
                          <a:latin typeface="Calibri" pitchFamily="34" charset="0"/>
                          <a:ea typeface="Calibri" pitchFamily="34" charset="-122"/>
                          <a:cs typeface="Calibri" pitchFamily="34" charset="-120"/>
                        </a:rPr>
                        <a:t>Tipografía y layout general</a:t>
                      </a:r>
                      <a:endParaRPr lang="en-US" sz="1500" dirty="0">
                        <a:latin typeface="Calibri" charset="0"/>
                        <a:ea typeface="Calibri" charset="0"/>
                        <a:cs typeface="Calibri" charset="0"/>
                      </a:endParaRPr>
                    </a:p>
                  </a:txBody>
                  <a:tcPr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F2433"/>
                </a:solidFill>
                <a:latin typeface="Cambria" pitchFamily="34" charset="0"/>
                <a:ea typeface="Cambria" pitchFamily="34" charset="-122"/>
                <a:cs typeface="Cambria" pitchFamily="34" charset="-120"/>
              </a:rPr>
              <a:t>Convertir píxeles a rem</a:t>
            </a:r>
            <a:endParaRPr lang="en-US" sz="3000" dirty="0"/>
          </a:p>
        </p:txBody>
      </p:sp>
      <p:sp>
        <p:nvSpPr>
          <p:cNvPr id="3" name="Shape 1"/>
          <p:cNvSpPr/>
          <p:nvPr/>
        </p:nvSpPr>
        <p:spPr>
          <a:xfrm>
            <a:off x="457200" y="1188720"/>
            <a:ext cx="3931920" cy="3383280"/>
          </a:xfrm>
          <a:prstGeom prst="roundRect">
            <a:avLst>
              <a:gd name="adj" fmla="val 2703"/>
            </a:avLst>
          </a:prstGeom>
          <a:solidFill>
            <a:srgbClr val="FBE9DB"/>
          </a:solidFill>
          <a:ln w="12700">
            <a:solidFill>
              <a:srgbClr val="FBE9DB"/>
            </a:solidFill>
            <a:prstDash val="solid"/>
          </a:ln>
        </p:spPr>
        <p:txBody>
          <a:bodyPr/>
          <a:lstStyle/>
          <a:p>
            <a:endParaRPr lang="es-ES"/>
          </a:p>
        </p:txBody>
      </p:sp>
      <p:sp>
        <p:nvSpPr>
          <p:cNvPr id="4" name="Text 2"/>
          <p:cNvSpPr txBox="1"/>
          <p:nvPr/>
        </p:nvSpPr>
        <p:spPr>
          <a:xfrm>
            <a:off x="457200" y="1554480"/>
            <a:ext cx="3931920" cy="822960"/>
          </a:xfrm>
          <a:prstGeom prst="rect">
            <a:avLst/>
          </a:prstGeom>
          <a:noFill/>
          <a:ln/>
        </p:spPr>
        <p:txBody>
          <a:bodyPr wrap="square" lIns="0" tIns="0" rIns="0" bIns="0" rtlCol="0" anchor="ctr"/>
          <a:lstStyle/>
          <a:p>
            <a:pPr marL="0" indent="0" algn="ctr">
              <a:buNone/>
            </a:pPr>
            <a:r>
              <a:rPr lang="en-US" sz="3000" b="1" dirty="0">
                <a:solidFill>
                  <a:srgbClr val="E07A2F"/>
                </a:solidFill>
                <a:latin typeface="Courier New" pitchFamily="34" charset="0"/>
                <a:ea typeface="Courier New" pitchFamily="34" charset="-122"/>
                <a:cs typeface="Courier New" pitchFamily="34" charset="-120"/>
              </a:rPr>
              <a:t>rem = px ÷ 16</a:t>
            </a:r>
            <a:endParaRPr lang="en-US" sz="3000" dirty="0"/>
          </a:p>
        </p:txBody>
      </p:sp>
      <p:sp>
        <p:nvSpPr>
          <p:cNvPr id="5" name="Text 3"/>
          <p:cNvSpPr txBox="1"/>
          <p:nvPr/>
        </p:nvSpPr>
        <p:spPr>
          <a:xfrm>
            <a:off x="457200" y="2377440"/>
            <a:ext cx="3931920" cy="365760"/>
          </a:xfrm>
          <a:prstGeom prst="rect">
            <a:avLst/>
          </a:prstGeom>
          <a:noFill/>
          <a:ln/>
        </p:spPr>
        <p:txBody>
          <a:bodyPr wrap="square" lIns="0" tIns="0" rIns="0" bIns="0" rtlCol="0" anchor="ctr"/>
          <a:lstStyle/>
          <a:p>
            <a:pPr marL="0" indent="0" algn="ctr">
              <a:buNone/>
            </a:pPr>
            <a:r>
              <a:rPr lang="en-US" sz="1500" dirty="0">
                <a:solidFill>
                  <a:srgbClr val="5B6475"/>
                </a:solidFill>
                <a:latin typeface="Calibri" pitchFamily="34" charset="0"/>
                <a:ea typeface="Calibri" pitchFamily="34" charset="-122"/>
                <a:cs typeface="Calibri" pitchFamily="34" charset="-120"/>
              </a:rPr>
              <a:t>o lo que es lo mismo:</a:t>
            </a:r>
            <a:endParaRPr lang="en-US" sz="1500" dirty="0"/>
          </a:p>
        </p:txBody>
      </p:sp>
      <p:sp>
        <p:nvSpPr>
          <p:cNvPr id="6" name="Text 4"/>
          <p:cNvSpPr txBox="1"/>
          <p:nvPr/>
        </p:nvSpPr>
        <p:spPr>
          <a:xfrm>
            <a:off x="457200" y="2743200"/>
            <a:ext cx="3931920" cy="640080"/>
          </a:xfrm>
          <a:prstGeom prst="rect">
            <a:avLst/>
          </a:prstGeom>
          <a:noFill/>
          <a:ln/>
        </p:spPr>
        <p:txBody>
          <a:bodyPr wrap="square" lIns="0" tIns="0" rIns="0" bIns="0" rtlCol="0" anchor="ctr"/>
          <a:lstStyle/>
          <a:p>
            <a:pPr marL="0" indent="0" algn="ctr">
              <a:buNone/>
            </a:pPr>
            <a:r>
              <a:rPr lang="en-US" sz="2400" b="1" dirty="0">
                <a:solidFill>
                  <a:srgbClr val="1F2433"/>
                </a:solidFill>
                <a:latin typeface="Courier New" pitchFamily="34" charset="0"/>
                <a:ea typeface="Courier New" pitchFamily="34" charset="-122"/>
                <a:cs typeface="Courier New" pitchFamily="34" charset="-120"/>
              </a:rPr>
              <a:t>px × 0.0625</a:t>
            </a:r>
            <a:endParaRPr lang="en-US" sz="2400" dirty="0"/>
          </a:p>
        </p:txBody>
      </p:sp>
      <p:sp>
        <p:nvSpPr>
          <p:cNvPr id="7" name="Text 5"/>
          <p:cNvSpPr txBox="1"/>
          <p:nvPr/>
        </p:nvSpPr>
        <p:spPr>
          <a:xfrm>
            <a:off x="640080" y="3749040"/>
            <a:ext cx="3566160" cy="548640"/>
          </a:xfrm>
          <a:prstGeom prst="rect">
            <a:avLst/>
          </a:prstGeom>
          <a:noFill/>
          <a:ln/>
        </p:spPr>
        <p:txBody>
          <a:bodyPr wrap="square" lIns="0" tIns="0" rIns="0" bIns="0" rtlCol="0" anchor="ctr"/>
          <a:lstStyle/>
          <a:p>
            <a:pPr marL="0" indent="0" algn="ctr">
              <a:buNone/>
            </a:pPr>
            <a:r>
              <a:rPr lang="en-US" sz="1300" i="1" dirty="0">
                <a:solidFill>
                  <a:srgbClr val="5B6475"/>
                </a:solidFill>
                <a:latin typeface="Calibri" pitchFamily="34" charset="0"/>
                <a:ea typeface="Calibri" pitchFamily="34" charset="-122"/>
                <a:cs typeface="Calibri" pitchFamily="34" charset="-120"/>
              </a:rPr>
              <a:t>Válido con el tamaño raíz por defecto (16px)</a:t>
            </a:r>
            <a:endParaRPr lang="en-US" sz="1300" dirty="0"/>
          </a:p>
        </p:txBody>
      </p:sp>
      <p:sp>
        <p:nvSpPr>
          <p:cNvPr id="8" name="Shape 6"/>
          <p:cNvSpPr/>
          <p:nvPr/>
        </p:nvSpPr>
        <p:spPr>
          <a:xfrm>
            <a:off x="4754880" y="1188720"/>
            <a:ext cx="3931920" cy="731520"/>
          </a:xfrm>
          <a:prstGeom prst="roundRect">
            <a:avLst>
              <a:gd name="adj" fmla="val 12500"/>
            </a:avLst>
          </a:prstGeom>
          <a:solidFill>
            <a:srgbClr val="EEF1F6"/>
          </a:solidFill>
          <a:ln w="12700">
            <a:solidFill>
              <a:srgbClr val="EEF1F6"/>
            </a:solidFill>
            <a:prstDash val="solid"/>
          </a:ln>
        </p:spPr>
        <p:txBody>
          <a:bodyPr/>
          <a:lstStyle/>
          <a:p>
            <a:endParaRPr lang="es-ES"/>
          </a:p>
        </p:txBody>
      </p:sp>
      <p:sp>
        <p:nvSpPr>
          <p:cNvPr id="9" name="Text 7"/>
          <p:cNvSpPr txBox="1"/>
          <p:nvPr/>
        </p:nvSpPr>
        <p:spPr>
          <a:xfrm>
            <a:off x="4937760" y="1188720"/>
            <a:ext cx="1463040" cy="731520"/>
          </a:xfrm>
          <a:prstGeom prst="rect">
            <a:avLst/>
          </a:prstGeom>
          <a:noFill/>
          <a:ln/>
        </p:spPr>
        <p:txBody>
          <a:bodyPr wrap="square" lIns="0" tIns="0" rIns="0" bIns="0" rtlCol="0" anchor="ctr"/>
          <a:lstStyle/>
          <a:p>
            <a:pPr marL="0" indent="0">
              <a:buNone/>
            </a:pPr>
            <a:r>
              <a:rPr lang="en-US" sz="1800" b="1" dirty="0">
                <a:solidFill>
                  <a:srgbClr val="1F2433"/>
                </a:solidFill>
                <a:latin typeface="Courier New" pitchFamily="34" charset="0"/>
                <a:ea typeface="Courier New" pitchFamily="34" charset="-122"/>
                <a:cs typeface="Courier New" pitchFamily="34" charset="-120"/>
              </a:rPr>
              <a:t>16px</a:t>
            </a:r>
            <a:endParaRPr lang="en-US" sz="1800" dirty="0"/>
          </a:p>
        </p:txBody>
      </p:sp>
      <p:sp>
        <p:nvSpPr>
          <p:cNvPr id="10" name="Text 8"/>
          <p:cNvSpPr txBox="1"/>
          <p:nvPr/>
        </p:nvSpPr>
        <p:spPr>
          <a:xfrm>
            <a:off x="6400800" y="1188720"/>
            <a:ext cx="457200" cy="731520"/>
          </a:xfrm>
          <a:prstGeom prst="rect">
            <a:avLst/>
          </a:prstGeom>
          <a:noFill/>
          <a:ln/>
        </p:spPr>
        <p:txBody>
          <a:bodyPr wrap="square" lIns="0" tIns="0" rIns="0" bIns="0" rtlCol="0" anchor="ctr"/>
          <a:lstStyle/>
          <a:p>
            <a:pPr marL="0" indent="0" algn="ctr">
              <a:buNone/>
            </a:pPr>
            <a:r>
              <a:rPr lang="en-US" sz="2000" dirty="0">
                <a:solidFill>
                  <a:srgbClr val="5B6475"/>
                </a:solidFill>
                <a:latin typeface="Calibri" pitchFamily="34" charset="0"/>
                <a:ea typeface="Calibri" pitchFamily="34" charset="-122"/>
                <a:cs typeface="Calibri" pitchFamily="34" charset="-120"/>
              </a:rPr>
              <a:t>→</a:t>
            </a:r>
            <a:endParaRPr lang="en-US" sz="2000" dirty="0"/>
          </a:p>
        </p:txBody>
      </p:sp>
      <p:sp>
        <p:nvSpPr>
          <p:cNvPr id="11" name="Text 9"/>
          <p:cNvSpPr txBox="1"/>
          <p:nvPr/>
        </p:nvSpPr>
        <p:spPr>
          <a:xfrm>
            <a:off x="6949440" y="1188720"/>
            <a:ext cx="1554480" cy="731520"/>
          </a:xfrm>
          <a:prstGeom prst="rect">
            <a:avLst/>
          </a:prstGeom>
          <a:noFill/>
          <a:ln/>
        </p:spPr>
        <p:txBody>
          <a:bodyPr wrap="square" lIns="0" tIns="0" rIns="0" bIns="0" rtlCol="0" anchor="ctr"/>
          <a:lstStyle/>
          <a:p>
            <a:pPr marL="0" indent="0">
              <a:buNone/>
            </a:pPr>
            <a:r>
              <a:rPr lang="en-US" sz="1800" b="1" dirty="0">
                <a:solidFill>
                  <a:srgbClr val="E07A2F"/>
                </a:solidFill>
                <a:latin typeface="Courier New" pitchFamily="34" charset="0"/>
                <a:ea typeface="Courier New" pitchFamily="34" charset="-122"/>
                <a:cs typeface="Courier New" pitchFamily="34" charset="-120"/>
              </a:rPr>
              <a:t>1rem</a:t>
            </a:r>
            <a:endParaRPr lang="en-US" sz="1800" dirty="0"/>
          </a:p>
        </p:txBody>
      </p:sp>
      <p:sp>
        <p:nvSpPr>
          <p:cNvPr id="12" name="Shape 10"/>
          <p:cNvSpPr/>
          <p:nvPr/>
        </p:nvSpPr>
        <p:spPr>
          <a:xfrm>
            <a:off x="4754880" y="2057400"/>
            <a:ext cx="3931920" cy="731520"/>
          </a:xfrm>
          <a:prstGeom prst="roundRect">
            <a:avLst>
              <a:gd name="adj" fmla="val 12500"/>
            </a:avLst>
          </a:prstGeom>
          <a:solidFill>
            <a:srgbClr val="EEF1F6"/>
          </a:solidFill>
          <a:ln w="12700">
            <a:solidFill>
              <a:srgbClr val="EEF1F6"/>
            </a:solidFill>
            <a:prstDash val="solid"/>
          </a:ln>
        </p:spPr>
        <p:txBody>
          <a:bodyPr/>
          <a:lstStyle/>
          <a:p>
            <a:endParaRPr lang="es-ES"/>
          </a:p>
        </p:txBody>
      </p:sp>
      <p:sp>
        <p:nvSpPr>
          <p:cNvPr id="13" name="Text 11"/>
          <p:cNvSpPr txBox="1"/>
          <p:nvPr/>
        </p:nvSpPr>
        <p:spPr>
          <a:xfrm>
            <a:off x="4937760" y="2057400"/>
            <a:ext cx="1463040" cy="731520"/>
          </a:xfrm>
          <a:prstGeom prst="rect">
            <a:avLst/>
          </a:prstGeom>
          <a:noFill/>
          <a:ln/>
        </p:spPr>
        <p:txBody>
          <a:bodyPr wrap="square" lIns="0" tIns="0" rIns="0" bIns="0" rtlCol="0" anchor="ctr"/>
          <a:lstStyle/>
          <a:p>
            <a:pPr marL="0" indent="0">
              <a:buNone/>
            </a:pPr>
            <a:r>
              <a:rPr lang="en-US" sz="1800" b="1" dirty="0">
                <a:solidFill>
                  <a:srgbClr val="1F2433"/>
                </a:solidFill>
                <a:latin typeface="Courier New" pitchFamily="34" charset="0"/>
                <a:ea typeface="Courier New" pitchFamily="34" charset="-122"/>
                <a:cs typeface="Courier New" pitchFamily="34" charset="-120"/>
              </a:rPr>
              <a:t>24px</a:t>
            </a:r>
            <a:endParaRPr lang="en-US" sz="1800" dirty="0"/>
          </a:p>
        </p:txBody>
      </p:sp>
      <p:sp>
        <p:nvSpPr>
          <p:cNvPr id="14" name="Text 12"/>
          <p:cNvSpPr txBox="1"/>
          <p:nvPr/>
        </p:nvSpPr>
        <p:spPr>
          <a:xfrm>
            <a:off x="6400800" y="2057400"/>
            <a:ext cx="457200" cy="731520"/>
          </a:xfrm>
          <a:prstGeom prst="rect">
            <a:avLst/>
          </a:prstGeom>
          <a:noFill/>
          <a:ln/>
        </p:spPr>
        <p:txBody>
          <a:bodyPr wrap="square" lIns="0" tIns="0" rIns="0" bIns="0" rtlCol="0" anchor="ctr"/>
          <a:lstStyle/>
          <a:p>
            <a:pPr marL="0" indent="0" algn="ctr">
              <a:buNone/>
            </a:pPr>
            <a:r>
              <a:rPr lang="en-US" sz="2000" dirty="0">
                <a:solidFill>
                  <a:srgbClr val="5B6475"/>
                </a:solidFill>
                <a:latin typeface="Calibri" pitchFamily="34" charset="0"/>
                <a:ea typeface="Calibri" pitchFamily="34" charset="-122"/>
                <a:cs typeface="Calibri" pitchFamily="34" charset="-120"/>
              </a:rPr>
              <a:t>→</a:t>
            </a:r>
            <a:endParaRPr lang="en-US" sz="2000" dirty="0"/>
          </a:p>
        </p:txBody>
      </p:sp>
      <p:sp>
        <p:nvSpPr>
          <p:cNvPr id="15" name="Text 13"/>
          <p:cNvSpPr txBox="1"/>
          <p:nvPr/>
        </p:nvSpPr>
        <p:spPr>
          <a:xfrm>
            <a:off x="6949440" y="2057400"/>
            <a:ext cx="1554480" cy="731520"/>
          </a:xfrm>
          <a:prstGeom prst="rect">
            <a:avLst/>
          </a:prstGeom>
          <a:noFill/>
          <a:ln/>
        </p:spPr>
        <p:txBody>
          <a:bodyPr wrap="square" lIns="0" tIns="0" rIns="0" bIns="0" rtlCol="0" anchor="ctr"/>
          <a:lstStyle/>
          <a:p>
            <a:pPr marL="0" indent="0">
              <a:buNone/>
            </a:pPr>
            <a:r>
              <a:rPr lang="en-US" sz="1800" b="1" dirty="0">
                <a:solidFill>
                  <a:srgbClr val="E07A2F"/>
                </a:solidFill>
                <a:latin typeface="Courier New" pitchFamily="34" charset="0"/>
                <a:ea typeface="Courier New" pitchFamily="34" charset="-122"/>
                <a:cs typeface="Courier New" pitchFamily="34" charset="-120"/>
              </a:rPr>
              <a:t>1.5rem</a:t>
            </a:r>
            <a:endParaRPr lang="en-US" sz="1800" dirty="0"/>
          </a:p>
        </p:txBody>
      </p:sp>
      <p:sp>
        <p:nvSpPr>
          <p:cNvPr id="16" name="Shape 14"/>
          <p:cNvSpPr/>
          <p:nvPr/>
        </p:nvSpPr>
        <p:spPr>
          <a:xfrm>
            <a:off x="4754880" y="2926080"/>
            <a:ext cx="3931920" cy="731520"/>
          </a:xfrm>
          <a:prstGeom prst="roundRect">
            <a:avLst>
              <a:gd name="adj" fmla="val 12500"/>
            </a:avLst>
          </a:prstGeom>
          <a:solidFill>
            <a:srgbClr val="EEF1F6"/>
          </a:solidFill>
          <a:ln w="12700">
            <a:solidFill>
              <a:srgbClr val="EEF1F6"/>
            </a:solidFill>
            <a:prstDash val="solid"/>
          </a:ln>
        </p:spPr>
        <p:txBody>
          <a:bodyPr/>
          <a:lstStyle/>
          <a:p>
            <a:endParaRPr lang="es-ES"/>
          </a:p>
        </p:txBody>
      </p:sp>
      <p:sp>
        <p:nvSpPr>
          <p:cNvPr id="17" name="Text 15"/>
          <p:cNvSpPr txBox="1"/>
          <p:nvPr/>
        </p:nvSpPr>
        <p:spPr>
          <a:xfrm>
            <a:off x="4937760" y="2926080"/>
            <a:ext cx="1463040" cy="731520"/>
          </a:xfrm>
          <a:prstGeom prst="rect">
            <a:avLst/>
          </a:prstGeom>
          <a:noFill/>
          <a:ln/>
        </p:spPr>
        <p:txBody>
          <a:bodyPr wrap="square" lIns="0" tIns="0" rIns="0" bIns="0" rtlCol="0" anchor="ctr"/>
          <a:lstStyle/>
          <a:p>
            <a:pPr marL="0" indent="0">
              <a:buNone/>
            </a:pPr>
            <a:r>
              <a:rPr lang="en-US" sz="1800" b="1" dirty="0">
                <a:solidFill>
                  <a:srgbClr val="1F2433"/>
                </a:solidFill>
                <a:latin typeface="Courier New" pitchFamily="34" charset="0"/>
                <a:ea typeface="Courier New" pitchFamily="34" charset="-122"/>
                <a:cs typeface="Courier New" pitchFamily="34" charset="-120"/>
              </a:rPr>
              <a:t>1200px</a:t>
            </a:r>
            <a:endParaRPr lang="en-US" sz="1800" dirty="0"/>
          </a:p>
        </p:txBody>
      </p:sp>
      <p:sp>
        <p:nvSpPr>
          <p:cNvPr id="18" name="Text 16"/>
          <p:cNvSpPr txBox="1"/>
          <p:nvPr/>
        </p:nvSpPr>
        <p:spPr>
          <a:xfrm>
            <a:off x="6400800" y="2926080"/>
            <a:ext cx="457200" cy="731520"/>
          </a:xfrm>
          <a:prstGeom prst="rect">
            <a:avLst/>
          </a:prstGeom>
          <a:noFill/>
          <a:ln/>
        </p:spPr>
        <p:txBody>
          <a:bodyPr wrap="square" lIns="0" tIns="0" rIns="0" bIns="0" rtlCol="0" anchor="ctr"/>
          <a:lstStyle/>
          <a:p>
            <a:pPr marL="0" indent="0" algn="ctr">
              <a:buNone/>
            </a:pPr>
            <a:r>
              <a:rPr lang="en-US" sz="2000" dirty="0">
                <a:solidFill>
                  <a:srgbClr val="5B6475"/>
                </a:solidFill>
                <a:latin typeface="Calibri" pitchFamily="34" charset="0"/>
                <a:ea typeface="Calibri" pitchFamily="34" charset="-122"/>
                <a:cs typeface="Calibri" pitchFamily="34" charset="-120"/>
              </a:rPr>
              <a:t>→</a:t>
            </a:r>
            <a:endParaRPr lang="en-US" sz="2000" dirty="0"/>
          </a:p>
        </p:txBody>
      </p:sp>
      <p:sp>
        <p:nvSpPr>
          <p:cNvPr id="19" name="Text 17"/>
          <p:cNvSpPr txBox="1"/>
          <p:nvPr/>
        </p:nvSpPr>
        <p:spPr>
          <a:xfrm>
            <a:off x="6949440" y="2926080"/>
            <a:ext cx="1554480" cy="731520"/>
          </a:xfrm>
          <a:prstGeom prst="rect">
            <a:avLst/>
          </a:prstGeom>
          <a:noFill/>
          <a:ln/>
        </p:spPr>
        <p:txBody>
          <a:bodyPr wrap="square" lIns="0" tIns="0" rIns="0" bIns="0" rtlCol="0" anchor="ctr"/>
          <a:lstStyle/>
          <a:p>
            <a:pPr marL="0" indent="0">
              <a:buNone/>
            </a:pPr>
            <a:r>
              <a:rPr lang="en-US" sz="1800" b="1" dirty="0">
                <a:solidFill>
                  <a:srgbClr val="E07A2F"/>
                </a:solidFill>
                <a:latin typeface="Courier New" pitchFamily="34" charset="0"/>
                <a:ea typeface="Courier New" pitchFamily="34" charset="-122"/>
                <a:cs typeface="Courier New" pitchFamily="34" charset="-120"/>
              </a:rPr>
              <a:t>75rem</a:t>
            </a:r>
            <a:endParaRPr lang="en-US" sz="1800" dirty="0"/>
          </a:p>
        </p:txBody>
      </p:sp>
      <p:sp>
        <p:nvSpPr>
          <p:cNvPr id="20" name="Shape 18"/>
          <p:cNvSpPr/>
          <p:nvPr/>
        </p:nvSpPr>
        <p:spPr>
          <a:xfrm>
            <a:off x="4754880" y="3794760"/>
            <a:ext cx="3931920" cy="731520"/>
          </a:xfrm>
          <a:prstGeom prst="roundRect">
            <a:avLst>
              <a:gd name="adj" fmla="val 12500"/>
            </a:avLst>
          </a:prstGeom>
          <a:solidFill>
            <a:srgbClr val="EEF1F6"/>
          </a:solidFill>
          <a:ln w="12700">
            <a:solidFill>
              <a:srgbClr val="EEF1F6"/>
            </a:solidFill>
            <a:prstDash val="solid"/>
          </a:ln>
        </p:spPr>
        <p:txBody>
          <a:bodyPr/>
          <a:lstStyle/>
          <a:p>
            <a:endParaRPr lang="es-ES"/>
          </a:p>
        </p:txBody>
      </p:sp>
      <p:sp>
        <p:nvSpPr>
          <p:cNvPr id="21" name="Text 19"/>
          <p:cNvSpPr txBox="1"/>
          <p:nvPr/>
        </p:nvSpPr>
        <p:spPr>
          <a:xfrm>
            <a:off x="4937760" y="3794760"/>
            <a:ext cx="1463040" cy="731520"/>
          </a:xfrm>
          <a:prstGeom prst="rect">
            <a:avLst/>
          </a:prstGeom>
          <a:noFill/>
          <a:ln/>
        </p:spPr>
        <p:txBody>
          <a:bodyPr wrap="square" lIns="0" tIns="0" rIns="0" bIns="0" rtlCol="0" anchor="ctr"/>
          <a:lstStyle/>
          <a:p>
            <a:pPr marL="0" indent="0">
              <a:buNone/>
            </a:pPr>
            <a:r>
              <a:rPr lang="en-US" sz="1800" b="1" dirty="0">
                <a:solidFill>
                  <a:srgbClr val="1F2433"/>
                </a:solidFill>
                <a:latin typeface="Courier New" pitchFamily="34" charset="0"/>
                <a:ea typeface="Courier New" pitchFamily="34" charset="-122"/>
                <a:cs typeface="Courier New" pitchFamily="34" charset="-120"/>
              </a:rPr>
              <a:t>1280px</a:t>
            </a:r>
            <a:endParaRPr lang="en-US" sz="1800" dirty="0"/>
          </a:p>
        </p:txBody>
      </p:sp>
      <p:sp>
        <p:nvSpPr>
          <p:cNvPr id="22" name="Text 20"/>
          <p:cNvSpPr txBox="1"/>
          <p:nvPr/>
        </p:nvSpPr>
        <p:spPr>
          <a:xfrm>
            <a:off x="6400800" y="3794760"/>
            <a:ext cx="457200" cy="731520"/>
          </a:xfrm>
          <a:prstGeom prst="rect">
            <a:avLst/>
          </a:prstGeom>
          <a:noFill/>
          <a:ln/>
        </p:spPr>
        <p:txBody>
          <a:bodyPr wrap="square" lIns="0" tIns="0" rIns="0" bIns="0" rtlCol="0" anchor="ctr"/>
          <a:lstStyle/>
          <a:p>
            <a:pPr marL="0" indent="0" algn="ctr">
              <a:buNone/>
            </a:pPr>
            <a:r>
              <a:rPr lang="en-US" sz="2000" dirty="0">
                <a:solidFill>
                  <a:srgbClr val="5B6475"/>
                </a:solidFill>
                <a:latin typeface="Calibri" pitchFamily="34" charset="0"/>
                <a:ea typeface="Calibri" pitchFamily="34" charset="-122"/>
                <a:cs typeface="Calibri" pitchFamily="34" charset="-120"/>
              </a:rPr>
              <a:t>→</a:t>
            </a:r>
            <a:endParaRPr lang="en-US" sz="2000" dirty="0"/>
          </a:p>
        </p:txBody>
      </p:sp>
      <p:sp>
        <p:nvSpPr>
          <p:cNvPr id="23" name="Text 21"/>
          <p:cNvSpPr txBox="1"/>
          <p:nvPr/>
        </p:nvSpPr>
        <p:spPr>
          <a:xfrm>
            <a:off x="6949440" y="3794760"/>
            <a:ext cx="1554480" cy="731520"/>
          </a:xfrm>
          <a:prstGeom prst="rect">
            <a:avLst/>
          </a:prstGeom>
          <a:noFill/>
          <a:ln/>
        </p:spPr>
        <p:txBody>
          <a:bodyPr wrap="square" lIns="0" tIns="0" rIns="0" bIns="0" rtlCol="0" anchor="ctr"/>
          <a:lstStyle/>
          <a:p>
            <a:pPr marL="0" indent="0">
              <a:buNone/>
            </a:pPr>
            <a:r>
              <a:rPr lang="en-US" sz="1800" b="1" dirty="0">
                <a:solidFill>
                  <a:srgbClr val="E07A2F"/>
                </a:solidFill>
                <a:latin typeface="Courier New" pitchFamily="34" charset="0"/>
                <a:ea typeface="Courier New" pitchFamily="34" charset="-122"/>
                <a:cs typeface="Courier New" pitchFamily="34" charset="-120"/>
              </a:rPr>
              <a:t>80rem</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F2433"/>
        </a:solidFill>
        <a:effectLst/>
      </p:bgPr>
    </p:bg>
    <p:spTree>
      <p:nvGrpSpPr>
        <p:cNvPr id="1" name=""/>
        <p:cNvGrpSpPr/>
        <p:nvPr/>
      </p:nvGrpSpPr>
      <p:grpSpPr>
        <a:xfrm>
          <a:off x="0" y="0"/>
          <a:ext cx="0" cy="0"/>
          <a:chOff x="0" y="0"/>
          <a:chExt cx="0" cy="0"/>
        </a:xfrm>
      </p:grpSpPr>
      <p:sp>
        <p:nvSpPr>
          <p:cNvPr id="2" name="Text 0"/>
          <p:cNvSpPr txBox="1"/>
          <p:nvPr/>
        </p:nvSpPr>
        <p:spPr>
          <a:xfrm>
            <a:off x="457200" y="58029"/>
            <a:ext cx="82296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¿Qué unidad uso?</a:t>
            </a:r>
            <a:endParaRPr lang="en-US" sz="3000" dirty="0"/>
          </a:p>
        </p:txBody>
      </p:sp>
      <p:graphicFrame>
        <p:nvGraphicFramePr>
          <p:cNvPr id="19" name="Tabla 18">
            <a:extLst>
              <a:ext uri="{FF2B5EF4-FFF2-40B4-BE49-F238E27FC236}">
                <a16:creationId xmlns:a16="http://schemas.microsoft.com/office/drawing/2014/main" id="{EDCD7967-326A-6E92-7867-D0E84E468A59}"/>
              </a:ext>
            </a:extLst>
          </p:cNvPr>
          <p:cNvGraphicFramePr>
            <a:graphicFrameLocks noGrp="1"/>
          </p:cNvGraphicFramePr>
          <p:nvPr>
            <p:extLst>
              <p:ext uri="{D42A27DB-BD31-4B8C-83A1-F6EECF244321}">
                <p14:modId xmlns:p14="http://schemas.microsoft.com/office/powerpoint/2010/main" val="252934085"/>
              </p:ext>
            </p:extLst>
          </p:nvPr>
        </p:nvGraphicFramePr>
        <p:xfrm>
          <a:off x="457200" y="671252"/>
          <a:ext cx="8229600" cy="3864160"/>
        </p:xfrm>
        <a:graphic>
          <a:graphicData uri="http://schemas.openxmlformats.org/drawingml/2006/table">
            <a:tbl>
              <a:tblPr>
                <a:tableStyleId>{5C22544A-7EE6-4342-B048-85BDC9FD1C3A}</a:tableStyleId>
              </a:tblPr>
              <a:tblGrid>
                <a:gridCol w="990600">
                  <a:extLst>
                    <a:ext uri="{9D8B030D-6E8A-4147-A177-3AD203B41FA5}">
                      <a16:colId xmlns:a16="http://schemas.microsoft.com/office/drawing/2014/main" val="4242355237"/>
                    </a:ext>
                  </a:extLst>
                </a:gridCol>
                <a:gridCol w="4495800">
                  <a:extLst>
                    <a:ext uri="{9D8B030D-6E8A-4147-A177-3AD203B41FA5}">
                      <a16:colId xmlns:a16="http://schemas.microsoft.com/office/drawing/2014/main" val="745033928"/>
                    </a:ext>
                  </a:extLst>
                </a:gridCol>
                <a:gridCol w="2743200">
                  <a:extLst>
                    <a:ext uri="{9D8B030D-6E8A-4147-A177-3AD203B41FA5}">
                      <a16:colId xmlns:a16="http://schemas.microsoft.com/office/drawing/2014/main" val="1023125663"/>
                    </a:ext>
                  </a:extLst>
                </a:gridCol>
              </a:tblGrid>
              <a:tr h="160274">
                <a:tc>
                  <a:txBody>
                    <a:bodyPr/>
                    <a:lstStyle/>
                    <a:p>
                      <a:pPr algn="ctr">
                        <a:buNone/>
                      </a:pPr>
                      <a:r>
                        <a:rPr lang="es-ES" sz="1400"/>
                        <a:t>Unidad</a:t>
                      </a:r>
                    </a:p>
                  </a:txBody>
                  <a:tcPr marL="33982" marR="33982" marT="16991" marB="16991" anchor="ctr"/>
                </a:tc>
                <a:tc>
                  <a:txBody>
                    <a:bodyPr/>
                    <a:lstStyle/>
                    <a:p>
                      <a:pPr algn="ctr">
                        <a:buNone/>
                      </a:pPr>
                      <a:r>
                        <a:rPr lang="es-ES" sz="1400" dirty="0"/>
                        <a:t>Propiedades donde se usa</a:t>
                      </a:r>
                    </a:p>
                  </a:txBody>
                  <a:tcPr marL="33982" marR="33982" marT="16991" marB="16991" anchor="ctr"/>
                </a:tc>
                <a:tc>
                  <a:txBody>
                    <a:bodyPr/>
                    <a:lstStyle/>
                    <a:p>
                      <a:pPr>
                        <a:buNone/>
                      </a:pPr>
                      <a:r>
                        <a:rPr lang="es-ES" sz="1400"/>
                        <a:t>Se calcula respecto a</a:t>
                      </a:r>
                    </a:p>
                  </a:txBody>
                  <a:tcPr marL="33982" marR="33982" marT="16991" marB="16991" anchor="ctr"/>
                </a:tc>
                <a:extLst>
                  <a:ext uri="{0D108BD9-81ED-4DB2-BD59-A6C34878D82A}">
                    <a16:rowId xmlns:a16="http://schemas.microsoft.com/office/drawing/2014/main" val="3879824603"/>
                  </a:ext>
                </a:extLst>
              </a:tr>
              <a:tr h="735689">
                <a:tc>
                  <a:txBody>
                    <a:bodyPr/>
                    <a:lstStyle/>
                    <a:p>
                      <a:pPr algn="ctr">
                        <a:buNone/>
                      </a:pPr>
                      <a:r>
                        <a:rPr lang="es-ES" sz="1400"/>
                        <a:t>%</a:t>
                      </a:r>
                    </a:p>
                  </a:txBody>
                  <a:tcPr marL="33982" marR="33982" marT="16991" marB="16991" anchor="ctr"/>
                </a:tc>
                <a:tc>
                  <a:txBody>
                    <a:bodyPr/>
                    <a:lstStyle/>
                    <a:p>
                      <a:pPr>
                        <a:buNone/>
                      </a:pPr>
                      <a:r>
                        <a:rPr lang="es-ES" sz="1400"/>
                        <a:t>width, max-width, min-width, height (solo si el padre tiene altura definida), flex-basis, posiciones (top, left…)</a:t>
                      </a:r>
                    </a:p>
                  </a:txBody>
                  <a:tcPr marL="33982" marR="33982" marT="16991" marB="16991" anchor="ctr"/>
                </a:tc>
                <a:tc>
                  <a:txBody>
                    <a:bodyPr/>
                    <a:lstStyle/>
                    <a:p>
                      <a:pPr>
                        <a:buNone/>
                      </a:pPr>
                      <a:r>
                        <a:rPr lang="es-ES" sz="1400"/>
                        <a:t>El elemento padre. Ojo: padding y margin en % toman siempre el ancho del padre</a:t>
                      </a:r>
                    </a:p>
                  </a:txBody>
                  <a:tcPr marL="33982" marR="33982" marT="16991" marB="16991" anchor="ctr"/>
                </a:tc>
                <a:extLst>
                  <a:ext uri="{0D108BD9-81ED-4DB2-BD59-A6C34878D82A}">
                    <a16:rowId xmlns:a16="http://schemas.microsoft.com/office/drawing/2014/main" val="935162253"/>
                  </a:ext>
                </a:extLst>
              </a:tr>
              <a:tr h="619528">
                <a:tc>
                  <a:txBody>
                    <a:bodyPr/>
                    <a:lstStyle/>
                    <a:p>
                      <a:pPr algn="ctr">
                        <a:buNone/>
                      </a:pPr>
                      <a:r>
                        <a:rPr lang="es-ES" sz="1400"/>
                        <a:t>rem</a:t>
                      </a:r>
                    </a:p>
                  </a:txBody>
                  <a:tcPr marL="33982" marR="33982" marT="16991" marB="16991" anchor="ctr"/>
                </a:tc>
                <a:tc>
                  <a:txBody>
                    <a:bodyPr/>
                    <a:lstStyle/>
                    <a:p>
                      <a:pPr>
                        <a:buNone/>
                      </a:pPr>
                      <a:r>
                        <a:rPr lang="es-ES" sz="1400"/>
                        <a:t>font-size, margin, padding, gap, max-width de contenedores, @media (min-width: …)</a:t>
                      </a:r>
                    </a:p>
                  </a:txBody>
                  <a:tcPr marL="33982" marR="33982" marT="16991" marB="16991" anchor="ctr"/>
                </a:tc>
                <a:tc>
                  <a:txBody>
                    <a:bodyPr/>
                    <a:lstStyle/>
                    <a:p>
                      <a:pPr>
                        <a:buNone/>
                      </a:pPr>
                      <a:r>
                        <a:rPr lang="es-ES" sz="1400"/>
                        <a:t>El font-size del html (16px por defecto). En @media, el tamaño inicial del navegador</a:t>
                      </a:r>
                    </a:p>
                  </a:txBody>
                  <a:tcPr marL="33982" marR="33982" marT="16991" marB="16991" anchor="ctr"/>
                </a:tc>
                <a:extLst>
                  <a:ext uri="{0D108BD9-81ED-4DB2-BD59-A6C34878D82A}">
                    <a16:rowId xmlns:a16="http://schemas.microsoft.com/office/drawing/2014/main" val="1739636695"/>
                  </a:ext>
                </a:extLst>
              </a:tr>
              <a:tr h="851850">
                <a:tc>
                  <a:txBody>
                    <a:bodyPr/>
                    <a:lstStyle/>
                    <a:p>
                      <a:pPr algn="ctr">
                        <a:buNone/>
                      </a:pPr>
                      <a:r>
                        <a:rPr lang="es-ES" sz="1400"/>
                        <a:t>em</a:t>
                      </a:r>
                    </a:p>
                  </a:txBody>
                  <a:tcPr marL="33982" marR="33982" marT="16991" marB="16991" anchor="ctr"/>
                </a:tc>
                <a:tc>
                  <a:txBody>
                    <a:bodyPr/>
                    <a:lstStyle/>
                    <a:p>
                      <a:pPr>
                        <a:buNone/>
                      </a:pPr>
                      <a:r>
                        <a:rPr lang="es-ES" sz="1400"/>
                        <a:t>padding, margin y border-radius internos de un componente (botones, etiquetas, enlaces), letter-spacing, line-height</a:t>
                      </a:r>
                    </a:p>
                  </a:txBody>
                  <a:tcPr marL="33982" marR="33982" marT="16991" marB="16991" anchor="ctr"/>
                </a:tc>
                <a:tc>
                  <a:txBody>
                    <a:bodyPr/>
                    <a:lstStyle/>
                    <a:p>
                      <a:pPr>
                        <a:buNone/>
                      </a:pPr>
                      <a:r>
                        <a:rPr lang="es-ES" sz="1400"/>
                        <a:t>El font-size del propio elemento. En la propiedad font-size, el del padre</a:t>
                      </a:r>
                    </a:p>
                  </a:txBody>
                  <a:tcPr marL="33982" marR="33982" marT="16991" marB="16991" anchor="ctr"/>
                </a:tc>
                <a:extLst>
                  <a:ext uri="{0D108BD9-81ED-4DB2-BD59-A6C34878D82A}">
                    <a16:rowId xmlns:a16="http://schemas.microsoft.com/office/drawing/2014/main" val="3432778599"/>
                  </a:ext>
                </a:extLst>
              </a:tr>
              <a:tr h="735689">
                <a:tc>
                  <a:txBody>
                    <a:bodyPr/>
                    <a:lstStyle/>
                    <a:p>
                      <a:pPr algn="ctr">
                        <a:buNone/>
                      </a:pPr>
                      <a:r>
                        <a:rPr lang="es-ES" sz="1400"/>
                        <a:t>vw / vh</a:t>
                      </a:r>
                    </a:p>
                  </a:txBody>
                  <a:tcPr marL="33982" marR="33982" marT="16991" marB="16991" anchor="ctr"/>
                </a:tc>
                <a:tc>
                  <a:txBody>
                    <a:bodyPr/>
                    <a:lstStyle/>
                    <a:p>
                      <a:pPr>
                        <a:buNone/>
                      </a:pPr>
                      <a:r>
                        <a:rPr lang="es-ES" sz="1400"/>
                        <a:t>height / min-height de secciones a pantalla completa (mejor dvh), padding-inline de portadas, tipografía fluida dentro de clamp()</a:t>
                      </a:r>
                    </a:p>
                  </a:txBody>
                  <a:tcPr marL="33982" marR="33982" marT="16991" marB="16991" anchor="ctr"/>
                </a:tc>
                <a:tc>
                  <a:txBody>
                    <a:bodyPr/>
                    <a:lstStyle/>
                    <a:p>
                      <a:pPr>
                        <a:buNone/>
                      </a:pPr>
                      <a:r>
                        <a:rPr lang="es-ES" sz="1400"/>
                        <a:t>El ancho o alto de la ventana (viewport)</a:t>
                      </a:r>
                    </a:p>
                  </a:txBody>
                  <a:tcPr marL="33982" marR="33982" marT="16991" marB="16991" anchor="ctr"/>
                </a:tc>
                <a:extLst>
                  <a:ext uri="{0D108BD9-81ED-4DB2-BD59-A6C34878D82A}">
                    <a16:rowId xmlns:a16="http://schemas.microsoft.com/office/drawing/2014/main" val="3023750381"/>
                  </a:ext>
                </a:extLst>
              </a:tr>
              <a:tr h="619528">
                <a:tc>
                  <a:txBody>
                    <a:bodyPr/>
                    <a:lstStyle/>
                    <a:p>
                      <a:pPr algn="ctr">
                        <a:buNone/>
                      </a:pPr>
                      <a:r>
                        <a:rPr lang="es-ES" sz="1400" dirty="0" err="1"/>
                        <a:t>px</a:t>
                      </a:r>
                      <a:endParaRPr lang="es-ES" sz="1400" dirty="0"/>
                    </a:p>
                  </a:txBody>
                  <a:tcPr marL="33982" marR="33982" marT="16991" marB="16991" anchor="ctr"/>
                </a:tc>
                <a:tc>
                  <a:txBody>
                    <a:bodyPr/>
                    <a:lstStyle/>
                    <a:p>
                      <a:pPr>
                        <a:buNone/>
                      </a:pPr>
                      <a:r>
                        <a:rPr lang="es-ES" sz="1400"/>
                        <a:t>border-width, box-shadow, outline, border-radius pequeños, iconos o detalles de 1–2px</a:t>
                      </a:r>
                    </a:p>
                  </a:txBody>
                  <a:tcPr marL="33982" marR="33982" marT="16991" marB="16991" anchor="ctr"/>
                </a:tc>
                <a:tc>
                  <a:txBody>
                    <a:bodyPr/>
                    <a:lstStyle/>
                    <a:p>
                      <a:pPr>
                        <a:buNone/>
                      </a:pPr>
                      <a:r>
                        <a:rPr lang="es-ES" sz="1400" dirty="0"/>
                        <a:t>Nada. Es absoluta (</a:t>
                      </a:r>
                      <a:r>
                        <a:rPr lang="es-ES" sz="1400" dirty="0" err="1"/>
                        <a:t>píxe</a:t>
                      </a:r>
                      <a:endParaRPr lang="es-ES" sz="1400" dirty="0"/>
                    </a:p>
                  </a:txBody>
                  <a:tcPr marL="33982" marR="33982" marT="16991" marB="16991" anchor="ctr"/>
                </a:tc>
                <a:extLst>
                  <a:ext uri="{0D108BD9-81ED-4DB2-BD59-A6C34878D82A}">
                    <a16:rowId xmlns:a16="http://schemas.microsoft.com/office/drawing/2014/main" val="1545221355"/>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1611</Words>
  <Application>Microsoft Office PowerPoint</Application>
  <PresentationFormat>Presentación en pantalla (16:9)</PresentationFormat>
  <Paragraphs>218</Paragraphs>
  <Slides>15</Slides>
  <Notes>15</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15</vt:i4>
      </vt:variant>
    </vt:vector>
  </HeadingPairs>
  <TitlesOfParts>
    <vt:vector size="20"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Unidades en CSS</dc:title>
  <dc:subject>PptxGenJS Presentation</dc:subject>
  <dc:creator>PptxGenJS</dc:creator>
  <cp:lastModifiedBy>Carlos Sanchez Roco</cp:lastModifiedBy>
  <cp:revision>2</cp:revision>
  <dcterms:created xsi:type="dcterms:W3CDTF">2026-09-23T07:36:14Z</dcterms:created>
  <dcterms:modified xsi:type="dcterms:W3CDTF">2026-09-29T15:20:35Z</dcterms:modified>
</cp:coreProperties>
</file>