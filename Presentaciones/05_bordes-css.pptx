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Continuación de "Tamaños": el borde es la parte del modelo de caja que faltaba por ver en detalle, y también suma al tamaño total de la caja.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hace falta memorizar las 20: basta con entender el patrón border-[lado]-[aspecto]. Quitando el lado se obtiene la abreviada para los cuatro lados; quitando el aspecto, la abreviada completa de ese 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los navegadores actuales suelen equivaler a 1px, 3px y 5px, pero la especificación no fija el valor. Para un resultado predecible es mejor usar una longitud. Aunque el valor por defecto sea medium, si el estilo es none el grosor calculado es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texto original no indica el valor por defecto de border-color: es currentColor, es decir, el valor de la propiedad color del propio elemento. Por eso "border: 1px solid" sin color dibuja el borde del mismo color que el 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groove, ridge, inset y outset simulan efectos 3D con dos tonos del color del borde; su aspecto varía entre navegadores y hoy se usan poco. Conviene mostrarlos en vivo en el navegador. none y hidden solo se diferencian en tablas con border-collapse: collapse, donde hidden tiene prioridad sobre los bordes de las celdas vecinas.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error más frecuente con bordes. Anchura y color tienen valores por defecto (medium y currentColor), así que "border-style: solid" por sí solo ya dibuja un borde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reglas son exactamente las vistas para margin y padding, incluida la de "el valor que falta copia el del lado opuesto".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border-top, border-right, border-bottom y border-left funcionan igual, pero afectan a un único lado. Para bordes distintos en cada lado: usar border y después sobrescribir el lado que cambia, o usar border-width/border-color/border-style con varios valores.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segundo punto no aparece en el texto original, pero es una consecuencia general de todas las propiedades abreviadas: los componentes omitidos se restablecen a su valor inicial. Por eso el orden importa: primero la abreviada, después las propiedades concretas que la modifican.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se escribieran en orden inverso, border sobrescribiría a border-left y el lado izquierdo perdería su borde especial. Buen ejercicio para comprobar que se entiende la cascada.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Relación con "Tamaños": el grosor del borde se suma al tamaño total de la caja salvo con box-sizing: border-box. Posible siguiente tema: border-radius, outline o fondos.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433"/>
        </a:solidFill>
      </p:bgPr>
    </p:bg>
    <p:spTree>
      <p:nvGrpSpPr>
        <p:cNvPr id="1" name=""/>
        <p:cNvGrpSpPr/>
        <p:nvPr/>
      </p:nvGrpSpPr>
      <p:grpSpPr>
        <a:xfrm>
          <a:off x="0" y="0"/>
          <a:ext cx="0" cy="0"/>
          <a:chOff x="0" y="0"/>
          <a:chExt cx="0" cy="0"/>
        </a:xfrm>
      </p:grpSpPr>
      <p:sp>
        <p:nvSpPr>
          <p:cNvPr id="2" name="Shape 0"/>
          <p:cNvSpPr/>
          <p:nvPr/>
        </p:nvSpPr>
        <p:spPr>
          <a:xfrm>
            <a:off x="5669280" y="822960"/>
            <a:ext cx="2651760" cy="2651760"/>
          </a:xfrm>
          <a:prstGeom prst="rect">
            <a:avLst/>
          </a:prstGeom>
          <a:solidFill>
            <a:srgbClr val="1F2433"/>
          </a:solidFill>
          <a:ln w="38100">
            <a:solidFill>
              <a:srgbClr val="E07A2F"/>
            </a:solidFill>
            <a:prstDash val="solid"/>
          </a:ln>
        </p:spPr>
      </p:sp>
      <p:sp>
        <p:nvSpPr>
          <p:cNvPr id="3" name="Shape 1"/>
          <p:cNvSpPr/>
          <p:nvPr/>
        </p:nvSpPr>
        <p:spPr>
          <a:xfrm>
            <a:off x="5943600" y="1097280"/>
            <a:ext cx="2103120" cy="2103120"/>
          </a:xfrm>
          <a:prstGeom prst="rect">
            <a:avLst/>
          </a:prstGeom>
          <a:solidFill>
            <a:srgbClr val="1F2433"/>
          </a:solidFill>
          <a:ln w="38100">
            <a:solidFill>
              <a:srgbClr val="2E86AB"/>
            </a:solidFill>
            <a:prstDash val="dash"/>
          </a:ln>
        </p:spPr>
      </p:sp>
      <p:sp>
        <p:nvSpPr>
          <p:cNvPr id="4" name="Shape 2"/>
          <p:cNvSpPr/>
          <p:nvPr/>
        </p:nvSpPr>
        <p:spPr>
          <a:xfrm>
            <a:off x="6217920" y="1371600"/>
            <a:ext cx="1554480" cy="1554480"/>
          </a:xfrm>
          <a:prstGeom prst="rect">
            <a:avLst/>
          </a:prstGeom>
          <a:solidFill>
            <a:srgbClr val="1F2433"/>
          </a:solidFill>
          <a:ln w="38100">
            <a:solidFill>
              <a:srgbClr val="E07A2F"/>
            </a:solidFill>
            <a:prstDash val="sysDot"/>
          </a:ln>
        </p:spPr>
      </p:sp>
      <p:sp>
        <p:nvSpPr>
          <p:cNvPr id="5" name="Text 3"/>
          <p:cNvSpPr txBox="1"/>
          <p:nvPr/>
        </p:nvSpPr>
        <p:spPr>
          <a:xfrm>
            <a:off x="457200" y="1737360"/>
            <a:ext cx="50292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Bordes</a:t>
            </a:r>
            <a:endParaRPr lang="en-US" sz="4400" dirty="0"/>
          </a:p>
        </p:txBody>
      </p:sp>
      <p:sp>
        <p:nvSpPr>
          <p:cNvPr id="6" name="Text 4"/>
          <p:cNvSpPr txBox="1"/>
          <p:nvPr/>
        </p:nvSpPr>
        <p:spPr>
          <a:xfrm>
            <a:off x="457200" y="2651760"/>
            <a:ext cx="5029200" cy="731520"/>
          </a:xfrm>
          <a:prstGeom prst="rect">
            <a:avLst/>
          </a:prstGeom>
          <a:noFill/>
          <a:ln/>
        </p:spPr>
        <p:txBody>
          <a:bodyPr wrap="square" lIns="0" tIns="0" rIns="0" bIns="0" rtlCol="0" anchor="ctr"/>
          <a:lstStyle/>
          <a:p>
            <a:pPr indent="0" marL="0">
              <a:buNone/>
            </a:pPr>
            <a:r>
              <a:rPr lang="en-US" sz="2000" dirty="0">
                <a:solidFill>
                  <a:srgbClr val="C9D1E0"/>
                </a:solidFill>
                <a:latin typeface="Calibri" pitchFamily="34" charset="0"/>
                <a:ea typeface="Calibri" pitchFamily="34" charset="-122"/>
                <a:cs typeface="Calibri" pitchFamily="34" charset="-120"/>
              </a:rPr>
              <a:t>Anchura, color, estilo y propiedades abreviadas</a:t>
            </a:r>
            <a:endParaRPr lang="en-US" sz="2000" dirty="0"/>
          </a:p>
        </p:txBody>
      </p:sp>
      <p:sp>
        <p:nvSpPr>
          <p:cNvPr id="7" name="Text 5"/>
          <p:cNvSpPr txBox="1"/>
          <p:nvPr/>
        </p:nvSpPr>
        <p:spPr>
          <a:xfrm>
            <a:off x="457200" y="4389120"/>
            <a:ext cx="8229600" cy="365760"/>
          </a:xfrm>
          <a:prstGeom prst="rect">
            <a:avLst/>
          </a:prstGeom>
          <a:noFill/>
          <a:ln/>
        </p:spPr>
        <p:txBody>
          <a:bodyPr wrap="square" lIns="0" tIns="0" rIns="0" bIns="0" rtlCol="0" anchor="ctr"/>
          <a:lstStyle/>
          <a:p>
            <a:pPr indent="0" marL="0">
              <a:buNone/>
            </a:pPr>
            <a:r>
              <a:rPr lang="en-US" sz="1200" dirty="0">
                <a:solidFill>
                  <a:srgbClr val="8A93A6"/>
                </a:solidFill>
                <a:latin typeface="Calibri" pitchFamily="34" charset="0"/>
                <a:ea typeface="Calibri" pitchFamily="34" charset="-122"/>
                <a:cs typeface="Calibri" pitchFamily="34" charset="-120"/>
              </a:rPr>
              <a:t>Diseño de Interfaces Web · CSS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433"/>
                </a:solidFill>
                <a:latin typeface="Cambria" pitchFamily="34" charset="0"/>
                <a:ea typeface="Cambria" pitchFamily="34" charset="-122"/>
                <a:cs typeface="Cambria" pitchFamily="34" charset="-120"/>
              </a:rPr>
              <a:t>Tres aspectos, cuatro lados: 20 propiedades</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822960"/>
                <a:gridCol w="1508760"/>
                <a:gridCol w="1508760"/>
                <a:gridCol w="1600200"/>
                <a:gridCol w="1508760"/>
                <a:gridCol w="1280160"/>
              </a:tblGrid>
              <a:tr h="502920">
                <a:tc>
                  <a:txBody>
                    <a:bodyPr/>
                    <a:lstStyle/>
                    <a:p>
                      <a:pPr algn="ctr" indent="0" marL="0">
                        <a:buNone/>
                      </a:pPr>
                      <a:endParaRPr lang="en-US" sz="12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C3347"/>
                    </a:solidFill>
                  </a:tcPr>
                </a:tc>
                <a:tc>
                  <a:txBody>
                    <a:bodyP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top</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86AB"/>
                    </a:solidFill>
                  </a:tcPr>
                </a:tc>
                <a:tc>
                  <a:txBody>
                    <a:bodyP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right</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86AB"/>
                    </a:solidFill>
                  </a:tcPr>
                </a:tc>
                <a:tc>
                  <a:txBody>
                    <a:bodyP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bottom</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86AB"/>
                    </a:solidFill>
                  </a:tcPr>
                </a:tc>
                <a:tc>
                  <a:txBody>
                    <a:bodyP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left</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86AB"/>
                    </a:solidFill>
                  </a:tcPr>
                </a:tc>
                <a:tc>
                  <a:txBody>
                    <a:bodyP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los 4 lados</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07A2F"/>
                    </a:solidFill>
                  </a:tcPr>
                </a:tc>
              </a:tr>
              <a:tr h="502920">
                <a:tc>
                  <a:txBody>
                    <a:bodyPr/>
                    <a:lstStyle/>
                    <a:p>
                      <a:pPr algn="ctr" indent="0" marL="0">
                        <a:buNone/>
                      </a:pPr>
                      <a:r>
                        <a:rPr lang="en-US" sz="1000" b="1" dirty="0">
                          <a:solidFill>
                            <a:srgbClr val="1F2433"/>
                          </a:solidFill>
                          <a:latin typeface="Courier New" pitchFamily="34" charset="0"/>
                          <a:ea typeface="Courier New" pitchFamily="34" charset="-122"/>
                          <a:cs typeface="Courier New" pitchFamily="34" charset="-120"/>
                        </a:rPr>
                        <a:t>width</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000" dirty="0">
                          <a:solidFill>
                            <a:srgbClr val="1F2433"/>
                          </a:solidFill>
                          <a:latin typeface="Courier New" pitchFamily="34" charset="0"/>
                          <a:ea typeface="Courier New" pitchFamily="34" charset="-122"/>
                          <a:cs typeface="Courier New" pitchFamily="34" charset="-120"/>
                        </a:rPr>
                        <a:t>border-top-width</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000" dirty="0">
                          <a:solidFill>
                            <a:srgbClr val="1F2433"/>
                          </a:solidFill>
                          <a:latin typeface="Courier New" pitchFamily="34" charset="0"/>
                          <a:ea typeface="Courier New" pitchFamily="34" charset="-122"/>
                          <a:cs typeface="Courier New" pitchFamily="34" charset="-120"/>
                        </a:rPr>
                        <a:t>border-right-width</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000" dirty="0">
                          <a:solidFill>
                            <a:srgbClr val="1F2433"/>
                          </a:solidFill>
                          <a:latin typeface="Courier New" pitchFamily="34" charset="0"/>
                          <a:ea typeface="Courier New" pitchFamily="34" charset="-122"/>
                          <a:cs typeface="Courier New" pitchFamily="34" charset="-120"/>
                        </a:rPr>
                        <a:t>border-bottom-width</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000" dirty="0">
                          <a:solidFill>
                            <a:srgbClr val="1F2433"/>
                          </a:solidFill>
                          <a:latin typeface="Courier New" pitchFamily="34" charset="0"/>
                          <a:ea typeface="Courier New" pitchFamily="34" charset="-122"/>
                          <a:cs typeface="Courier New" pitchFamily="34" charset="-120"/>
                        </a:rPr>
                        <a:t>border-left-width</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000" b="1" dirty="0">
                          <a:solidFill>
                            <a:srgbClr val="1F2433"/>
                          </a:solidFill>
                          <a:latin typeface="Courier New" pitchFamily="34" charset="0"/>
                          <a:ea typeface="Courier New" pitchFamily="34" charset="-122"/>
                          <a:cs typeface="Courier New" pitchFamily="34" charset="-120"/>
                        </a:rPr>
                        <a:t>border-width</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BE9DB"/>
                    </a:solidFill>
                  </a:tcPr>
                </a:tc>
              </a:tr>
              <a:tr h="502920">
                <a:tc>
                  <a:txBody>
                    <a:bodyPr/>
                    <a:lstStyle/>
                    <a:p>
                      <a:pPr algn="ctr" indent="0" marL="0">
                        <a:buNone/>
                      </a:pPr>
                      <a:r>
                        <a:rPr lang="en-US" sz="1000" b="1" dirty="0">
                          <a:solidFill>
                            <a:srgbClr val="1F2433"/>
                          </a:solidFill>
                          <a:latin typeface="Courier New" pitchFamily="34" charset="0"/>
                          <a:ea typeface="Courier New" pitchFamily="34" charset="-122"/>
                          <a:cs typeface="Courier New" pitchFamily="34" charset="-120"/>
                        </a:rPr>
                        <a:t>color</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000" dirty="0">
                          <a:solidFill>
                            <a:srgbClr val="1F2433"/>
                          </a:solidFill>
                          <a:latin typeface="Courier New" pitchFamily="34" charset="0"/>
                          <a:ea typeface="Courier New" pitchFamily="34" charset="-122"/>
                          <a:cs typeface="Courier New" pitchFamily="34" charset="-120"/>
                        </a:rPr>
                        <a:t>border-top-color</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433"/>
                          </a:solidFill>
                          <a:latin typeface="Courier New" pitchFamily="34" charset="0"/>
                          <a:ea typeface="Courier New" pitchFamily="34" charset="-122"/>
                          <a:cs typeface="Courier New" pitchFamily="34" charset="-120"/>
                        </a:rPr>
                        <a:t>border-right-color</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433"/>
                          </a:solidFill>
                          <a:latin typeface="Courier New" pitchFamily="34" charset="0"/>
                          <a:ea typeface="Courier New" pitchFamily="34" charset="-122"/>
                          <a:cs typeface="Courier New" pitchFamily="34" charset="-120"/>
                        </a:rPr>
                        <a:t>border-bottom-color</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433"/>
                          </a:solidFill>
                          <a:latin typeface="Courier New" pitchFamily="34" charset="0"/>
                          <a:ea typeface="Courier New" pitchFamily="34" charset="-122"/>
                          <a:cs typeface="Courier New" pitchFamily="34" charset="-120"/>
                        </a:rPr>
                        <a:t>border-left-color</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F2433"/>
                          </a:solidFill>
                          <a:latin typeface="Courier New" pitchFamily="34" charset="0"/>
                          <a:ea typeface="Courier New" pitchFamily="34" charset="-122"/>
                          <a:cs typeface="Courier New" pitchFamily="34" charset="-120"/>
                        </a:rPr>
                        <a:t>border-color</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BE9DB"/>
                    </a:solidFill>
                  </a:tcPr>
                </a:tc>
              </a:tr>
              <a:tr h="502920">
                <a:tc>
                  <a:txBody>
                    <a:bodyPr/>
                    <a:lstStyle/>
                    <a:p>
                      <a:pPr algn="ctr" indent="0" marL="0">
                        <a:buNone/>
                      </a:pPr>
                      <a:r>
                        <a:rPr lang="en-US" sz="1000" b="1" dirty="0">
                          <a:solidFill>
                            <a:srgbClr val="1F2433"/>
                          </a:solidFill>
                          <a:latin typeface="Courier New" pitchFamily="34" charset="0"/>
                          <a:ea typeface="Courier New" pitchFamily="34" charset="-122"/>
                          <a:cs typeface="Courier New" pitchFamily="34" charset="-120"/>
                        </a:rPr>
                        <a:t>style</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000" dirty="0">
                          <a:solidFill>
                            <a:srgbClr val="1F2433"/>
                          </a:solidFill>
                          <a:latin typeface="Courier New" pitchFamily="34" charset="0"/>
                          <a:ea typeface="Courier New" pitchFamily="34" charset="-122"/>
                          <a:cs typeface="Courier New" pitchFamily="34" charset="-120"/>
                        </a:rPr>
                        <a:t>border-top-style</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000" dirty="0">
                          <a:solidFill>
                            <a:srgbClr val="1F2433"/>
                          </a:solidFill>
                          <a:latin typeface="Courier New" pitchFamily="34" charset="0"/>
                          <a:ea typeface="Courier New" pitchFamily="34" charset="-122"/>
                          <a:cs typeface="Courier New" pitchFamily="34" charset="-120"/>
                        </a:rPr>
                        <a:t>border-right-style</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000" dirty="0">
                          <a:solidFill>
                            <a:srgbClr val="1F2433"/>
                          </a:solidFill>
                          <a:latin typeface="Courier New" pitchFamily="34" charset="0"/>
                          <a:ea typeface="Courier New" pitchFamily="34" charset="-122"/>
                          <a:cs typeface="Courier New" pitchFamily="34" charset="-120"/>
                        </a:rPr>
                        <a:t>border-bottom-style</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000" dirty="0">
                          <a:solidFill>
                            <a:srgbClr val="1F2433"/>
                          </a:solidFill>
                          <a:latin typeface="Courier New" pitchFamily="34" charset="0"/>
                          <a:ea typeface="Courier New" pitchFamily="34" charset="-122"/>
                          <a:cs typeface="Courier New" pitchFamily="34" charset="-120"/>
                        </a:rPr>
                        <a:t>border-left-style</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000" b="1" dirty="0">
                          <a:solidFill>
                            <a:srgbClr val="1F2433"/>
                          </a:solidFill>
                          <a:latin typeface="Courier New" pitchFamily="34" charset="0"/>
                          <a:ea typeface="Courier New" pitchFamily="34" charset="-122"/>
                          <a:cs typeface="Courier New" pitchFamily="34" charset="-120"/>
                        </a:rPr>
                        <a:t>border-style</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BE9DB"/>
                    </a:solidFill>
                  </a:tcPr>
                </a:tc>
              </a:tr>
              <a:tr h="502920">
                <a:tc>
                  <a:txBody>
                    <a:bodyPr/>
                    <a:lstStyle/>
                    <a:p>
                      <a:pPr algn="ctr" indent="0" marL="0">
                        <a:buNone/>
                      </a:pPr>
                      <a:r>
                        <a:rPr lang="en-US" sz="1000" b="1" dirty="0">
                          <a:solidFill>
                            <a:srgbClr val="1F2433"/>
                          </a:solidFill>
                          <a:latin typeface="Courier New" pitchFamily="34" charset="0"/>
                          <a:ea typeface="Courier New" pitchFamily="34" charset="-122"/>
                          <a:cs typeface="Courier New" pitchFamily="34" charset="-120"/>
                        </a:rPr>
                        <a:t>todo</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000" b="1" dirty="0">
                          <a:solidFill>
                            <a:srgbClr val="1F2433"/>
                          </a:solidFill>
                          <a:latin typeface="Courier New" pitchFamily="34" charset="0"/>
                          <a:ea typeface="Courier New" pitchFamily="34" charset="-122"/>
                          <a:cs typeface="Courier New" pitchFamily="34" charset="-120"/>
                        </a:rPr>
                        <a:t>border-top</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DCEEF5"/>
                    </a:solidFill>
                  </a:tcPr>
                </a:tc>
                <a:tc>
                  <a:txBody>
                    <a:bodyPr/>
                    <a:lstStyle/>
                    <a:p>
                      <a:pPr algn="ctr" indent="0" marL="0">
                        <a:buNone/>
                      </a:pPr>
                      <a:r>
                        <a:rPr lang="en-US" sz="1000" b="1" dirty="0">
                          <a:solidFill>
                            <a:srgbClr val="1F2433"/>
                          </a:solidFill>
                          <a:latin typeface="Courier New" pitchFamily="34" charset="0"/>
                          <a:ea typeface="Courier New" pitchFamily="34" charset="-122"/>
                          <a:cs typeface="Courier New" pitchFamily="34" charset="-120"/>
                        </a:rPr>
                        <a:t>border-right</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DCEEF5"/>
                    </a:solidFill>
                  </a:tcPr>
                </a:tc>
                <a:tc>
                  <a:txBody>
                    <a:bodyPr/>
                    <a:lstStyle/>
                    <a:p>
                      <a:pPr algn="ctr" indent="0" marL="0">
                        <a:buNone/>
                      </a:pPr>
                      <a:r>
                        <a:rPr lang="en-US" sz="1000" b="1" dirty="0">
                          <a:solidFill>
                            <a:srgbClr val="1F2433"/>
                          </a:solidFill>
                          <a:latin typeface="Courier New" pitchFamily="34" charset="0"/>
                          <a:ea typeface="Courier New" pitchFamily="34" charset="-122"/>
                          <a:cs typeface="Courier New" pitchFamily="34" charset="-120"/>
                        </a:rPr>
                        <a:t>border-bottom</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DCEEF5"/>
                    </a:solidFill>
                  </a:tcPr>
                </a:tc>
                <a:tc>
                  <a:txBody>
                    <a:bodyPr/>
                    <a:lstStyle/>
                    <a:p>
                      <a:pPr algn="ctr" indent="0" marL="0">
                        <a:buNone/>
                      </a:pPr>
                      <a:r>
                        <a:rPr lang="en-US" sz="1000" b="1" dirty="0">
                          <a:solidFill>
                            <a:srgbClr val="1F2433"/>
                          </a:solidFill>
                          <a:latin typeface="Courier New" pitchFamily="34" charset="0"/>
                          <a:ea typeface="Courier New" pitchFamily="34" charset="-122"/>
                          <a:cs typeface="Courier New" pitchFamily="34" charset="-120"/>
                        </a:rPr>
                        <a:t>border-left</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DCEEF5"/>
                    </a:solidFill>
                  </a:tcPr>
                </a:tc>
                <a:tc>
                  <a:txBody>
                    <a:bodyPr/>
                    <a:lstStyle/>
                    <a:p>
                      <a:pPr algn="ctr" indent="0" marL="0">
                        <a:buNone/>
                      </a:pPr>
                      <a:r>
                        <a:rPr lang="en-US" sz="1000" b="1" dirty="0">
                          <a:solidFill>
                            <a:srgbClr val="1F2433"/>
                          </a:solidFill>
                          <a:latin typeface="Courier New" pitchFamily="34" charset="0"/>
                          <a:ea typeface="Courier New" pitchFamily="34" charset="-122"/>
                          <a:cs typeface="Courier New" pitchFamily="34" charset="-120"/>
                        </a:rPr>
                        <a:t>border</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BE9DB"/>
                    </a:solidFill>
                  </a:tcPr>
                </a:tc>
              </a:tr>
            </a:tbl>
          </a:graphicData>
        </a:graphic>
      </p:graphicFrame>
      <p:sp>
        <p:nvSpPr>
          <p:cNvPr id="4" name="Text 1"/>
          <p:cNvSpPr txBox="1"/>
          <p:nvPr/>
        </p:nvSpPr>
        <p:spPr>
          <a:xfrm>
            <a:off x="457200" y="4069080"/>
            <a:ext cx="8229600" cy="457200"/>
          </a:xfrm>
          <a:prstGeom prst="rect">
            <a:avLst/>
          </a:prstGeom>
          <a:noFill/>
          <a:ln/>
        </p:spPr>
        <p:txBody>
          <a:bodyPr wrap="square" lIns="0" tIns="0" rIns="0" bIns="0" rtlCol="0" anchor="ctr"/>
          <a:lstStyle/>
          <a:p>
            <a:pPr indent="0" marL="0">
              <a:buNone/>
            </a:pPr>
            <a:r>
              <a:rPr lang="en-US" sz="1600" b="1" dirty="0">
                <a:solidFill>
                  <a:srgbClr val="2E86AB"/>
                </a:solidFill>
                <a:latin typeface="Calibri" pitchFamily="34" charset="0"/>
                <a:ea typeface="Calibri" pitchFamily="34" charset="-122"/>
                <a:cs typeface="Calibri" pitchFamily="34" charset="-120"/>
              </a:rPr>
              <a:t>12 </a:t>
            </a:r>
            <a:r>
              <a:rPr lang="en-US" sz="1600" dirty="0">
                <a:solidFill>
                  <a:srgbClr val="1F2433"/>
                </a:solidFill>
                <a:latin typeface="Calibri" pitchFamily="34" charset="0"/>
                <a:ea typeface="Calibri" pitchFamily="34" charset="-122"/>
                <a:cs typeface="Calibri" pitchFamily="34" charset="-120"/>
              </a:rPr>
              <a:t>individuales + </a:t>
            </a:r>
            <a:r>
              <a:rPr lang="en-US" sz="1600" b="1" dirty="0">
                <a:solidFill>
                  <a:srgbClr val="E07A2F"/>
                </a:solidFill>
                <a:latin typeface="Calibri" pitchFamily="34" charset="0"/>
                <a:ea typeface="Calibri" pitchFamily="34" charset="-122"/>
                <a:cs typeface="Calibri" pitchFamily="34" charset="-120"/>
              </a:rPr>
              <a:t>3 </a:t>
            </a:r>
            <a:r>
              <a:rPr lang="en-US" sz="1600" dirty="0">
                <a:solidFill>
                  <a:srgbClr val="1F2433"/>
                </a:solidFill>
                <a:latin typeface="Calibri" pitchFamily="34" charset="0"/>
                <a:ea typeface="Calibri" pitchFamily="34" charset="-122"/>
                <a:cs typeface="Calibri" pitchFamily="34" charset="-120"/>
              </a:rPr>
              <a:t>abreviadas por aspecto + </a:t>
            </a:r>
            <a:r>
              <a:rPr lang="en-US" sz="1600" b="1" dirty="0">
                <a:solidFill>
                  <a:srgbClr val="2E86AB"/>
                </a:solidFill>
                <a:latin typeface="Calibri" pitchFamily="34" charset="0"/>
                <a:ea typeface="Calibri" pitchFamily="34" charset="-122"/>
                <a:cs typeface="Calibri" pitchFamily="34" charset="-120"/>
              </a:rPr>
              <a:t>4 </a:t>
            </a:r>
            <a:r>
              <a:rPr lang="en-US" sz="1600" dirty="0">
                <a:solidFill>
                  <a:srgbClr val="1F2433"/>
                </a:solidFill>
                <a:latin typeface="Calibri" pitchFamily="34" charset="0"/>
                <a:ea typeface="Calibri" pitchFamily="34" charset="-122"/>
                <a:cs typeface="Calibri" pitchFamily="34" charset="-120"/>
              </a:rPr>
              <a:t>por lado + </a:t>
            </a:r>
            <a:r>
              <a:rPr lang="en-US" sz="1600" b="1" dirty="0">
                <a:solidFill>
                  <a:srgbClr val="E07A2F"/>
                </a:solidFill>
                <a:latin typeface="Calibri" pitchFamily="34" charset="0"/>
                <a:ea typeface="Calibri" pitchFamily="34" charset="-122"/>
                <a:cs typeface="Calibri" pitchFamily="34" charset="-120"/>
              </a:rPr>
              <a:t>1 </a:t>
            </a:r>
            <a:r>
              <a:rPr lang="en-US" sz="1600" dirty="0">
                <a:solidFill>
                  <a:srgbClr val="1F2433"/>
                </a:solidFill>
                <a:latin typeface="Calibri" pitchFamily="34" charset="0"/>
                <a:ea typeface="Calibri" pitchFamily="34" charset="-122"/>
                <a:cs typeface="Calibri" pitchFamily="34" charset="-120"/>
              </a:rPr>
              <a:t>total = 20</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433"/>
                </a:solidFill>
                <a:latin typeface="Cambria" pitchFamily="34" charset="0"/>
                <a:ea typeface="Cambria" pitchFamily="34" charset="-122"/>
                <a:cs typeface="Cambria" pitchFamily="34" charset="-120"/>
              </a:rPr>
              <a:t>Anchura: border-width</a:t>
            </a:r>
            <a:endParaRPr lang="en-US" sz="3000" dirty="0"/>
          </a:p>
        </p:txBody>
      </p:sp>
      <p:sp>
        <p:nvSpPr>
          <p:cNvPr id="3" name="Shape 1"/>
          <p:cNvSpPr/>
          <p:nvPr/>
        </p:nvSpPr>
        <p:spPr>
          <a:xfrm>
            <a:off x="457200" y="1188720"/>
            <a:ext cx="3931920" cy="1188720"/>
          </a:xfrm>
          <a:prstGeom prst="roundRect">
            <a:avLst>
              <a:gd name="adj" fmla="val 7692"/>
            </a:avLst>
          </a:prstGeom>
          <a:solidFill>
            <a:srgbClr val="2C3347"/>
          </a:solidFill>
          <a:ln w="12700">
            <a:solidFill>
              <a:srgbClr val="2C3347"/>
            </a:solidFill>
            <a:prstDash val="solid"/>
          </a:ln>
        </p:spPr>
      </p:sp>
      <p:sp>
        <p:nvSpPr>
          <p:cNvPr id="4" name="Text 2"/>
          <p:cNvSpPr txBox="1"/>
          <p:nvPr/>
        </p:nvSpPr>
        <p:spPr>
          <a:xfrm>
            <a:off x="640080" y="1325880"/>
            <a:ext cx="3566160" cy="914400"/>
          </a:xfrm>
          <a:prstGeom prst="rect">
            <a:avLst/>
          </a:prstGeom>
          <a:noFill/>
          <a:ln/>
        </p:spPr>
        <p:txBody>
          <a:bodyPr wrap="square" lIns="0" tIns="0" rIns="0" bIns="0" rtlCol="0" anchor="t"/>
          <a:lstStyle/>
          <a:p>
            <a:pPr indent="0" marL="0">
              <a:buNone/>
            </a:pPr>
            <a:r>
              <a:rPr lang="en-US" sz="1500" dirty="0">
                <a:solidFill>
                  <a:srgbClr val="E8ECF3"/>
                </a:solidFill>
                <a:latin typeface="Courier New" pitchFamily="34" charset="0"/>
                <a:ea typeface="Courier New" pitchFamily="34" charset="-122"/>
                <a:cs typeface="Courier New" pitchFamily="34" charset="-120"/>
              </a:rPr>
              <a:t>border-width: 2px;</a:t>
            </a:r>
            <a:endParaRPr lang="en-US" sz="1500" dirty="0"/>
          </a:p>
          <a:p>
            <a:pPr indent="0" marL="0">
              <a:buNone/>
            </a:pPr>
            <a:r>
              <a:rPr lang="en-US" sz="1500" dirty="0">
                <a:solidFill>
                  <a:srgbClr val="E8ECF3"/>
                </a:solidFill>
                <a:latin typeface="Courier New" pitchFamily="34" charset="0"/>
                <a:ea typeface="Courier New" pitchFamily="34" charset="-122"/>
                <a:cs typeface="Courier New" pitchFamily="34" charset="-120"/>
              </a:rPr>
              <a:t>border-top-width: thick;</a:t>
            </a:r>
            <a:endParaRPr lang="en-US" sz="1500" dirty="0"/>
          </a:p>
        </p:txBody>
      </p:sp>
      <p:sp>
        <p:nvSpPr>
          <p:cNvPr id="5" name="Text 3"/>
          <p:cNvSpPr txBox="1"/>
          <p:nvPr/>
        </p:nvSpPr>
        <p:spPr>
          <a:xfrm>
            <a:off x="457200" y="2606040"/>
            <a:ext cx="3931920" cy="201168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rgbClr val="1F2433"/>
                </a:solidFill>
                <a:latin typeface="Calibri" pitchFamily="34" charset="0"/>
                <a:ea typeface="Calibri" pitchFamily="34" charset="-122"/>
                <a:cs typeface="Calibri" pitchFamily="34" charset="-120"/>
              </a:rPr>
              <a:t>Valores: </a:t>
            </a:r>
            <a:r>
              <a:rPr lang="en-US" sz="1500" dirty="0">
                <a:solidFill>
                  <a:srgbClr val="1F2433"/>
                </a:solidFill>
                <a:latin typeface="Calibri" pitchFamily="34" charset="0"/>
                <a:ea typeface="Calibri" pitchFamily="34" charset="-122"/>
                <a:cs typeface="Calibri" pitchFamily="34" charset="-120"/>
              </a:rPr>
              <a:t>cualquier longitud (px, em, rem…) o una palabra clave</a:t>
            </a:r>
            <a:endParaRPr lang="en-US" sz="1500" dirty="0"/>
          </a:p>
          <a:p>
            <a:pPr marL="342900" indent="-342900">
              <a:spcAft>
                <a:spcPts val="800"/>
              </a:spcAft>
              <a:buSzPct val="100000"/>
              <a:buChar char="•"/>
            </a:pPr>
            <a:r>
              <a:rPr lang="en-US" sz="1500" b="1" dirty="0">
                <a:solidFill>
                  <a:srgbClr val="1F2433"/>
                </a:solidFill>
                <a:latin typeface="Calibri" pitchFamily="34" charset="0"/>
                <a:ea typeface="Calibri" pitchFamily="34" charset="-122"/>
                <a:cs typeface="Calibri" pitchFamily="34" charset="-120"/>
              </a:rPr>
              <a:t>No admite porcentajes </a:t>
            </a:r>
            <a:r>
              <a:rPr lang="en-US" sz="1500" dirty="0">
                <a:solidFill>
                  <a:srgbClr val="1F2433"/>
                </a:solidFill>
                <a:latin typeface="Calibri" pitchFamily="34" charset="0"/>
                <a:ea typeface="Calibri" pitchFamily="34" charset="-122"/>
                <a:cs typeface="Calibri" pitchFamily="34" charset="-120"/>
              </a:rPr>
              <a:t>ni valores negativos</a:t>
            </a:r>
            <a:endParaRPr lang="en-US" sz="1500" dirty="0"/>
          </a:p>
          <a:p>
            <a:pPr marL="342900" indent="-342900">
              <a:spcAft>
                <a:spcPts val="800"/>
              </a:spcAft>
              <a:buSzPct val="100000"/>
              <a:buChar char="•"/>
            </a:pPr>
            <a:r>
              <a:rPr lang="en-US" sz="1500" b="1" dirty="0">
                <a:solidFill>
                  <a:srgbClr val="1F2433"/>
                </a:solidFill>
                <a:latin typeface="Calibri" pitchFamily="34" charset="0"/>
                <a:ea typeface="Calibri" pitchFamily="34" charset="-122"/>
                <a:cs typeface="Calibri" pitchFamily="34" charset="-120"/>
              </a:rPr>
              <a:t>Valor por defecto: </a:t>
            </a:r>
            <a:r>
              <a:rPr lang="en-US" sz="1500" dirty="0">
                <a:solidFill>
                  <a:srgbClr val="1F2433"/>
                </a:solidFill>
                <a:latin typeface="Calibri" pitchFamily="34" charset="0"/>
                <a:ea typeface="Calibri" pitchFamily="34" charset="-122"/>
                <a:cs typeface="Calibri" pitchFamily="34" charset="-120"/>
              </a:rPr>
              <a:t>medium</a:t>
            </a:r>
            <a:endParaRPr lang="en-US" sz="1500" dirty="0"/>
          </a:p>
        </p:txBody>
      </p:sp>
      <p:sp>
        <p:nvSpPr>
          <p:cNvPr id="6" name="Shape 4"/>
          <p:cNvSpPr/>
          <p:nvPr/>
        </p:nvSpPr>
        <p:spPr>
          <a:xfrm>
            <a:off x="4754880" y="1188720"/>
            <a:ext cx="3931920" cy="3383280"/>
          </a:xfrm>
          <a:prstGeom prst="roundRect">
            <a:avLst>
              <a:gd name="adj" fmla="val 2703"/>
            </a:avLst>
          </a:prstGeom>
          <a:solidFill>
            <a:srgbClr val="EEF1F6"/>
          </a:solidFill>
          <a:ln w="12700">
            <a:solidFill>
              <a:srgbClr val="EEF1F6"/>
            </a:solidFill>
            <a:prstDash val="solid"/>
          </a:ln>
        </p:spPr>
      </p:sp>
      <p:sp>
        <p:nvSpPr>
          <p:cNvPr id="7" name="Text 5"/>
          <p:cNvSpPr txBox="1"/>
          <p:nvPr/>
        </p:nvSpPr>
        <p:spPr>
          <a:xfrm>
            <a:off x="5029200" y="1600200"/>
            <a:ext cx="1188720" cy="457200"/>
          </a:xfrm>
          <a:prstGeom prst="rect">
            <a:avLst/>
          </a:prstGeom>
          <a:noFill/>
          <a:ln/>
        </p:spPr>
        <p:txBody>
          <a:bodyPr wrap="square" lIns="0" tIns="0" rIns="0" bIns="0" rtlCol="0" anchor="ctr"/>
          <a:lstStyle/>
          <a:p>
            <a:pPr indent="0" marL="0">
              <a:buNone/>
            </a:pPr>
            <a:r>
              <a:rPr lang="en-US" sz="1500" b="1" dirty="0">
                <a:solidFill>
                  <a:srgbClr val="2E86AB"/>
                </a:solidFill>
                <a:latin typeface="Courier New" pitchFamily="34" charset="0"/>
                <a:ea typeface="Courier New" pitchFamily="34" charset="-122"/>
                <a:cs typeface="Courier New" pitchFamily="34" charset="-120"/>
              </a:rPr>
              <a:t>thin</a:t>
            </a:r>
            <a:endParaRPr lang="en-US" sz="1500" dirty="0"/>
          </a:p>
        </p:txBody>
      </p:sp>
      <p:sp>
        <p:nvSpPr>
          <p:cNvPr id="8" name="Shape 6"/>
          <p:cNvSpPr/>
          <p:nvPr/>
        </p:nvSpPr>
        <p:spPr>
          <a:xfrm>
            <a:off x="6309360" y="1828800"/>
            <a:ext cx="2103120" cy="0"/>
          </a:xfrm>
          <a:prstGeom prst="line">
            <a:avLst/>
          </a:prstGeom>
          <a:noFill/>
          <a:ln w="19050">
            <a:solidFill>
              <a:srgbClr val="2C3347"/>
            </a:solidFill>
            <a:prstDash val="solid"/>
          </a:ln>
        </p:spPr>
      </p:sp>
      <p:sp>
        <p:nvSpPr>
          <p:cNvPr id="9" name="Text 7"/>
          <p:cNvSpPr txBox="1"/>
          <p:nvPr/>
        </p:nvSpPr>
        <p:spPr>
          <a:xfrm>
            <a:off x="5029200" y="2606040"/>
            <a:ext cx="1188720" cy="457200"/>
          </a:xfrm>
          <a:prstGeom prst="rect">
            <a:avLst/>
          </a:prstGeom>
          <a:noFill/>
          <a:ln/>
        </p:spPr>
        <p:txBody>
          <a:bodyPr wrap="square" lIns="0" tIns="0" rIns="0" bIns="0" rtlCol="0" anchor="ctr"/>
          <a:lstStyle/>
          <a:p>
            <a:pPr indent="0" marL="0">
              <a:buNone/>
            </a:pPr>
            <a:r>
              <a:rPr lang="en-US" sz="1500" b="1" dirty="0">
                <a:solidFill>
                  <a:srgbClr val="2E86AB"/>
                </a:solidFill>
                <a:latin typeface="Courier New" pitchFamily="34" charset="0"/>
                <a:ea typeface="Courier New" pitchFamily="34" charset="-122"/>
                <a:cs typeface="Courier New" pitchFamily="34" charset="-120"/>
              </a:rPr>
              <a:t>medium</a:t>
            </a:r>
            <a:endParaRPr lang="en-US" sz="1500" dirty="0"/>
          </a:p>
        </p:txBody>
      </p:sp>
      <p:sp>
        <p:nvSpPr>
          <p:cNvPr id="10" name="Shape 8"/>
          <p:cNvSpPr/>
          <p:nvPr/>
        </p:nvSpPr>
        <p:spPr>
          <a:xfrm>
            <a:off x="6309360" y="2834640"/>
            <a:ext cx="2103120" cy="0"/>
          </a:xfrm>
          <a:prstGeom prst="line">
            <a:avLst/>
          </a:prstGeom>
          <a:noFill/>
          <a:ln w="57150">
            <a:solidFill>
              <a:srgbClr val="2C3347"/>
            </a:solidFill>
            <a:prstDash val="solid"/>
          </a:ln>
        </p:spPr>
      </p:sp>
      <p:sp>
        <p:nvSpPr>
          <p:cNvPr id="11" name="Text 9"/>
          <p:cNvSpPr txBox="1"/>
          <p:nvPr/>
        </p:nvSpPr>
        <p:spPr>
          <a:xfrm>
            <a:off x="5029200" y="3611880"/>
            <a:ext cx="1188720" cy="457200"/>
          </a:xfrm>
          <a:prstGeom prst="rect">
            <a:avLst/>
          </a:prstGeom>
          <a:noFill/>
          <a:ln/>
        </p:spPr>
        <p:txBody>
          <a:bodyPr wrap="square" lIns="0" tIns="0" rIns="0" bIns="0" rtlCol="0" anchor="ctr"/>
          <a:lstStyle/>
          <a:p>
            <a:pPr indent="0" marL="0">
              <a:buNone/>
            </a:pPr>
            <a:r>
              <a:rPr lang="en-US" sz="1500" b="1" dirty="0">
                <a:solidFill>
                  <a:srgbClr val="2E86AB"/>
                </a:solidFill>
                <a:latin typeface="Courier New" pitchFamily="34" charset="0"/>
                <a:ea typeface="Courier New" pitchFamily="34" charset="-122"/>
                <a:cs typeface="Courier New" pitchFamily="34" charset="-120"/>
              </a:rPr>
              <a:t>thick</a:t>
            </a:r>
            <a:endParaRPr lang="en-US" sz="1500" dirty="0"/>
          </a:p>
        </p:txBody>
      </p:sp>
      <p:sp>
        <p:nvSpPr>
          <p:cNvPr id="12" name="Shape 10"/>
          <p:cNvSpPr/>
          <p:nvPr/>
        </p:nvSpPr>
        <p:spPr>
          <a:xfrm>
            <a:off x="6309360" y="3840480"/>
            <a:ext cx="2103120" cy="0"/>
          </a:xfrm>
          <a:prstGeom prst="line">
            <a:avLst/>
          </a:prstGeom>
          <a:noFill/>
          <a:ln w="95250">
            <a:solidFill>
              <a:srgbClr val="2C3347"/>
            </a:solidFill>
            <a:prstDash val="solid"/>
          </a:ln>
        </p:spPr>
      </p:sp>
      <p:sp>
        <p:nvSpPr>
          <p:cNvPr id="13" name="Text 11"/>
          <p:cNvSpPr txBox="1"/>
          <p:nvPr/>
        </p:nvSpPr>
        <p:spPr>
          <a:xfrm>
            <a:off x="5029200" y="3977640"/>
            <a:ext cx="3474720" cy="502920"/>
          </a:xfrm>
          <a:prstGeom prst="rect">
            <a:avLst/>
          </a:prstGeom>
          <a:noFill/>
          <a:ln/>
        </p:spPr>
        <p:txBody>
          <a:bodyPr wrap="square" lIns="0" tIns="0" rIns="0" bIns="0" rtlCol="0" anchor="ctr"/>
          <a:lstStyle/>
          <a:p>
            <a:pPr indent="0" marL="0">
              <a:buNone/>
            </a:pPr>
            <a:r>
              <a:rPr lang="en-US" sz="1200" i="1" dirty="0">
                <a:solidFill>
                  <a:srgbClr val="5B6475"/>
                </a:solidFill>
                <a:latin typeface="Calibri" pitchFamily="34" charset="0"/>
                <a:ea typeface="Calibri" pitchFamily="34" charset="-122"/>
                <a:cs typeface="Calibri" pitchFamily="34" charset="-120"/>
              </a:rPr>
              <a:t>El grosor exacto de cada palabra clave depende del navegador.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433"/>
                </a:solidFill>
                <a:latin typeface="Cambria" pitchFamily="34" charset="0"/>
                <a:ea typeface="Cambria" pitchFamily="34" charset="-122"/>
                <a:cs typeface="Cambria" pitchFamily="34" charset="-120"/>
              </a:rPr>
              <a:t>Color: border-color</a:t>
            </a:r>
            <a:endParaRPr lang="en-US" sz="3000" dirty="0"/>
          </a:p>
        </p:txBody>
      </p:sp>
      <p:sp>
        <p:nvSpPr>
          <p:cNvPr id="3" name="Shape 1"/>
          <p:cNvSpPr/>
          <p:nvPr/>
        </p:nvSpPr>
        <p:spPr>
          <a:xfrm>
            <a:off x="457200" y="1188720"/>
            <a:ext cx="3931920" cy="1188720"/>
          </a:xfrm>
          <a:prstGeom prst="roundRect">
            <a:avLst>
              <a:gd name="adj" fmla="val 7692"/>
            </a:avLst>
          </a:prstGeom>
          <a:solidFill>
            <a:srgbClr val="2C3347"/>
          </a:solidFill>
          <a:ln w="12700">
            <a:solidFill>
              <a:srgbClr val="2C3347"/>
            </a:solidFill>
            <a:prstDash val="solid"/>
          </a:ln>
        </p:spPr>
      </p:sp>
      <p:sp>
        <p:nvSpPr>
          <p:cNvPr id="4" name="Text 2"/>
          <p:cNvSpPr txBox="1"/>
          <p:nvPr/>
        </p:nvSpPr>
        <p:spPr>
          <a:xfrm>
            <a:off x="640080" y="1325880"/>
            <a:ext cx="3566160" cy="914400"/>
          </a:xfrm>
          <a:prstGeom prst="rect">
            <a:avLst/>
          </a:prstGeom>
          <a:noFill/>
          <a:ln/>
        </p:spPr>
        <p:txBody>
          <a:bodyPr wrap="square" lIns="0" tIns="0" rIns="0" bIns="0" rtlCol="0" anchor="t"/>
          <a:lstStyle/>
          <a:p>
            <a:pPr indent="0" marL="0">
              <a:buNone/>
            </a:pPr>
            <a:r>
              <a:rPr lang="en-US" sz="1400" dirty="0">
                <a:solidFill>
                  <a:srgbClr val="E8ECF3"/>
                </a:solidFill>
                <a:latin typeface="Courier New" pitchFamily="34" charset="0"/>
                <a:ea typeface="Courier New" pitchFamily="34" charset="-122"/>
                <a:cs typeface="Courier New" pitchFamily="34" charset="-120"/>
              </a:rPr>
              <a:t>border-color: #E07A2F;</a:t>
            </a:r>
            <a:endParaRPr lang="en-US" sz="1400" dirty="0"/>
          </a:p>
          <a:p>
            <a:pPr indent="0" marL="0">
              <a:buNone/>
            </a:pPr>
            <a:r>
              <a:rPr lang="en-US" sz="1400" dirty="0">
                <a:solidFill>
                  <a:srgbClr val="E8ECF3"/>
                </a:solidFill>
                <a:latin typeface="Courier New" pitchFamily="34" charset="0"/>
                <a:ea typeface="Courier New" pitchFamily="34" charset="-122"/>
                <a:cs typeface="Courier New" pitchFamily="34" charset="-120"/>
              </a:rPr>
              <a:t>border-left-color: transparent;</a:t>
            </a:r>
            <a:endParaRPr lang="en-US" sz="1400" dirty="0"/>
          </a:p>
        </p:txBody>
      </p:sp>
      <p:sp>
        <p:nvSpPr>
          <p:cNvPr id="5" name="Text 3"/>
          <p:cNvSpPr txBox="1"/>
          <p:nvPr/>
        </p:nvSpPr>
        <p:spPr>
          <a:xfrm>
            <a:off x="457200" y="2606040"/>
            <a:ext cx="3931920" cy="201168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rgbClr val="1F2433"/>
                </a:solidFill>
                <a:latin typeface="Calibri" pitchFamily="34" charset="0"/>
                <a:ea typeface="Calibri" pitchFamily="34" charset="-122"/>
                <a:cs typeface="Calibri" pitchFamily="34" charset="-120"/>
              </a:rPr>
              <a:t>Valores: </a:t>
            </a:r>
            <a:r>
              <a:rPr lang="en-US" sz="1500" dirty="0">
                <a:solidFill>
                  <a:srgbClr val="1F2433"/>
                </a:solidFill>
                <a:latin typeface="Calibri" pitchFamily="34" charset="0"/>
                <a:ea typeface="Calibri" pitchFamily="34" charset="-122"/>
                <a:cs typeface="Calibri" pitchFamily="34" charset="-120"/>
              </a:rPr>
              <a:t>cualquier color (nombre, HEX, RGB, HSL) o transparent</a:t>
            </a:r>
            <a:endParaRPr lang="en-US" sz="1500" dirty="0"/>
          </a:p>
          <a:p>
            <a:pPr marL="342900" indent="-342900">
              <a:spcAft>
                <a:spcPts val="800"/>
              </a:spcAft>
              <a:buSzPct val="100000"/>
              <a:buChar char="•"/>
            </a:pPr>
            <a:r>
              <a:rPr lang="en-US" sz="1500" b="1" dirty="0">
                <a:solidFill>
                  <a:srgbClr val="1F2433"/>
                </a:solidFill>
                <a:latin typeface="Courier New" pitchFamily="34" charset="0"/>
                <a:ea typeface="Courier New" pitchFamily="34" charset="-122"/>
                <a:cs typeface="Courier New" pitchFamily="34" charset="-120"/>
              </a:rPr>
              <a:t>transparent </a:t>
            </a:r>
            <a:r>
              <a:rPr lang="en-US" sz="1500" dirty="0">
                <a:solidFill>
                  <a:srgbClr val="1F2433"/>
                </a:solidFill>
                <a:latin typeface="Calibri" pitchFamily="34" charset="0"/>
                <a:ea typeface="Calibri" pitchFamily="34" charset="-122"/>
                <a:cs typeface="Calibri" pitchFamily="34" charset="-120"/>
              </a:rPr>
              <a:t>mantiene el grosor pero no se ve</a:t>
            </a:r>
            <a:endParaRPr lang="en-US" sz="1500" dirty="0"/>
          </a:p>
          <a:p>
            <a:pPr marL="342900" indent="-342900">
              <a:spcAft>
                <a:spcPts val="800"/>
              </a:spcAft>
              <a:buSzPct val="100000"/>
              <a:buChar char="•"/>
            </a:pPr>
            <a:r>
              <a:rPr lang="en-US" sz="1500" b="1" dirty="0">
                <a:solidFill>
                  <a:srgbClr val="1F2433"/>
                </a:solidFill>
                <a:latin typeface="Calibri" pitchFamily="34" charset="0"/>
                <a:ea typeface="Calibri" pitchFamily="34" charset="-122"/>
                <a:cs typeface="Calibri" pitchFamily="34" charset="-120"/>
              </a:rPr>
              <a:t>Valor por defecto: </a:t>
            </a:r>
            <a:r>
              <a:rPr lang="en-US" sz="1500" dirty="0">
                <a:solidFill>
                  <a:srgbClr val="1F2433"/>
                </a:solidFill>
                <a:latin typeface="Calibri" pitchFamily="34" charset="0"/>
                <a:ea typeface="Calibri" pitchFamily="34" charset="-122"/>
                <a:cs typeface="Calibri" pitchFamily="34" charset="-120"/>
              </a:rPr>
              <a:t>el color del texto del elemento (currentColor)</a:t>
            </a:r>
            <a:endParaRPr lang="en-US" sz="1500" dirty="0"/>
          </a:p>
        </p:txBody>
      </p:sp>
      <p:sp>
        <p:nvSpPr>
          <p:cNvPr id="6" name="Shape 4"/>
          <p:cNvSpPr/>
          <p:nvPr/>
        </p:nvSpPr>
        <p:spPr>
          <a:xfrm>
            <a:off x="4754880" y="1188720"/>
            <a:ext cx="3931920" cy="3383280"/>
          </a:xfrm>
          <a:prstGeom prst="roundRect">
            <a:avLst>
              <a:gd name="adj" fmla="val 2703"/>
            </a:avLst>
          </a:prstGeom>
          <a:solidFill>
            <a:srgbClr val="EEF1F6"/>
          </a:solidFill>
          <a:ln w="12700">
            <a:solidFill>
              <a:srgbClr val="EEF1F6"/>
            </a:solidFill>
            <a:prstDash val="solid"/>
          </a:ln>
        </p:spPr>
      </p:sp>
      <p:sp>
        <p:nvSpPr>
          <p:cNvPr id="7" name="Shape 5"/>
          <p:cNvSpPr/>
          <p:nvPr/>
        </p:nvSpPr>
        <p:spPr>
          <a:xfrm>
            <a:off x="5669280" y="1737360"/>
            <a:ext cx="2103120" cy="1737360"/>
          </a:xfrm>
          <a:prstGeom prst="rect">
            <a:avLst/>
          </a:prstGeom>
          <a:solidFill>
            <a:srgbClr val="FFFFFF"/>
          </a:solidFill>
          <a:ln w="12700">
            <a:solidFill>
              <a:srgbClr val="FFFFFF"/>
            </a:solidFill>
            <a:prstDash val="solid"/>
          </a:ln>
        </p:spPr>
      </p:sp>
      <p:sp>
        <p:nvSpPr>
          <p:cNvPr id="8" name="Shape 6"/>
          <p:cNvSpPr/>
          <p:nvPr/>
        </p:nvSpPr>
        <p:spPr>
          <a:xfrm>
            <a:off x="5669280" y="1737360"/>
            <a:ext cx="2103120" cy="0"/>
          </a:xfrm>
          <a:prstGeom prst="line">
            <a:avLst/>
          </a:prstGeom>
          <a:noFill/>
          <a:ln w="101600">
            <a:solidFill>
              <a:srgbClr val="E07A2F"/>
            </a:solidFill>
            <a:prstDash val="solid"/>
          </a:ln>
        </p:spPr>
      </p:sp>
      <p:sp>
        <p:nvSpPr>
          <p:cNvPr id="9" name="Shape 7"/>
          <p:cNvSpPr/>
          <p:nvPr/>
        </p:nvSpPr>
        <p:spPr>
          <a:xfrm>
            <a:off x="7772400" y="1737360"/>
            <a:ext cx="0" cy="1737360"/>
          </a:xfrm>
          <a:prstGeom prst="line">
            <a:avLst/>
          </a:prstGeom>
          <a:noFill/>
          <a:ln w="101600">
            <a:solidFill>
              <a:srgbClr val="2E86AB"/>
            </a:solidFill>
            <a:prstDash val="solid"/>
          </a:ln>
        </p:spPr>
      </p:sp>
      <p:sp>
        <p:nvSpPr>
          <p:cNvPr id="10" name="Shape 8"/>
          <p:cNvSpPr/>
          <p:nvPr/>
        </p:nvSpPr>
        <p:spPr>
          <a:xfrm>
            <a:off x="5669280" y="3474720"/>
            <a:ext cx="2103120" cy="0"/>
          </a:xfrm>
          <a:prstGeom prst="line">
            <a:avLst/>
          </a:prstGeom>
          <a:noFill/>
          <a:ln w="101600">
            <a:solidFill>
              <a:srgbClr val="B3261E"/>
            </a:solidFill>
            <a:prstDash val="solid"/>
          </a:ln>
        </p:spPr>
      </p:sp>
      <p:sp>
        <p:nvSpPr>
          <p:cNvPr id="11" name="Shape 9"/>
          <p:cNvSpPr/>
          <p:nvPr/>
        </p:nvSpPr>
        <p:spPr>
          <a:xfrm>
            <a:off x="5669280" y="1737360"/>
            <a:ext cx="0" cy="1737360"/>
          </a:xfrm>
          <a:prstGeom prst="line">
            <a:avLst/>
          </a:prstGeom>
          <a:noFill/>
          <a:ln w="101600">
            <a:solidFill>
              <a:srgbClr val="3D8B37"/>
            </a:solidFill>
            <a:prstDash val="solid"/>
          </a:ln>
        </p:spPr>
      </p:sp>
      <p:sp>
        <p:nvSpPr>
          <p:cNvPr id="12" name="Text 10"/>
          <p:cNvSpPr txBox="1"/>
          <p:nvPr/>
        </p:nvSpPr>
        <p:spPr>
          <a:xfrm>
            <a:off x="5669280" y="1737360"/>
            <a:ext cx="2103120" cy="1737360"/>
          </a:xfrm>
          <a:prstGeom prst="rect">
            <a:avLst/>
          </a:prstGeom>
          <a:noFill/>
          <a:ln/>
        </p:spPr>
        <p:txBody>
          <a:bodyPr wrap="square" lIns="0" tIns="0" rIns="0" bIns="0" rtlCol="0" anchor="ctr"/>
          <a:lstStyle/>
          <a:p>
            <a:pPr algn="ctr" indent="0" marL="0">
              <a:buNone/>
            </a:pPr>
            <a:r>
              <a:rPr lang="en-US" sz="1100" dirty="0">
                <a:solidFill>
                  <a:srgbClr val="1F2433"/>
                </a:solidFill>
                <a:latin typeface="Courier New" pitchFamily="34" charset="0"/>
                <a:ea typeface="Courier New" pitchFamily="34" charset="-122"/>
                <a:cs typeface="Courier New" pitchFamily="34" charset="-120"/>
              </a:rPr>
              <a:t>border-color:</a:t>
            </a:r>
            <a:endParaRPr lang="en-US" sz="1100" dirty="0"/>
          </a:p>
          <a:p>
            <a:pPr algn="ctr" indent="0" marL="0">
              <a:buNone/>
            </a:pPr>
            <a:r>
              <a:rPr lang="en-US" sz="1100" dirty="0">
                <a:solidFill>
                  <a:srgbClr val="1F2433"/>
                </a:solidFill>
                <a:latin typeface="Courier New" pitchFamily="34" charset="0"/>
                <a:ea typeface="Courier New" pitchFamily="34" charset="-122"/>
                <a:cs typeface="Courier New" pitchFamily="34" charset="-120"/>
              </a:rPr>
              <a:t>orange blue</a:t>
            </a:r>
            <a:endParaRPr lang="en-US" sz="1100" dirty="0"/>
          </a:p>
          <a:p>
            <a:pPr algn="ctr" indent="0" marL="0">
              <a:buNone/>
            </a:pPr>
            <a:r>
              <a:rPr lang="en-US" sz="1100" dirty="0">
                <a:solidFill>
                  <a:srgbClr val="1F2433"/>
                </a:solidFill>
                <a:latin typeface="Courier New" pitchFamily="34" charset="0"/>
                <a:ea typeface="Courier New" pitchFamily="34" charset="-122"/>
                <a:cs typeface="Courier New" pitchFamily="34" charset="-120"/>
              </a:rPr>
              <a:t>red green;</a:t>
            </a:r>
            <a:endParaRPr lang="en-US" sz="1100" dirty="0"/>
          </a:p>
        </p:txBody>
      </p:sp>
      <p:sp>
        <p:nvSpPr>
          <p:cNvPr id="13" name="Text 11"/>
          <p:cNvSpPr txBox="1"/>
          <p:nvPr/>
        </p:nvSpPr>
        <p:spPr>
          <a:xfrm>
            <a:off x="4937760" y="3749040"/>
            <a:ext cx="3566160" cy="548640"/>
          </a:xfrm>
          <a:prstGeom prst="rect">
            <a:avLst/>
          </a:prstGeom>
          <a:noFill/>
          <a:ln/>
        </p:spPr>
        <p:txBody>
          <a:bodyPr wrap="square" lIns="0" tIns="0" rIns="0" bIns="0" rtlCol="0" anchor="ctr"/>
          <a:lstStyle/>
          <a:p>
            <a:pPr algn="ctr" indent="0" marL="0">
              <a:buNone/>
            </a:pPr>
            <a:r>
              <a:rPr lang="en-US" sz="1300" dirty="0">
                <a:solidFill>
                  <a:srgbClr val="5B6475"/>
                </a:solidFill>
                <a:latin typeface="Calibri" pitchFamily="34" charset="0"/>
                <a:ea typeface="Calibri" pitchFamily="34" charset="-122"/>
                <a:cs typeface="Calibri" pitchFamily="34" charset="-120"/>
              </a:rPr>
              <a:t>Con 4 valores: arriba, derecha, abajo, izquierda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433"/>
                </a:solidFill>
                <a:latin typeface="Cambria" pitchFamily="34" charset="0"/>
                <a:ea typeface="Cambria" pitchFamily="34" charset="-122"/>
                <a:cs typeface="Cambria" pitchFamily="34" charset="-120"/>
              </a:rPr>
              <a:t>Estilo: border-style</a:t>
            </a:r>
            <a:endParaRPr lang="en-US" sz="3000" dirty="0"/>
          </a:p>
        </p:txBody>
      </p:sp>
      <p:sp>
        <p:nvSpPr>
          <p:cNvPr id="3" name="Shape 1"/>
          <p:cNvSpPr/>
          <p:nvPr/>
        </p:nvSpPr>
        <p:spPr>
          <a:xfrm>
            <a:off x="457200" y="1188720"/>
            <a:ext cx="1920240" cy="1371600"/>
          </a:xfrm>
          <a:prstGeom prst="roundRect">
            <a:avLst>
              <a:gd name="adj" fmla="val 6667"/>
            </a:avLst>
          </a:prstGeom>
          <a:solidFill>
            <a:srgbClr val="EEF1F6"/>
          </a:solidFill>
          <a:ln w="12700">
            <a:solidFill>
              <a:srgbClr val="EEF1F6"/>
            </a:solidFill>
            <a:prstDash val="solid"/>
          </a:ln>
        </p:spPr>
      </p:sp>
      <p:sp>
        <p:nvSpPr>
          <p:cNvPr id="4" name="Shape 2"/>
          <p:cNvSpPr/>
          <p:nvPr/>
        </p:nvSpPr>
        <p:spPr>
          <a:xfrm>
            <a:off x="777240" y="1371600"/>
            <a:ext cx="1280160" cy="685800"/>
          </a:xfrm>
          <a:prstGeom prst="rect">
            <a:avLst/>
          </a:prstGeom>
          <a:solidFill>
            <a:srgbClr val="FFFFFF"/>
          </a:solidFill>
          <a:ln w="38100">
            <a:solidFill>
              <a:srgbClr val="2C3347"/>
            </a:solidFill>
            <a:prstDash val="solid"/>
          </a:ln>
        </p:spPr>
      </p:sp>
      <p:sp>
        <p:nvSpPr>
          <p:cNvPr id="5" name="Text 3"/>
          <p:cNvSpPr txBox="1"/>
          <p:nvPr/>
        </p:nvSpPr>
        <p:spPr>
          <a:xfrm>
            <a:off x="457200" y="2148840"/>
            <a:ext cx="1920240" cy="320040"/>
          </a:xfrm>
          <a:prstGeom prst="rect">
            <a:avLst/>
          </a:prstGeom>
          <a:noFill/>
          <a:ln/>
        </p:spPr>
        <p:txBody>
          <a:bodyPr wrap="square" lIns="0" tIns="0" rIns="0" bIns="0" rtlCol="0" anchor="ctr"/>
          <a:lstStyle/>
          <a:p>
            <a:pPr algn="ctr" indent="0" marL="0">
              <a:buNone/>
            </a:pPr>
            <a:r>
              <a:rPr lang="en-US" sz="1400" b="1" dirty="0">
                <a:solidFill>
                  <a:srgbClr val="2E86AB"/>
                </a:solidFill>
                <a:latin typeface="Courier New" pitchFamily="34" charset="0"/>
                <a:ea typeface="Courier New" pitchFamily="34" charset="-122"/>
                <a:cs typeface="Courier New" pitchFamily="34" charset="-120"/>
              </a:rPr>
              <a:t>solid</a:t>
            </a:r>
            <a:endParaRPr lang="en-US" sz="1400" dirty="0"/>
          </a:p>
        </p:txBody>
      </p:sp>
      <p:sp>
        <p:nvSpPr>
          <p:cNvPr id="6" name="Shape 4"/>
          <p:cNvSpPr/>
          <p:nvPr/>
        </p:nvSpPr>
        <p:spPr>
          <a:xfrm>
            <a:off x="2560320" y="1188720"/>
            <a:ext cx="1920240" cy="1371600"/>
          </a:xfrm>
          <a:prstGeom prst="roundRect">
            <a:avLst>
              <a:gd name="adj" fmla="val 6667"/>
            </a:avLst>
          </a:prstGeom>
          <a:solidFill>
            <a:srgbClr val="EEF1F6"/>
          </a:solidFill>
          <a:ln w="12700">
            <a:solidFill>
              <a:srgbClr val="EEF1F6"/>
            </a:solidFill>
            <a:prstDash val="solid"/>
          </a:ln>
        </p:spPr>
      </p:sp>
      <p:sp>
        <p:nvSpPr>
          <p:cNvPr id="7" name="Shape 5"/>
          <p:cNvSpPr/>
          <p:nvPr/>
        </p:nvSpPr>
        <p:spPr>
          <a:xfrm>
            <a:off x="2880360" y="1371600"/>
            <a:ext cx="1280160" cy="685800"/>
          </a:xfrm>
          <a:prstGeom prst="rect">
            <a:avLst/>
          </a:prstGeom>
          <a:solidFill>
            <a:srgbClr val="FFFFFF"/>
          </a:solidFill>
          <a:ln w="38100">
            <a:solidFill>
              <a:srgbClr val="2C3347"/>
            </a:solidFill>
            <a:prstDash val="dash"/>
          </a:ln>
        </p:spPr>
      </p:sp>
      <p:sp>
        <p:nvSpPr>
          <p:cNvPr id="8" name="Text 6"/>
          <p:cNvSpPr txBox="1"/>
          <p:nvPr/>
        </p:nvSpPr>
        <p:spPr>
          <a:xfrm>
            <a:off x="2560320" y="2148840"/>
            <a:ext cx="1920240" cy="320040"/>
          </a:xfrm>
          <a:prstGeom prst="rect">
            <a:avLst/>
          </a:prstGeom>
          <a:noFill/>
          <a:ln/>
        </p:spPr>
        <p:txBody>
          <a:bodyPr wrap="square" lIns="0" tIns="0" rIns="0" bIns="0" rtlCol="0" anchor="ctr"/>
          <a:lstStyle/>
          <a:p>
            <a:pPr algn="ctr" indent="0" marL="0">
              <a:buNone/>
            </a:pPr>
            <a:r>
              <a:rPr lang="en-US" sz="1400" b="1" dirty="0">
                <a:solidFill>
                  <a:srgbClr val="2E86AB"/>
                </a:solidFill>
                <a:latin typeface="Courier New" pitchFamily="34" charset="0"/>
                <a:ea typeface="Courier New" pitchFamily="34" charset="-122"/>
                <a:cs typeface="Courier New" pitchFamily="34" charset="-120"/>
              </a:rPr>
              <a:t>dashed</a:t>
            </a:r>
            <a:endParaRPr lang="en-US" sz="1400" dirty="0"/>
          </a:p>
        </p:txBody>
      </p:sp>
      <p:sp>
        <p:nvSpPr>
          <p:cNvPr id="9" name="Shape 7"/>
          <p:cNvSpPr/>
          <p:nvPr/>
        </p:nvSpPr>
        <p:spPr>
          <a:xfrm>
            <a:off x="4663440" y="1188720"/>
            <a:ext cx="1920240" cy="1371600"/>
          </a:xfrm>
          <a:prstGeom prst="roundRect">
            <a:avLst>
              <a:gd name="adj" fmla="val 6667"/>
            </a:avLst>
          </a:prstGeom>
          <a:solidFill>
            <a:srgbClr val="EEF1F6"/>
          </a:solidFill>
          <a:ln w="12700">
            <a:solidFill>
              <a:srgbClr val="EEF1F6"/>
            </a:solidFill>
            <a:prstDash val="solid"/>
          </a:ln>
        </p:spPr>
      </p:sp>
      <p:sp>
        <p:nvSpPr>
          <p:cNvPr id="10" name="Shape 8"/>
          <p:cNvSpPr/>
          <p:nvPr/>
        </p:nvSpPr>
        <p:spPr>
          <a:xfrm>
            <a:off x="4983480" y="1371600"/>
            <a:ext cx="1280160" cy="685800"/>
          </a:xfrm>
          <a:prstGeom prst="rect">
            <a:avLst/>
          </a:prstGeom>
          <a:solidFill>
            <a:srgbClr val="FFFFFF"/>
          </a:solidFill>
          <a:ln w="38100">
            <a:solidFill>
              <a:srgbClr val="2C3347"/>
            </a:solidFill>
            <a:prstDash val="sysDot"/>
          </a:ln>
        </p:spPr>
      </p:sp>
      <p:sp>
        <p:nvSpPr>
          <p:cNvPr id="11" name="Text 9"/>
          <p:cNvSpPr txBox="1"/>
          <p:nvPr/>
        </p:nvSpPr>
        <p:spPr>
          <a:xfrm>
            <a:off x="4663440" y="2148840"/>
            <a:ext cx="1920240" cy="320040"/>
          </a:xfrm>
          <a:prstGeom prst="rect">
            <a:avLst/>
          </a:prstGeom>
          <a:noFill/>
          <a:ln/>
        </p:spPr>
        <p:txBody>
          <a:bodyPr wrap="square" lIns="0" tIns="0" rIns="0" bIns="0" rtlCol="0" anchor="ctr"/>
          <a:lstStyle/>
          <a:p>
            <a:pPr algn="ctr" indent="0" marL="0">
              <a:buNone/>
            </a:pPr>
            <a:r>
              <a:rPr lang="en-US" sz="1400" b="1" dirty="0">
                <a:solidFill>
                  <a:srgbClr val="2E86AB"/>
                </a:solidFill>
                <a:latin typeface="Courier New" pitchFamily="34" charset="0"/>
                <a:ea typeface="Courier New" pitchFamily="34" charset="-122"/>
                <a:cs typeface="Courier New" pitchFamily="34" charset="-120"/>
              </a:rPr>
              <a:t>dotted</a:t>
            </a:r>
            <a:endParaRPr lang="en-US" sz="1400" dirty="0"/>
          </a:p>
        </p:txBody>
      </p:sp>
      <p:sp>
        <p:nvSpPr>
          <p:cNvPr id="12" name="Shape 10"/>
          <p:cNvSpPr/>
          <p:nvPr/>
        </p:nvSpPr>
        <p:spPr>
          <a:xfrm>
            <a:off x="6766560" y="1188720"/>
            <a:ext cx="1920240" cy="1371600"/>
          </a:xfrm>
          <a:prstGeom prst="roundRect">
            <a:avLst>
              <a:gd name="adj" fmla="val 6667"/>
            </a:avLst>
          </a:prstGeom>
          <a:solidFill>
            <a:srgbClr val="EEF1F6"/>
          </a:solidFill>
          <a:ln w="12700">
            <a:solidFill>
              <a:srgbClr val="EEF1F6"/>
            </a:solidFill>
            <a:prstDash val="solid"/>
          </a:ln>
        </p:spPr>
      </p:sp>
      <p:sp>
        <p:nvSpPr>
          <p:cNvPr id="13" name="Shape 11"/>
          <p:cNvSpPr/>
          <p:nvPr/>
        </p:nvSpPr>
        <p:spPr>
          <a:xfrm>
            <a:off x="7086600" y="1371600"/>
            <a:ext cx="1280160" cy="685800"/>
          </a:xfrm>
          <a:prstGeom prst="rect">
            <a:avLst/>
          </a:prstGeom>
          <a:solidFill>
            <a:srgbClr val="FFFFFF"/>
          </a:solidFill>
          <a:ln w="19050">
            <a:solidFill>
              <a:srgbClr val="2C3347"/>
            </a:solidFill>
            <a:prstDash val="solid"/>
          </a:ln>
        </p:spPr>
      </p:sp>
      <p:sp>
        <p:nvSpPr>
          <p:cNvPr id="14" name="Shape 12"/>
          <p:cNvSpPr/>
          <p:nvPr/>
        </p:nvSpPr>
        <p:spPr>
          <a:xfrm>
            <a:off x="7178040" y="1463040"/>
            <a:ext cx="1097280" cy="502920"/>
          </a:xfrm>
          <a:prstGeom prst="rect">
            <a:avLst/>
          </a:prstGeom>
          <a:solidFill>
            <a:srgbClr val="FFFFFF"/>
          </a:solidFill>
          <a:ln w="19050">
            <a:solidFill>
              <a:srgbClr val="2C3347"/>
            </a:solidFill>
            <a:prstDash val="solid"/>
          </a:ln>
        </p:spPr>
      </p:sp>
      <p:sp>
        <p:nvSpPr>
          <p:cNvPr id="15" name="Text 13"/>
          <p:cNvSpPr txBox="1"/>
          <p:nvPr/>
        </p:nvSpPr>
        <p:spPr>
          <a:xfrm>
            <a:off x="6766560" y="2148840"/>
            <a:ext cx="1920240" cy="320040"/>
          </a:xfrm>
          <a:prstGeom prst="rect">
            <a:avLst/>
          </a:prstGeom>
          <a:noFill/>
          <a:ln/>
        </p:spPr>
        <p:txBody>
          <a:bodyPr wrap="square" lIns="0" tIns="0" rIns="0" bIns="0" rtlCol="0" anchor="ctr"/>
          <a:lstStyle/>
          <a:p>
            <a:pPr algn="ctr" indent="0" marL="0">
              <a:buNone/>
            </a:pPr>
            <a:r>
              <a:rPr lang="en-US" sz="1400" b="1" dirty="0">
                <a:solidFill>
                  <a:srgbClr val="2E86AB"/>
                </a:solidFill>
                <a:latin typeface="Courier New" pitchFamily="34" charset="0"/>
                <a:ea typeface="Courier New" pitchFamily="34" charset="-122"/>
                <a:cs typeface="Courier New" pitchFamily="34" charset="-120"/>
              </a:rPr>
              <a:t>double</a:t>
            </a:r>
            <a:endParaRPr lang="en-US" sz="1400" dirty="0"/>
          </a:p>
        </p:txBody>
      </p:sp>
      <p:sp>
        <p:nvSpPr>
          <p:cNvPr id="16" name="Shape 14"/>
          <p:cNvSpPr/>
          <p:nvPr/>
        </p:nvSpPr>
        <p:spPr>
          <a:xfrm>
            <a:off x="457200" y="2788920"/>
            <a:ext cx="1920240" cy="384048"/>
          </a:xfrm>
          <a:prstGeom prst="roundRect">
            <a:avLst>
              <a:gd name="adj" fmla="val 19048"/>
            </a:avLst>
          </a:prstGeom>
          <a:solidFill>
            <a:srgbClr val="2C3347"/>
          </a:solidFill>
          <a:ln w="12700">
            <a:solidFill>
              <a:srgbClr val="2C3347"/>
            </a:solidFill>
            <a:prstDash val="solid"/>
          </a:ln>
        </p:spPr>
      </p:sp>
      <p:sp>
        <p:nvSpPr>
          <p:cNvPr id="17" name="Text 15"/>
          <p:cNvSpPr txBox="1"/>
          <p:nvPr/>
        </p:nvSpPr>
        <p:spPr>
          <a:xfrm>
            <a:off x="457200" y="2788920"/>
            <a:ext cx="19202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groove</a:t>
            </a:r>
            <a:endParaRPr lang="en-US" sz="1300" dirty="0"/>
          </a:p>
        </p:txBody>
      </p:sp>
      <p:sp>
        <p:nvSpPr>
          <p:cNvPr id="18" name="Text 16"/>
          <p:cNvSpPr txBox="1"/>
          <p:nvPr/>
        </p:nvSpPr>
        <p:spPr>
          <a:xfrm>
            <a:off x="457200" y="3200400"/>
            <a:ext cx="1920240" cy="320040"/>
          </a:xfrm>
          <a:prstGeom prst="rect">
            <a:avLst/>
          </a:prstGeom>
          <a:noFill/>
          <a:ln/>
        </p:spPr>
        <p:txBody>
          <a:bodyPr wrap="square" lIns="0" tIns="0" rIns="0" bIns="0" rtlCol="0" anchor="ctr"/>
          <a:lstStyle/>
          <a:p>
            <a:pPr algn="ctr" indent="0" marL="0">
              <a:buNone/>
            </a:pPr>
            <a:r>
              <a:rPr lang="en-US" sz="1300" dirty="0">
                <a:solidFill>
                  <a:srgbClr val="5B6475"/>
                </a:solidFill>
                <a:latin typeface="Calibri" pitchFamily="34" charset="0"/>
                <a:ea typeface="Calibri" pitchFamily="34" charset="-122"/>
                <a:cs typeface="Calibri" pitchFamily="34" charset="-120"/>
              </a:rPr>
              <a:t>hundido, tallado</a:t>
            </a:r>
            <a:endParaRPr lang="en-US" sz="1300" dirty="0"/>
          </a:p>
        </p:txBody>
      </p:sp>
      <p:sp>
        <p:nvSpPr>
          <p:cNvPr id="19" name="Shape 17"/>
          <p:cNvSpPr/>
          <p:nvPr/>
        </p:nvSpPr>
        <p:spPr>
          <a:xfrm>
            <a:off x="2560320" y="2788920"/>
            <a:ext cx="1920240" cy="384048"/>
          </a:xfrm>
          <a:prstGeom prst="roundRect">
            <a:avLst>
              <a:gd name="adj" fmla="val 19048"/>
            </a:avLst>
          </a:prstGeom>
          <a:solidFill>
            <a:srgbClr val="2C3347"/>
          </a:solidFill>
          <a:ln w="12700">
            <a:solidFill>
              <a:srgbClr val="2C3347"/>
            </a:solidFill>
            <a:prstDash val="solid"/>
          </a:ln>
        </p:spPr>
      </p:sp>
      <p:sp>
        <p:nvSpPr>
          <p:cNvPr id="20" name="Text 18"/>
          <p:cNvSpPr txBox="1"/>
          <p:nvPr/>
        </p:nvSpPr>
        <p:spPr>
          <a:xfrm>
            <a:off x="2560320" y="2788920"/>
            <a:ext cx="19202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ridge</a:t>
            </a:r>
            <a:endParaRPr lang="en-US" sz="1300" dirty="0"/>
          </a:p>
        </p:txBody>
      </p:sp>
      <p:sp>
        <p:nvSpPr>
          <p:cNvPr id="21" name="Text 19"/>
          <p:cNvSpPr txBox="1"/>
          <p:nvPr/>
        </p:nvSpPr>
        <p:spPr>
          <a:xfrm>
            <a:off x="2560320" y="3200400"/>
            <a:ext cx="1920240" cy="320040"/>
          </a:xfrm>
          <a:prstGeom prst="rect">
            <a:avLst/>
          </a:prstGeom>
          <a:noFill/>
          <a:ln/>
        </p:spPr>
        <p:txBody>
          <a:bodyPr wrap="square" lIns="0" tIns="0" rIns="0" bIns="0" rtlCol="0" anchor="ctr"/>
          <a:lstStyle/>
          <a:p>
            <a:pPr algn="ctr" indent="0" marL="0">
              <a:buNone/>
            </a:pPr>
            <a:r>
              <a:rPr lang="en-US" sz="1300" dirty="0">
                <a:solidFill>
                  <a:srgbClr val="5B6475"/>
                </a:solidFill>
                <a:latin typeface="Calibri" pitchFamily="34" charset="0"/>
                <a:ea typeface="Calibri" pitchFamily="34" charset="-122"/>
                <a:cs typeface="Calibri" pitchFamily="34" charset="-120"/>
              </a:rPr>
              <a:t>en relieve</a:t>
            </a:r>
            <a:endParaRPr lang="en-US" sz="1300" dirty="0"/>
          </a:p>
        </p:txBody>
      </p:sp>
      <p:sp>
        <p:nvSpPr>
          <p:cNvPr id="22" name="Shape 20"/>
          <p:cNvSpPr/>
          <p:nvPr/>
        </p:nvSpPr>
        <p:spPr>
          <a:xfrm>
            <a:off x="4663440" y="2788920"/>
            <a:ext cx="1920240" cy="384048"/>
          </a:xfrm>
          <a:prstGeom prst="roundRect">
            <a:avLst>
              <a:gd name="adj" fmla="val 19048"/>
            </a:avLst>
          </a:prstGeom>
          <a:solidFill>
            <a:srgbClr val="2C3347"/>
          </a:solidFill>
          <a:ln w="12700">
            <a:solidFill>
              <a:srgbClr val="2C3347"/>
            </a:solidFill>
            <a:prstDash val="solid"/>
          </a:ln>
        </p:spPr>
      </p:sp>
      <p:sp>
        <p:nvSpPr>
          <p:cNvPr id="23" name="Text 21"/>
          <p:cNvSpPr txBox="1"/>
          <p:nvPr/>
        </p:nvSpPr>
        <p:spPr>
          <a:xfrm>
            <a:off x="4663440" y="2788920"/>
            <a:ext cx="19202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inset</a:t>
            </a:r>
            <a:endParaRPr lang="en-US" sz="1300" dirty="0"/>
          </a:p>
        </p:txBody>
      </p:sp>
      <p:sp>
        <p:nvSpPr>
          <p:cNvPr id="24" name="Text 22"/>
          <p:cNvSpPr txBox="1"/>
          <p:nvPr/>
        </p:nvSpPr>
        <p:spPr>
          <a:xfrm>
            <a:off x="4663440" y="3200400"/>
            <a:ext cx="1920240" cy="320040"/>
          </a:xfrm>
          <a:prstGeom prst="rect">
            <a:avLst/>
          </a:prstGeom>
          <a:noFill/>
          <a:ln/>
        </p:spPr>
        <p:txBody>
          <a:bodyPr wrap="square" lIns="0" tIns="0" rIns="0" bIns="0" rtlCol="0" anchor="ctr"/>
          <a:lstStyle/>
          <a:p>
            <a:pPr algn="ctr" indent="0" marL="0">
              <a:buNone/>
            </a:pPr>
            <a:r>
              <a:rPr lang="en-US" sz="1300" dirty="0">
                <a:solidFill>
                  <a:srgbClr val="5B6475"/>
                </a:solidFill>
                <a:latin typeface="Calibri" pitchFamily="34" charset="0"/>
                <a:ea typeface="Calibri" pitchFamily="34" charset="-122"/>
                <a:cs typeface="Calibri" pitchFamily="34" charset="-120"/>
              </a:rPr>
              <a:t>caja hundida</a:t>
            </a:r>
            <a:endParaRPr lang="en-US" sz="1300" dirty="0"/>
          </a:p>
        </p:txBody>
      </p:sp>
      <p:sp>
        <p:nvSpPr>
          <p:cNvPr id="25" name="Shape 23"/>
          <p:cNvSpPr/>
          <p:nvPr/>
        </p:nvSpPr>
        <p:spPr>
          <a:xfrm>
            <a:off x="6766560" y="2788920"/>
            <a:ext cx="1920240" cy="384048"/>
          </a:xfrm>
          <a:prstGeom prst="roundRect">
            <a:avLst>
              <a:gd name="adj" fmla="val 19048"/>
            </a:avLst>
          </a:prstGeom>
          <a:solidFill>
            <a:srgbClr val="2C3347"/>
          </a:solidFill>
          <a:ln w="12700">
            <a:solidFill>
              <a:srgbClr val="2C3347"/>
            </a:solidFill>
            <a:prstDash val="solid"/>
          </a:ln>
        </p:spPr>
      </p:sp>
      <p:sp>
        <p:nvSpPr>
          <p:cNvPr id="26" name="Text 24"/>
          <p:cNvSpPr txBox="1"/>
          <p:nvPr/>
        </p:nvSpPr>
        <p:spPr>
          <a:xfrm>
            <a:off x="6766560" y="2788920"/>
            <a:ext cx="19202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outset</a:t>
            </a:r>
            <a:endParaRPr lang="en-US" sz="1300" dirty="0"/>
          </a:p>
        </p:txBody>
      </p:sp>
      <p:sp>
        <p:nvSpPr>
          <p:cNvPr id="27" name="Text 25"/>
          <p:cNvSpPr txBox="1"/>
          <p:nvPr/>
        </p:nvSpPr>
        <p:spPr>
          <a:xfrm>
            <a:off x="6766560" y="3200400"/>
            <a:ext cx="1920240" cy="320040"/>
          </a:xfrm>
          <a:prstGeom prst="rect">
            <a:avLst/>
          </a:prstGeom>
          <a:noFill/>
          <a:ln/>
        </p:spPr>
        <p:txBody>
          <a:bodyPr wrap="square" lIns="0" tIns="0" rIns="0" bIns="0" rtlCol="0" anchor="ctr"/>
          <a:lstStyle/>
          <a:p>
            <a:pPr algn="ctr" indent="0" marL="0">
              <a:buNone/>
            </a:pPr>
            <a:r>
              <a:rPr lang="en-US" sz="1300" dirty="0">
                <a:solidFill>
                  <a:srgbClr val="5B6475"/>
                </a:solidFill>
                <a:latin typeface="Calibri" pitchFamily="34" charset="0"/>
                <a:ea typeface="Calibri" pitchFamily="34" charset="-122"/>
                <a:cs typeface="Calibri" pitchFamily="34" charset="-120"/>
              </a:rPr>
              <a:t>caja en relieve</a:t>
            </a:r>
            <a:endParaRPr lang="en-US" sz="1300" dirty="0"/>
          </a:p>
        </p:txBody>
      </p:sp>
      <p:sp>
        <p:nvSpPr>
          <p:cNvPr id="28" name="Shape 26"/>
          <p:cNvSpPr/>
          <p:nvPr/>
        </p:nvSpPr>
        <p:spPr>
          <a:xfrm>
            <a:off x="457200" y="3749040"/>
            <a:ext cx="8229600" cy="868680"/>
          </a:xfrm>
          <a:prstGeom prst="roundRect">
            <a:avLst>
              <a:gd name="adj" fmla="val 10526"/>
            </a:avLst>
          </a:prstGeom>
          <a:solidFill>
            <a:srgbClr val="FBE9DB"/>
          </a:solidFill>
          <a:ln w="12700">
            <a:solidFill>
              <a:srgbClr val="FBE9DB"/>
            </a:solidFill>
            <a:prstDash val="solid"/>
          </a:ln>
        </p:spPr>
      </p:sp>
      <p:sp>
        <p:nvSpPr>
          <p:cNvPr id="29" name="Text 27"/>
          <p:cNvSpPr txBox="1"/>
          <p:nvPr/>
        </p:nvSpPr>
        <p:spPr>
          <a:xfrm>
            <a:off x="685800" y="3749040"/>
            <a:ext cx="7772400" cy="868680"/>
          </a:xfrm>
          <a:prstGeom prst="rect">
            <a:avLst/>
          </a:prstGeom>
          <a:noFill/>
          <a:ln/>
        </p:spPr>
        <p:txBody>
          <a:bodyPr wrap="square" lIns="0" tIns="0" rIns="0" bIns="0" rtlCol="0" anchor="ctr"/>
          <a:lstStyle/>
          <a:p>
            <a:pPr indent="0" marL="0">
              <a:buNone/>
            </a:pPr>
            <a:r>
              <a:rPr lang="en-US" sz="1500" b="1" dirty="0">
                <a:solidFill>
                  <a:srgbClr val="1F2433"/>
                </a:solidFill>
                <a:latin typeface="Courier New" pitchFamily="34" charset="0"/>
                <a:ea typeface="Courier New" pitchFamily="34" charset="-122"/>
                <a:cs typeface="Courier New" pitchFamily="34" charset="-120"/>
              </a:rPr>
              <a:t>none </a:t>
            </a:r>
            <a:r>
              <a:rPr lang="en-US" sz="1500" dirty="0">
                <a:solidFill>
                  <a:srgbClr val="1F2433"/>
                </a:solidFill>
                <a:latin typeface="Calibri" pitchFamily="34" charset="0"/>
                <a:ea typeface="Calibri" pitchFamily="34" charset="-122"/>
                <a:cs typeface="Calibri" pitchFamily="34" charset="-120"/>
              </a:rPr>
              <a:t>(por defecto) y </a:t>
            </a:r>
            <a:r>
              <a:rPr lang="en-US" sz="1500" b="1" dirty="0">
                <a:solidFill>
                  <a:srgbClr val="1F2433"/>
                </a:solidFill>
                <a:latin typeface="Courier New" pitchFamily="34" charset="0"/>
                <a:ea typeface="Courier New" pitchFamily="34" charset="-122"/>
                <a:cs typeface="Courier New" pitchFamily="34" charset="-120"/>
              </a:rPr>
              <a:t>hidden </a:t>
            </a:r>
            <a:r>
              <a:rPr lang="en-US" sz="1500" dirty="0">
                <a:solidFill>
                  <a:srgbClr val="1F2433"/>
                </a:solidFill>
                <a:latin typeface="Calibri" pitchFamily="34" charset="0"/>
                <a:ea typeface="Calibri" pitchFamily="34" charset="-122"/>
                <a:cs typeface="Calibri" pitchFamily="34" charset="-120"/>
              </a:rPr>
              <a:t>no muestran borde. Solo se admiten estas palabras reservadas.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433"/>
                </a:solidFill>
                <a:latin typeface="Cambria" pitchFamily="34" charset="0"/>
                <a:ea typeface="Cambria" pitchFamily="34" charset="-122"/>
                <a:cs typeface="Cambria" pitchFamily="34" charset="-120"/>
              </a:rPr>
              <a:t>Sin estilo no hay borde</a:t>
            </a:r>
            <a:endParaRPr lang="en-US" sz="3000" dirty="0"/>
          </a:p>
        </p:txBody>
      </p:sp>
      <p:sp>
        <p:nvSpPr>
          <p:cNvPr id="3" name="Shape 1"/>
          <p:cNvSpPr/>
          <p:nvPr/>
        </p:nvSpPr>
        <p:spPr>
          <a:xfrm>
            <a:off x="457200" y="1280160"/>
            <a:ext cx="411480" cy="411480"/>
          </a:xfrm>
          <a:prstGeom prst="roundRect">
            <a:avLst>
              <a:gd name="adj" fmla="val 17778"/>
            </a:avLst>
          </a:prstGeom>
          <a:solidFill>
            <a:srgbClr val="B3261E"/>
          </a:solidFill>
          <a:ln w="12700">
            <a:solidFill>
              <a:srgbClr val="B3261E"/>
            </a:solidFill>
            <a:prstDash val="solid"/>
          </a:ln>
        </p:spPr>
      </p:sp>
      <p:sp>
        <p:nvSpPr>
          <p:cNvPr id="4" name="Text 2"/>
          <p:cNvSpPr txBox="1"/>
          <p:nvPr/>
        </p:nvSpPr>
        <p:spPr>
          <a:xfrm>
            <a:off x="45720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a:t>
            </a:r>
            <a:endParaRPr lang="en-US" sz="1600" dirty="0"/>
          </a:p>
        </p:txBody>
      </p:sp>
      <p:sp>
        <p:nvSpPr>
          <p:cNvPr id="5" name="Shape 3"/>
          <p:cNvSpPr/>
          <p:nvPr/>
        </p:nvSpPr>
        <p:spPr>
          <a:xfrm>
            <a:off x="1005840" y="1188720"/>
            <a:ext cx="3383280" cy="1188720"/>
          </a:xfrm>
          <a:prstGeom prst="roundRect">
            <a:avLst>
              <a:gd name="adj" fmla="val 7692"/>
            </a:avLst>
          </a:prstGeom>
          <a:solidFill>
            <a:srgbClr val="2C3347"/>
          </a:solidFill>
          <a:ln w="12700">
            <a:solidFill>
              <a:srgbClr val="2C3347"/>
            </a:solidFill>
            <a:prstDash val="solid"/>
          </a:ln>
        </p:spPr>
      </p:sp>
      <p:sp>
        <p:nvSpPr>
          <p:cNvPr id="6" name="Text 4"/>
          <p:cNvSpPr txBox="1"/>
          <p:nvPr/>
        </p:nvSpPr>
        <p:spPr>
          <a:xfrm>
            <a:off x="1188720" y="1325880"/>
            <a:ext cx="3017520" cy="914400"/>
          </a:xfrm>
          <a:prstGeom prst="rect">
            <a:avLst/>
          </a:prstGeom>
          <a:noFill/>
          <a:ln/>
        </p:spPr>
        <p:txBody>
          <a:bodyPr wrap="square" lIns="0" tIns="0" rIns="0" bIns="0" rtlCol="0" anchor="t"/>
          <a:lstStyle/>
          <a:p>
            <a:pPr indent="0" marL="0">
              <a:buNone/>
            </a:pPr>
            <a:r>
              <a:rPr lang="en-US" sz="1400" dirty="0">
                <a:solidFill>
                  <a:srgbClr val="E8ECF3"/>
                </a:solidFill>
                <a:latin typeface="Courier New" pitchFamily="34" charset="0"/>
                <a:ea typeface="Courier New" pitchFamily="34" charset="-122"/>
                <a:cs typeface="Courier New" pitchFamily="34" charset="-120"/>
              </a:rPr>
              <a:t>.caja {</a:t>
            </a:r>
            <a:endParaRPr lang="en-US" sz="1400" dirty="0"/>
          </a:p>
          <a:p>
            <a:pPr indent="0" marL="0">
              <a:buNone/>
            </a:pPr>
            <a:r>
              <a:rPr lang="en-US" sz="1400" dirty="0">
                <a:solidFill>
                  <a:srgbClr val="E8ECF3"/>
                </a:solidFill>
                <a:latin typeface="Courier New" pitchFamily="34" charset="0"/>
                <a:ea typeface="Courier New" pitchFamily="34" charset="-122"/>
                <a:cs typeface="Courier New" pitchFamily="34" charset="-120"/>
              </a:rPr>
              <a:t>  border-width: 3px;</a:t>
            </a:r>
            <a:endParaRPr lang="en-US" sz="1400" dirty="0"/>
          </a:p>
          <a:p>
            <a:pPr indent="0" marL="0">
              <a:buNone/>
            </a:pPr>
            <a:r>
              <a:rPr lang="en-US" sz="1400" dirty="0">
                <a:solidFill>
                  <a:srgbClr val="E8ECF3"/>
                </a:solidFill>
                <a:latin typeface="Courier New" pitchFamily="34" charset="0"/>
                <a:ea typeface="Courier New" pitchFamily="34" charset="-122"/>
                <a:cs typeface="Courier New" pitchFamily="34" charset="-120"/>
              </a:rPr>
              <a:t>  border-color: red;</a:t>
            </a:r>
            <a:endParaRPr lang="en-US" sz="1400" dirty="0"/>
          </a:p>
          <a:p>
            <a:pPr indent="0" marL="0">
              <a:buNone/>
            </a:pPr>
            <a:r>
              <a:rPr lang="en-US" sz="1400" dirty="0">
                <a:solidFill>
                  <a:srgbClr val="E8ECF3"/>
                </a:solidFill>
                <a:latin typeface="Courier New" pitchFamily="34" charset="0"/>
                <a:ea typeface="Courier New" pitchFamily="34" charset="-122"/>
                <a:cs typeface="Courier New" pitchFamily="34" charset="-120"/>
              </a:rPr>
              <a:t>}</a:t>
            </a:r>
            <a:endParaRPr lang="en-US" sz="1400" dirty="0"/>
          </a:p>
        </p:txBody>
      </p:sp>
      <p:sp>
        <p:nvSpPr>
          <p:cNvPr id="7" name="Shape 5"/>
          <p:cNvSpPr/>
          <p:nvPr/>
        </p:nvSpPr>
        <p:spPr>
          <a:xfrm>
            <a:off x="1005840" y="2606040"/>
            <a:ext cx="3383280" cy="822960"/>
          </a:xfrm>
          <a:prstGeom prst="rect">
            <a:avLst/>
          </a:prstGeom>
          <a:solidFill>
            <a:srgbClr val="EEF1F6"/>
          </a:solidFill>
          <a:ln w="12700">
            <a:solidFill>
              <a:srgbClr val="EEF1F6"/>
            </a:solidFill>
            <a:prstDash val="solid"/>
          </a:ln>
        </p:spPr>
      </p:sp>
      <p:sp>
        <p:nvSpPr>
          <p:cNvPr id="8" name="Text 6"/>
          <p:cNvSpPr txBox="1"/>
          <p:nvPr/>
        </p:nvSpPr>
        <p:spPr>
          <a:xfrm>
            <a:off x="1005840" y="2606040"/>
            <a:ext cx="3383280" cy="822960"/>
          </a:xfrm>
          <a:prstGeom prst="rect">
            <a:avLst/>
          </a:prstGeom>
          <a:noFill/>
          <a:ln/>
        </p:spPr>
        <p:txBody>
          <a:bodyPr wrap="square" lIns="0" tIns="0" rIns="0" bIns="0" rtlCol="0" anchor="ctr"/>
          <a:lstStyle/>
          <a:p>
            <a:pPr algn="ctr" indent="0" marL="0">
              <a:buNone/>
            </a:pPr>
            <a:r>
              <a:rPr lang="en-US" sz="1400" i="1" dirty="0">
                <a:solidFill>
                  <a:srgbClr val="5B6475"/>
                </a:solidFill>
                <a:latin typeface="Calibri" pitchFamily="34" charset="0"/>
                <a:ea typeface="Calibri" pitchFamily="34" charset="-122"/>
                <a:cs typeface="Calibri" pitchFamily="34" charset="-120"/>
              </a:rPr>
              <a:t>No se ve ningún borde</a:t>
            </a:r>
            <a:endParaRPr lang="en-US" sz="1400" dirty="0"/>
          </a:p>
        </p:txBody>
      </p:sp>
      <p:sp>
        <p:nvSpPr>
          <p:cNvPr id="9" name="Shape 7"/>
          <p:cNvSpPr/>
          <p:nvPr/>
        </p:nvSpPr>
        <p:spPr>
          <a:xfrm>
            <a:off x="4754880" y="1280160"/>
            <a:ext cx="411480" cy="411480"/>
          </a:xfrm>
          <a:prstGeom prst="roundRect">
            <a:avLst>
              <a:gd name="adj" fmla="val 17778"/>
            </a:avLst>
          </a:prstGeom>
          <a:solidFill>
            <a:srgbClr val="2E86AB"/>
          </a:solidFill>
          <a:ln w="12700">
            <a:solidFill>
              <a:srgbClr val="2E86AB"/>
            </a:solidFill>
            <a:prstDash val="solid"/>
          </a:ln>
        </p:spPr>
      </p:sp>
      <p:sp>
        <p:nvSpPr>
          <p:cNvPr id="10" name="Text 8"/>
          <p:cNvSpPr txBox="1"/>
          <p:nvPr/>
        </p:nvSpPr>
        <p:spPr>
          <a:xfrm>
            <a:off x="47548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a:t>
            </a:r>
            <a:endParaRPr lang="en-US" sz="1600" dirty="0"/>
          </a:p>
        </p:txBody>
      </p:sp>
      <p:sp>
        <p:nvSpPr>
          <p:cNvPr id="11" name="Shape 9"/>
          <p:cNvSpPr/>
          <p:nvPr/>
        </p:nvSpPr>
        <p:spPr>
          <a:xfrm>
            <a:off x="5303520" y="1188720"/>
            <a:ext cx="3383280" cy="1280160"/>
          </a:xfrm>
          <a:prstGeom prst="roundRect">
            <a:avLst>
              <a:gd name="adj" fmla="val 7143"/>
            </a:avLst>
          </a:prstGeom>
          <a:solidFill>
            <a:srgbClr val="2C3347"/>
          </a:solidFill>
          <a:ln w="12700">
            <a:solidFill>
              <a:srgbClr val="2C3347"/>
            </a:solidFill>
            <a:prstDash val="solid"/>
          </a:ln>
        </p:spPr>
      </p:sp>
      <p:sp>
        <p:nvSpPr>
          <p:cNvPr id="12" name="Text 10"/>
          <p:cNvSpPr txBox="1"/>
          <p:nvPr/>
        </p:nvSpPr>
        <p:spPr>
          <a:xfrm>
            <a:off x="5486400" y="1325880"/>
            <a:ext cx="3017520" cy="1005840"/>
          </a:xfrm>
          <a:prstGeom prst="rect">
            <a:avLst/>
          </a:prstGeom>
          <a:noFill/>
          <a:ln/>
        </p:spPr>
        <p:txBody>
          <a:bodyPr wrap="square" lIns="0" tIns="0" rIns="0" bIns="0" rtlCol="0" anchor="t"/>
          <a:lstStyle/>
          <a:p>
            <a:pPr indent="0" marL="0">
              <a:buNone/>
            </a:pPr>
            <a:r>
              <a:rPr lang="en-US" sz="1200" dirty="0">
                <a:solidFill>
                  <a:srgbClr val="E8ECF3"/>
                </a:solidFill>
                <a:latin typeface="Courier New" pitchFamily="34" charset="0"/>
                <a:ea typeface="Courier New" pitchFamily="34" charset="-122"/>
                <a:cs typeface="Courier New" pitchFamily="34" charset="-120"/>
              </a:rPr>
              <a:t>.caja {</a:t>
            </a:r>
            <a:endParaRPr lang="en-US" sz="1200" dirty="0"/>
          </a:p>
          <a:p>
            <a:pPr indent="0" marL="0">
              <a:buNone/>
            </a:pPr>
            <a:r>
              <a:rPr lang="en-US" sz="1200" dirty="0">
                <a:solidFill>
                  <a:srgbClr val="E8ECF3"/>
                </a:solidFill>
                <a:latin typeface="Courier New" pitchFamily="34" charset="0"/>
                <a:ea typeface="Courier New" pitchFamily="34" charset="-122"/>
                <a:cs typeface="Courier New" pitchFamily="34" charset="-120"/>
              </a:rPr>
              <a:t>  border-width: 3px;</a:t>
            </a:r>
            <a:endParaRPr lang="en-US" sz="1200" dirty="0"/>
          </a:p>
          <a:p>
            <a:pPr indent="0" marL="0">
              <a:buNone/>
            </a:pPr>
            <a:r>
              <a:rPr lang="en-US" sz="1200" dirty="0">
                <a:solidFill>
                  <a:srgbClr val="E8ECF3"/>
                </a:solidFill>
                <a:latin typeface="Courier New" pitchFamily="34" charset="0"/>
                <a:ea typeface="Courier New" pitchFamily="34" charset="-122"/>
                <a:cs typeface="Courier New" pitchFamily="34" charset="-120"/>
              </a:rPr>
              <a:t>  border-color: red;</a:t>
            </a:r>
            <a:endParaRPr lang="en-US" sz="1200" dirty="0"/>
          </a:p>
          <a:p>
            <a:pPr indent="0" marL="0">
              <a:buNone/>
            </a:pPr>
            <a:r>
              <a:rPr lang="en-US" sz="1200" dirty="0">
                <a:solidFill>
                  <a:srgbClr val="E8ECF3"/>
                </a:solidFill>
                <a:latin typeface="Courier New" pitchFamily="34" charset="0"/>
                <a:ea typeface="Courier New" pitchFamily="34" charset="-122"/>
                <a:cs typeface="Courier New" pitchFamily="34" charset="-120"/>
              </a:rPr>
              <a:t>  border-style: solid;</a:t>
            </a:r>
            <a:endParaRPr lang="en-US" sz="1200" dirty="0"/>
          </a:p>
          <a:p>
            <a:pPr indent="0" marL="0">
              <a:buNone/>
            </a:pPr>
            <a:r>
              <a:rPr lang="en-US" sz="1200" dirty="0">
                <a:solidFill>
                  <a:srgbClr val="E8ECF3"/>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303520" y="2606040"/>
            <a:ext cx="3383280" cy="822960"/>
          </a:xfrm>
          <a:prstGeom prst="rect">
            <a:avLst/>
          </a:prstGeom>
          <a:solidFill>
            <a:srgbClr val="FFFFFF"/>
          </a:solidFill>
          <a:ln w="38100">
            <a:solidFill>
              <a:srgbClr val="D0342C"/>
            </a:solidFill>
            <a:prstDash val="solid"/>
          </a:ln>
        </p:spPr>
      </p:sp>
      <p:sp>
        <p:nvSpPr>
          <p:cNvPr id="14" name="Text 12"/>
          <p:cNvSpPr txBox="1"/>
          <p:nvPr/>
        </p:nvSpPr>
        <p:spPr>
          <a:xfrm>
            <a:off x="5303520" y="2606040"/>
            <a:ext cx="3383280" cy="822960"/>
          </a:xfrm>
          <a:prstGeom prst="rect">
            <a:avLst/>
          </a:prstGeom>
          <a:noFill/>
          <a:ln/>
        </p:spPr>
        <p:txBody>
          <a:bodyPr wrap="square" lIns="0" tIns="0" rIns="0" bIns="0" rtlCol="0" anchor="ctr"/>
          <a:lstStyle/>
          <a:p>
            <a:pPr algn="ctr" indent="0" marL="0">
              <a:buNone/>
            </a:pPr>
            <a:r>
              <a:rPr lang="en-US" sz="1400" dirty="0">
                <a:solidFill>
                  <a:srgbClr val="1F2433"/>
                </a:solidFill>
                <a:latin typeface="Calibri" pitchFamily="34" charset="0"/>
                <a:ea typeface="Calibri" pitchFamily="34" charset="-122"/>
                <a:cs typeface="Calibri" pitchFamily="34" charset="-120"/>
              </a:rPr>
              <a:t>Borde visible</a:t>
            </a:r>
            <a:endParaRPr lang="en-US" sz="1400" dirty="0"/>
          </a:p>
        </p:txBody>
      </p:sp>
      <p:sp>
        <p:nvSpPr>
          <p:cNvPr id="15" name="Text 13"/>
          <p:cNvSpPr txBox="1"/>
          <p:nvPr/>
        </p:nvSpPr>
        <p:spPr>
          <a:xfrm>
            <a:off x="457200" y="3840480"/>
            <a:ext cx="8229600" cy="731520"/>
          </a:xfrm>
          <a:prstGeom prst="rect">
            <a:avLst/>
          </a:prstGeom>
          <a:noFill/>
          <a:ln/>
        </p:spPr>
        <p:txBody>
          <a:bodyPr wrap="square" lIns="0" tIns="0" rIns="0" bIns="0" rtlCol="0" anchor="ctr"/>
          <a:lstStyle/>
          <a:p>
            <a:pPr indent="0" marL="0">
              <a:buNone/>
            </a:pPr>
            <a:r>
              <a:rPr lang="en-US" sz="1700" i="1" dirty="0">
                <a:solidFill>
                  <a:srgbClr val="E07A2F"/>
                </a:solidFill>
                <a:latin typeface="Cambria" pitchFamily="34" charset="0"/>
                <a:ea typeface="Cambria" pitchFamily="34" charset="-122"/>
                <a:cs typeface="Cambria" pitchFamily="34" charset="-120"/>
              </a:rPr>
              <a:t>border-style vale none por defecto: es la única propiedad imprescindible para que el borde aparezca.</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433"/>
                </a:solidFill>
                <a:latin typeface="Cambria" pitchFamily="34" charset="0"/>
                <a:ea typeface="Cambria" pitchFamily="34" charset="-122"/>
                <a:cs typeface="Cambria" pitchFamily="34" charset="-120"/>
              </a:rPr>
              <a:t>De 1 a 4 valores, como margin y padding</a:t>
            </a:r>
            <a:endParaRPr lang="en-US" sz="3000" dirty="0"/>
          </a:p>
        </p:txBody>
      </p:sp>
      <p:sp>
        <p:nvSpPr>
          <p:cNvPr id="3" name="Shape 1"/>
          <p:cNvSpPr/>
          <p:nvPr/>
        </p:nvSpPr>
        <p:spPr>
          <a:xfrm>
            <a:off x="457200" y="1188720"/>
            <a:ext cx="3931920" cy="914400"/>
          </a:xfrm>
          <a:prstGeom prst="roundRect">
            <a:avLst>
              <a:gd name="adj" fmla="val 10000"/>
            </a:avLst>
          </a:prstGeom>
          <a:solidFill>
            <a:srgbClr val="2C3347"/>
          </a:solidFill>
          <a:ln w="12700">
            <a:solidFill>
              <a:srgbClr val="2C3347"/>
            </a:solidFill>
            <a:prstDash val="solid"/>
          </a:ln>
        </p:spPr>
      </p:sp>
      <p:sp>
        <p:nvSpPr>
          <p:cNvPr id="4" name="Text 2"/>
          <p:cNvSpPr txBox="1"/>
          <p:nvPr/>
        </p:nvSpPr>
        <p:spPr>
          <a:xfrm>
            <a:off x="640080" y="1325880"/>
            <a:ext cx="3566160" cy="640080"/>
          </a:xfrm>
          <a:prstGeom prst="rect">
            <a:avLst/>
          </a:prstGeom>
          <a:noFill/>
          <a:ln/>
        </p:spPr>
        <p:txBody>
          <a:bodyPr wrap="square" lIns="0" tIns="0" rIns="0" bIns="0" rtlCol="0" anchor="t"/>
          <a:lstStyle/>
          <a:p>
            <a:pPr indent="0" marL="0">
              <a:buNone/>
            </a:pPr>
            <a:r>
              <a:rPr lang="en-US" sz="1500" dirty="0">
                <a:solidFill>
                  <a:srgbClr val="E8ECF3"/>
                </a:solidFill>
                <a:latin typeface="Courier New" pitchFamily="34" charset="0"/>
                <a:ea typeface="Courier New" pitchFamily="34" charset="-122"/>
                <a:cs typeface="Courier New" pitchFamily="34" charset="-120"/>
              </a:rPr>
              <a:t>border-style: solid dashed;</a:t>
            </a:r>
            <a:endParaRPr lang="en-US" sz="1500" dirty="0"/>
          </a:p>
        </p:txBody>
      </p:sp>
      <p:sp>
        <p:nvSpPr>
          <p:cNvPr id="5" name="Text 3"/>
          <p:cNvSpPr txBox="1"/>
          <p:nvPr/>
        </p:nvSpPr>
        <p:spPr>
          <a:xfrm>
            <a:off x="457200" y="2331720"/>
            <a:ext cx="393192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border-width, border-color y border-style aceptan de 1 a 4 valores</a:t>
            </a:r>
            <a:endParaRPr lang="en-US" sz="1500" dirty="0"/>
          </a:p>
          <a:p>
            <a:pPr marL="342900" indent="-342900">
              <a:spcAft>
                <a:spcPts val="800"/>
              </a:spcAft>
              <a:buSzPct val="100000"/>
              <a:buChar char="•"/>
            </a:pPr>
            <a:r>
              <a:rPr lang="en-US" sz="1500" b="1" dirty="0">
                <a:solidFill>
                  <a:srgbClr val="1F2433"/>
                </a:solidFill>
                <a:latin typeface="Calibri" pitchFamily="34" charset="0"/>
                <a:ea typeface="Calibri" pitchFamily="34" charset="-122"/>
                <a:cs typeface="Calibri" pitchFamily="34" charset="-120"/>
              </a:rPr>
              <a:t>Mismo orden: </a:t>
            </a:r>
            <a:r>
              <a:rPr lang="en-US" sz="1500" dirty="0">
                <a:solidFill>
                  <a:srgbClr val="1F2433"/>
                </a:solidFill>
                <a:latin typeface="Calibri" pitchFamily="34" charset="0"/>
                <a:ea typeface="Calibri" pitchFamily="34" charset="-122"/>
                <a:cs typeface="Calibri" pitchFamily="34" charset="-120"/>
              </a:rPr>
              <a:t>arriba, derecha, abajo, izquierda</a:t>
            </a:r>
            <a:endParaRPr lang="en-US" sz="1500" dirty="0"/>
          </a:p>
          <a:p>
            <a:pPr marL="342900" indent="-342900">
              <a:spcAft>
                <a:spcPts val="800"/>
              </a:spcAft>
              <a:buSzPct val="100000"/>
              <a:buChar char="•"/>
            </a:pPr>
            <a:r>
              <a:rPr lang="en-US" sz="1500" b="1" dirty="0">
                <a:solidFill>
                  <a:srgbClr val="1F2433"/>
                </a:solidFill>
                <a:latin typeface="Calibri" pitchFamily="34" charset="0"/>
                <a:ea typeface="Calibri" pitchFamily="34" charset="-122"/>
                <a:cs typeface="Calibri" pitchFamily="34" charset="-120"/>
              </a:rPr>
              <a:t>Con 2 valores: </a:t>
            </a:r>
            <a:r>
              <a:rPr lang="en-US" sz="1500" dirty="0">
                <a:solidFill>
                  <a:srgbClr val="1F2433"/>
                </a:solidFill>
                <a:latin typeface="Calibri" pitchFamily="34" charset="0"/>
                <a:ea typeface="Calibri" pitchFamily="34" charset="-122"/>
                <a:cs typeface="Calibri" pitchFamily="34" charset="-120"/>
              </a:rPr>
              <a:t>arriba/abajo y luego izquierda/derecha</a:t>
            </a:r>
            <a:endParaRPr lang="en-US" sz="1500" dirty="0"/>
          </a:p>
        </p:txBody>
      </p:sp>
      <p:sp>
        <p:nvSpPr>
          <p:cNvPr id="6" name="Shape 4"/>
          <p:cNvSpPr/>
          <p:nvPr/>
        </p:nvSpPr>
        <p:spPr>
          <a:xfrm>
            <a:off x="4754880" y="1188720"/>
            <a:ext cx="3931920" cy="3383280"/>
          </a:xfrm>
          <a:prstGeom prst="roundRect">
            <a:avLst>
              <a:gd name="adj" fmla="val 2703"/>
            </a:avLst>
          </a:prstGeom>
          <a:solidFill>
            <a:srgbClr val="EEF1F6"/>
          </a:solidFill>
          <a:ln w="12700">
            <a:solidFill>
              <a:srgbClr val="EEF1F6"/>
            </a:solidFill>
            <a:prstDash val="solid"/>
          </a:ln>
        </p:spPr>
      </p:sp>
      <p:sp>
        <p:nvSpPr>
          <p:cNvPr id="7" name="Shape 5"/>
          <p:cNvSpPr/>
          <p:nvPr/>
        </p:nvSpPr>
        <p:spPr>
          <a:xfrm>
            <a:off x="5577840" y="1691640"/>
            <a:ext cx="2286000" cy="1737360"/>
          </a:xfrm>
          <a:prstGeom prst="rect">
            <a:avLst/>
          </a:prstGeom>
          <a:solidFill>
            <a:srgbClr val="FFFFFF"/>
          </a:solidFill>
          <a:ln w="12700">
            <a:solidFill>
              <a:srgbClr val="FFFFFF"/>
            </a:solidFill>
            <a:prstDash val="solid"/>
          </a:ln>
        </p:spPr>
      </p:sp>
      <p:sp>
        <p:nvSpPr>
          <p:cNvPr id="8" name="Shape 6"/>
          <p:cNvSpPr/>
          <p:nvPr/>
        </p:nvSpPr>
        <p:spPr>
          <a:xfrm>
            <a:off x="5577840" y="1691640"/>
            <a:ext cx="2286000" cy="0"/>
          </a:xfrm>
          <a:prstGeom prst="line">
            <a:avLst/>
          </a:prstGeom>
          <a:noFill/>
          <a:ln w="50800">
            <a:solidFill>
              <a:srgbClr val="E07A2F"/>
            </a:solidFill>
            <a:prstDash val="solid"/>
          </a:ln>
        </p:spPr>
      </p:sp>
      <p:sp>
        <p:nvSpPr>
          <p:cNvPr id="9" name="Shape 7"/>
          <p:cNvSpPr/>
          <p:nvPr/>
        </p:nvSpPr>
        <p:spPr>
          <a:xfrm>
            <a:off x="5577840" y="3429000"/>
            <a:ext cx="2286000" cy="0"/>
          </a:xfrm>
          <a:prstGeom prst="line">
            <a:avLst/>
          </a:prstGeom>
          <a:noFill/>
          <a:ln w="50800">
            <a:solidFill>
              <a:srgbClr val="E07A2F"/>
            </a:solidFill>
            <a:prstDash val="solid"/>
          </a:ln>
        </p:spPr>
      </p:sp>
      <p:sp>
        <p:nvSpPr>
          <p:cNvPr id="10" name="Shape 8"/>
          <p:cNvSpPr/>
          <p:nvPr/>
        </p:nvSpPr>
        <p:spPr>
          <a:xfrm>
            <a:off x="5577840" y="1691640"/>
            <a:ext cx="0" cy="1737360"/>
          </a:xfrm>
          <a:prstGeom prst="line">
            <a:avLst/>
          </a:prstGeom>
          <a:noFill/>
          <a:ln w="50800">
            <a:solidFill>
              <a:srgbClr val="2E86AB"/>
            </a:solidFill>
            <a:prstDash val="dash"/>
          </a:ln>
        </p:spPr>
      </p:sp>
      <p:sp>
        <p:nvSpPr>
          <p:cNvPr id="11" name="Shape 9"/>
          <p:cNvSpPr/>
          <p:nvPr/>
        </p:nvSpPr>
        <p:spPr>
          <a:xfrm>
            <a:off x="7863840" y="1691640"/>
            <a:ext cx="0" cy="1737360"/>
          </a:xfrm>
          <a:prstGeom prst="line">
            <a:avLst/>
          </a:prstGeom>
          <a:noFill/>
          <a:ln w="50800">
            <a:solidFill>
              <a:srgbClr val="2E86AB"/>
            </a:solidFill>
            <a:prstDash val="dash"/>
          </a:ln>
        </p:spPr>
      </p:sp>
      <p:sp>
        <p:nvSpPr>
          <p:cNvPr id="12" name="Text 10"/>
          <p:cNvSpPr txBox="1"/>
          <p:nvPr/>
        </p:nvSpPr>
        <p:spPr>
          <a:xfrm>
            <a:off x="5577840" y="1691640"/>
            <a:ext cx="2286000" cy="1737360"/>
          </a:xfrm>
          <a:prstGeom prst="rect">
            <a:avLst/>
          </a:prstGeom>
          <a:noFill/>
          <a:ln/>
        </p:spPr>
        <p:txBody>
          <a:bodyPr wrap="square" lIns="0" tIns="0" rIns="0" bIns="0" rtlCol="0" anchor="ctr"/>
          <a:lstStyle/>
          <a:p>
            <a:pPr algn="ctr" indent="0" marL="0">
              <a:buNone/>
            </a:pPr>
            <a:r>
              <a:rPr lang="en-US" sz="1200" b="1" dirty="0">
                <a:solidFill>
                  <a:srgbClr val="E07A2F"/>
                </a:solidFill>
                <a:latin typeface="Courier New" pitchFamily="34" charset="0"/>
                <a:ea typeface="Courier New" pitchFamily="34" charset="-122"/>
                <a:cs typeface="Courier New" pitchFamily="34" charset="-120"/>
              </a:rPr>
              <a:t>solid</a:t>
            </a:r>
            <a:endParaRPr lang="en-US" sz="1200" dirty="0"/>
          </a:p>
          <a:p>
            <a:pPr algn="ctr" indent="0" marL="0">
              <a:buNone/>
            </a:pPr>
            <a:r>
              <a:rPr lang="en-US" sz="1200" dirty="0">
                <a:solidFill>
                  <a:srgbClr val="1F2433"/>
                </a:solidFill>
                <a:latin typeface="Courier New" pitchFamily="34" charset="0"/>
                <a:ea typeface="Courier New" pitchFamily="34" charset="-122"/>
                <a:cs typeface="Courier New" pitchFamily="34" charset="-120"/>
              </a:rPr>
              <a:t>arriba y abajo</a:t>
            </a:r>
            <a:endParaRPr lang="en-US" sz="1200" dirty="0"/>
          </a:p>
          <a:p>
            <a:pPr algn="ctr" indent="0" marL="0">
              <a:buNone/>
            </a:pPr>
            <a:r>
              <a:rPr lang="en-US" sz="600" dirty="0">
                <a:solidFill>
                  <a:srgbClr val="1F2433"/>
                </a:solidFill>
                <a:latin typeface="Courier New" pitchFamily="34" charset="0"/>
                <a:ea typeface="Courier New" pitchFamily="34" charset="-122"/>
                <a:cs typeface="Courier New" pitchFamily="34" charset="-120"/>
              </a:rPr>
              <a:t> </a:t>
            </a:r>
            <a:endParaRPr lang="en-US" sz="1200" dirty="0"/>
          </a:p>
          <a:p>
            <a:pPr algn="ctr" indent="0" marL="0">
              <a:buNone/>
            </a:pPr>
            <a:r>
              <a:rPr lang="en-US" sz="1200" b="1" dirty="0">
                <a:solidFill>
                  <a:srgbClr val="2E86AB"/>
                </a:solidFill>
                <a:latin typeface="Courier New" pitchFamily="34" charset="0"/>
                <a:ea typeface="Courier New" pitchFamily="34" charset="-122"/>
                <a:cs typeface="Courier New" pitchFamily="34" charset="-120"/>
              </a:rPr>
              <a:t>dashed</a:t>
            </a:r>
            <a:endParaRPr lang="en-US" sz="1200" dirty="0"/>
          </a:p>
          <a:p>
            <a:pPr algn="ctr" indent="0" marL="0">
              <a:buNone/>
            </a:pPr>
            <a:r>
              <a:rPr lang="en-US" sz="1200" dirty="0">
                <a:solidFill>
                  <a:srgbClr val="1F2433"/>
                </a:solidFill>
                <a:latin typeface="Courier New" pitchFamily="34" charset="0"/>
                <a:ea typeface="Courier New" pitchFamily="34" charset="-122"/>
                <a:cs typeface="Courier New" pitchFamily="34" charset="-120"/>
              </a:rPr>
              <a:t>izquierda y derecha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433"/>
                </a:solidFill>
                <a:latin typeface="Cambria" pitchFamily="34" charset="0"/>
                <a:ea typeface="Cambria" pitchFamily="34" charset="-122"/>
                <a:cs typeface="Cambria" pitchFamily="34" charset="-120"/>
              </a:rPr>
              <a:t>La abreviada completa: border</a:t>
            </a:r>
            <a:endParaRPr lang="en-US" sz="3000" dirty="0"/>
          </a:p>
        </p:txBody>
      </p:sp>
      <p:sp>
        <p:nvSpPr>
          <p:cNvPr id="3" name="Shape 1"/>
          <p:cNvSpPr/>
          <p:nvPr/>
        </p:nvSpPr>
        <p:spPr>
          <a:xfrm>
            <a:off x="457200" y="1188720"/>
            <a:ext cx="8229600" cy="1005840"/>
          </a:xfrm>
          <a:prstGeom prst="roundRect">
            <a:avLst>
              <a:gd name="adj" fmla="val 9091"/>
            </a:avLst>
          </a:prstGeom>
          <a:solidFill>
            <a:srgbClr val="2C3347"/>
          </a:solidFill>
          <a:ln w="12700">
            <a:solidFill>
              <a:srgbClr val="2C3347"/>
            </a:solidFill>
            <a:prstDash val="solid"/>
          </a:ln>
        </p:spPr>
      </p:sp>
      <p:sp>
        <p:nvSpPr>
          <p:cNvPr id="4" name="Text 2"/>
          <p:cNvSpPr txBox="1"/>
          <p:nvPr/>
        </p:nvSpPr>
        <p:spPr>
          <a:xfrm>
            <a:off x="640080" y="1325880"/>
            <a:ext cx="7863840" cy="731520"/>
          </a:xfrm>
          <a:prstGeom prst="rect">
            <a:avLst/>
          </a:prstGeom>
          <a:noFill/>
          <a:ln/>
        </p:spPr>
        <p:txBody>
          <a:bodyPr wrap="square" lIns="0" tIns="0" rIns="0" bIns="0" rtlCol="0" anchor="t"/>
          <a:lstStyle/>
          <a:p>
            <a:pPr indent="0" marL="0">
              <a:buNone/>
            </a:pPr>
            <a:r>
              <a:rPr lang="en-US" sz="1500" dirty="0">
                <a:solidFill>
                  <a:srgbClr val="E8ECF3"/>
                </a:solidFill>
                <a:latin typeface="Courier New" pitchFamily="34" charset="0"/>
                <a:ea typeface="Courier New" pitchFamily="34" charset="-122"/>
                <a:cs typeface="Courier New" pitchFamily="34" charset="-120"/>
              </a:rPr>
              <a:t>border: 2px solid #2E86AB;</a:t>
            </a:r>
            <a:endParaRPr lang="en-US" sz="1500" dirty="0"/>
          </a:p>
          <a:p>
            <a:pPr indent="0" marL="0">
              <a:buNone/>
            </a:pPr>
            <a:r>
              <a:rPr lang="en-US" sz="1500" dirty="0">
                <a:solidFill>
                  <a:srgbClr val="E8ECF3"/>
                </a:solidFill>
                <a:latin typeface="Courier New" pitchFamily="34" charset="0"/>
                <a:ea typeface="Courier New" pitchFamily="34" charset="-122"/>
                <a:cs typeface="Courier New" pitchFamily="34" charset="-120"/>
              </a:rPr>
              <a:t>border-bottom: 4px dashed orange;</a:t>
            </a:r>
            <a:endParaRPr lang="en-US" sz="1500" dirty="0"/>
          </a:p>
        </p:txBody>
      </p:sp>
      <p:sp>
        <p:nvSpPr>
          <p:cNvPr id="5" name="Shape 3"/>
          <p:cNvSpPr/>
          <p:nvPr/>
        </p:nvSpPr>
        <p:spPr>
          <a:xfrm>
            <a:off x="457200" y="2468880"/>
            <a:ext cx="2606040" cy="1005840"/>
          </a:xfrm>
          <a:prstGeom prst="roundRect">
            <a:avLst>
              <a:gd name="adj" fmla="val 9091"/>
            </a:avLst>
          </a:prstGeom>
          <a:solidFill>
            <a:srgbClr val="DCEEF5"/>
          </a:solidFill>
          <a:ln w="12700">
            <a:solidFill>
              <a:srgbClr val="DCEEF5"/>
            </a:solidFill>
            <a:prstDash val="solid"/>
          </a:ln>
        </p:spPr>
      </p:sp>
      <p:sp>
        <p:nvSpPr>
          <p:cNvPr id="6" name="Text 4"/>
          <p:cNvSpPr txBox="1"/>
          <p:nvPr/>
        </p:nvSpPr>
        <p:spPr>
          <a:xfrm>
            <a:off x="640080" y="2560320"/>
            <a:ext cx="2240280" cy="365760"/>
          </a:xfrm>
          <a:prstGeom prst="rect">
            <a:avLst/>
          </a:prstGeom>
          <a:noFill/>
          <a:ln/>
        </p:spPr>
        <p:txBody>
          <a:bodyPr wrap="square" lIns="0" tIns="0" rIns="0" bIns="0" rtlCol="0" anchor="ctr"/>
          <a:lstStyle/>
          <a:p>
            <a:pPr indent="0" marL="0">
              <a:buNone/>
            </a:pPr>
            <a:r>
              <a:rPr lang="en-US" sz="1500" b="1" dirty="0">
                <a:solidFill>
                  <a:srgbClr val="1F2433"/>
                </a:solidFill>
                <a:latin typeface="Calibri" pitchFamily="34" charset="0"/>
                <a:ea typeface="Calibri" pitchFamily="34" charset="-122"/>
                <a:cs typeface="Calibri" pitchFamily="34" charset="-120"/>
              </a:rPr>
              <a:t>anchura</a:t>
            </a:r>
            <a:endParaRPr lang="en-US" sz="1500" dirty="0"/>
          </a:p>
        </p:txBody>
      </p:sp>
      <p:sp>
        <p:nvSpPr>
          <p:cNvPr id="7" name="Text 5"/>
          <p:cNvSpPr txBox="1"/>
          <p:nvPr/>
        </p:nvSpPr>
        <p:spPr>
          <a:xfrm>
            <a:off x="640080" y="2926080"/>
            <a:ext cx="2240280" cy="411480"/>
          </a:xfrm>
          <a:prstGeom prst="rect">
            <a:avLst/>
          </a:prstGeom>
          <a:noFill/>
          <a:ln/>
        </p:spPr>
        <p:txBody>
          <a:bodyPr wrap="square" lIns="0" tIns="0" rIns="0" bIns="0" rtlCol="0" anchor="ctr"/>
          <a:lstStyle/>
          <a:p>
            <a:pPr indent="0" marL="0">
              <a:buNone/>
            </a:pPr>
            <a:r>
              <a:rPr lang="en-US" sz="1600" b="1" dirty="0">
                <a:solidFill>
                  <a:srgbClr val="2E86AB"/>
                </a:solidFill>
                <a:latin typeface="Courier New" pitchFamily="34" charset="0"/>
                <a:ea typeface="Courier New" pitchFamily="34" charset="-122"/>
                <a:cs typeface="Courier New" pitchFamily="34" charset="-120"/>
              </a:rPr>
              <a:t>2px</a:t>
            </a:r>
            <a:endParaRPr lang="en-US" sz="1600" dirty="0"/>
          </a:p>
        </p:txBody>
      </p:sp>
      <p:sp>
        <p:nvSpPr>
          <p:cNvPr id="8" name="Shape 6"/>
          <p:cNvSpPr/>
          <p:nvPr/>
        </p:nvSpPr>
        <p:spPr>
          <a:xfrm>
            <a:off x="3246120" y="2468880"/>
            <a:ext cx="2606040" cy="1005840"/>
          </a:xfrm>
          <a:prstGeom prst="roundRect">
            <a:avLst>
              <a:gd name="adj" fmla="val 9091"/>
            </a:avLst>
          </a:prstGeom>
          <a:solidFill>
            <a:srgbClr val="FBE9DB"/>
          </a:solidFill>
          <a:ln w="12700">
            <a:solidFill>
              <a:srgbClr val="FBE9DB"/>
            </a:solidFill>
            <a:prstDash val="solid"/>
          </a:ln>
        </p:spPr>
      </p:sp>
      <p:sp>
        <p:nvSpPr>
          <p:cNvPr id="9" name="Text 7"/>
          <p:cNvSpPr txBox="1"/>
          <p:nvPr/>
        </p:nvSpPr>
        <p:spPr>
          <a:xfrm>
            <a:off x="3429000" y="2560320"/>
            <a:ext cx="2240280" cy="365760"/>
          </a:xfrm>
          <a:prstGeom prst="rect">
            <a:avLst/>
          </a:prstGeom>
          <a:noFill/>
          <a:ln/>
        </p:spPr>
        <p:txBody>
          <a:bodyPr wrap="square" lIns="0" tIns="0" rIns="0" bIns="0" rtlCol="0" anchor="ctr"/>
          <a:lstStyle/>
          <a:p>
            <a:pPr indent="0" marL="0">
              <a:buNone/>
            </a:pPr>
            <a:r>
              <a:rPr lang="en-US" sz="1500" b="1" dirty="0">
                <a:solidFill>
                  <a:srgbClr val="1F2433"/>
                </a:solidFill>
                <a:latin typeface="Calibri" pitchFamily="34" charset="0"/>
                <a:ea typeface="Calibri" pitchFamily="34" charset="-122"/>
                <a:cs typeface="Calibri" pitchFamily="34" charset="-120"/>
              </a:rPr>
              <a:t>estilo</a:t>
            </a:r>
            <a:endParaRPr lang="en-US" sz="1500" dirty="0"/>
          </a:p>
        </p:txBody>
      </p:sp>
      <p:sp>
        <p:nvSpPr>
          <p:cNvPr id="10" name="Text 8"/>
          <p:cNvSpPr txBox="1"/>
          <p:nvPr/>
        </p:nvSpPr>
        <p:spPr>
          <a:xfrm>
            <a:off x="3429000" y="2926080"/>
            <a:ext cx="2240280" cy="411480"/>
          </a:xfrm>
          <a:prstGeom prst="rect">
            <a:avLst/>
          </a:prstGeom>
          <a:noFill/>
          <a:ln/>
        </p:spPr>
        <p:txBody>
          <a:bodyPr wrap="square" lIns="0" tIns="0" rIns="0" bIns="0" rtlCol="0" anchor="ctr"/>
          <a:lstStyle/>
          <a:p>
            <a:pPr indent="0" marL="0">
              <a:buNone/>
            </a:pPr>
            <a:r>
              <a:rPr lang="en-US" sz="1600" b="1" dirty="0">
                <a:solidFill>
                  <a:srgbClr val="E07A2F"/>
                </a:solidFill>
                <a:latin typeface="Courier New" pitchFamily="34" charset="0"/>
                <a:ea typeface="Courier New" pitchFamily="34" charset="-122"/>
                <a:cs typeface="Courier New" pitchFamily="34" charset="-120"/>
              </a:rPr>
              <a:t>solid</a:t>
            </a:r>
            <a:endParaRPr lang="en-US" sz="1600" dirty="0"/>
          </a:p>
        </p:txBody>
      </p:sp>
      <p:sp>
        <p:nvSpPr>
          <p:cNvPr id="11" name="Shape 9"/>
          <p:cNvSpPr/>
          <p:nvPr/>
        </p:nvSpPr>
        <p:spPr>
          <a:xfrm>
            <a:off x="6035040" y="2468880"/>
            <a:ext cx="2606040" cy="1005840"/>
          </a:xfrm>
          <a:prstGeom prst="roundRect">
            <a:avLst>
              <a:gd name="adj" fmla="val 9091"/>
            </a:avLst>
          </a:prstGeom>
          <a:solidFill>
            <a:srgbClr val="DCEEF5"/>
          </a:solidFill>
          <a:ln w="12700">
            <a:solidFill>
              <a:srgbClr val="DCEEF5"/>
            </a:solidFill>
            <a:prstDash val="solid"/>
          </a:ln>
        </p:spPr>
      </p:sp>
      <p:sp>
        <p:nvSpPr>
          <p:cNvPr id="12" name="Text 10"/>
          <p:cNvSpPr txBox="1"/>
          <p:nvPr/>
        </p:nvSpPr>
        <p:spPr>
          <a:xfrm>
            <a:off x="6217920" y="2560320"/>
            <a:ext cx="2240280" cy="365760"/>
          </a:xfrm>
          <a:prstGeom prst="rect">
            <a:avLst/>
          </a:prstGeom>
          <a:noFill/>
          <a:ln/>
        </p:spPr>
        <p:txBody>
          <a:bodyPr wrap="square" lIns="0" tIns="0" rIns="0" bIns="0" rtlCol="0" anchor="ctr"/>
          <a:lstStyle/>
          <a:p>
            <a:pPr indent="0" marL="0">
              <a:buNone/>
            </a:pPr>
            <a:r>
              <a:rPr lang="en-US" sz="1500" b="1" dirty="0">
                <a:solidFill>
                  <a:srgbClr val="1F2433"/>
                </a:solidFill>
                <a:latin typeface="Calibri" pitchFamily="34" charset="0"/>
                <a:ea typeface="Calibri" pitchFamily="34" charset="-122"/>
                <a:cs typeface="Calibri" pitchFamily="34" charset="-120"/>
              </a:rPr>
              <a:t>color</a:t>
            </a:r>
            <a:endParaRPr lang="en-US" sz="1500" dirty="0"/>
          </a:p>
        </p:txBody>
      </p:sp>
      <p:sp>
        <p:nvSpPr>
          <p:cNvPr id="13" name="Text 11"/>
          <p:cNvSpPr txBox="1"/>
          <p:nvPr/>
        </p:nvSpPr>
        <p:spPr>
          <a:xfrm>
            <a:off x="6217920" y="2926080"/>
            <a:ext cx="2240280" cy="411480"/>
          </a:xfrm>
          <a:prstGeom prst="rect">
            <a:avLst/>
          </a:prstGeom>
          <a:noFill/>
          <a:ln/>
        </p:spPr>
        <p:txBody>
          <a:bodyPr wrap="square" lIns="0" tIns="0" rIns="0" bIns="0" rtlCol="0" anchor="ctr"/>
          <a:lstStyle/>
          <a:p>
            <a:pPr indent="0" marL="0">
              <a:buNone/>
            </a:pPr>
            <a:r>
              <a:rPr lang="en-US" sz="1600" b="1" dirty="0">
                <a:solidFill>
                  <a:srgbClr val="2E86AB"/>
                </a:solidFill>
                <a:latin typeface="Courier New" pitchFamily="34" charset="0"/>
                <a:ea typeface="Courier New" pitchFamily="34" charset="-122"/>
                <a:cs typeface="Courier New" pitchFamily="34" charset="-120"/>
              </a:rPr>
              <a:t>#2E86AB</a:t>
            </a:r>
            <a:endParaRPr lang="en-US" sz="1600" dirty="0"/>
          </a:p>
        </p:txBody>
      </p:sp>
      <p:sp>
        <p:nvSpPr>
          <p:cNvPr id="14" name="Text 12"/>
          <p:cNvSpPr txBox="1"/>
          <p:nvPr/>
        </p:nvSpPr>
        <p:spPr>
          <a:xfrm>
            <a:off x="457200" y="3703320"/>
            <a:ext cx="8229600" cy="100584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rgbClr val="1F2433"/>
                </a:solidFill>
                <a:latin typeface="Calibri" pitchFamily="34" charset="0"/>
                <a:ea typeface="Calibri" pitchFamily="34" charset="-122"/>
                <a:cs typeface="Calibri" pitchFamily="34" charset="-120"/>
              </a:rPr>
              <a:t>En cualquier orden </a:t>
            </a:r>
            <a:r>
              <a:rPr lang="en-US" sz="1500" dirty="0">
                <a:solidFill>
                  <a:srgbClr val="1F2433"/>
                </a:solidFill>
                <a:latin typeface="Calibri" pitchFamily="34" charset="0"/>
                <a:ea typeface="Calibri" pitchFamily="34" charset="-122"/>
                <a:cs typeface="Calibri" pitchFamily="34" charset="-120"/>
              </a:rPr>
              <a:t>(la notación || significa "uno o varios, en cualquier orden")</a:t>
            </a:r>
            <a:endParaRPr lang="en-US" sz="1500" dirty="0"/>
          </a:p>
          <a:p>
            <a:pPr marL="342900" indent="-342900">
              <a:spcAft>
                <a:spcPts val="800"/>
              </a:spcAft>
              <a:buSzPct val="100000"/>
              <a:buChar char="•"/>
            </a:pPr>
            <a:r>
              <a:rPr lang="en-US" sz="1500" b="1" dirty="0">
                <a:solidFill>
                  <a:srgbClr val="1F2433"/>
                </a:solidFill>
                <a:latin typeface="Calibri" pitchFamily="34" charset="0"/>
                <a:ea typeface="Calibri" pitchFamily="34" charset="-122"/>
                <a:cs typeface="Calibri" pitchFamily="34" charset="-120"/>
              </a:rPr>
              <a:t>Un solo valor por aspecto: </a:t>
            </a:r>
            <a:r>
              <a:rPr lang="en-US" sz="1500" dirty="0">
                <a:solidFill>
                  <a:srgbClr val="1F2433"/>
                </a:solidFill>
                <a:latin typeface="Calibri" pitchFamily="34" charset="0"/>
                <a:ea typeface="Calibri" pitchFamily="34" charset="-122"/>
                <a:cs typeface="Calibri" pitchFamily="34" charset="-120"/>
              </a:rPr>
              <a:t>border no admite valores distintos para cada lado</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433"/>
                </a:solidFill>
                <a:latin typeface="Cambria" pitchFamily="34" charset="0"/>
                <a:ea typeface="Cambria" pitchFamily="34" charset="-122"/>
                <a:cs typeface="Cambria" pitchFamily="34" charset="-120"/>
              </a:rPr>
              <a:t>Cuidado con la abreviada</a:t>
            </a:r>
            <a:endParaRPr lang="en-US" sz="3000" dirty="0"/>
          </a:p>
        </p:txBody>
      </p:sp>
      <p:sp>
        <p:nvSpPr>
          <p:cNvPr id="3" name="Shape 1"/>
          <p:cNvSpPr/>
          <p:nvPr/>
        </p:nvSpPr>
        <p:spPr>
          <a:xfrm>
            <a:off x="457200" y="1280160"/>
            <a:ext cx="411480" cy="411480"/>
          </a:xfrm>
          <a:prstGeom prst="roundRect">
            <a:avLst>
              <a:gd name="adj" fmla="val 17778"/>
            </a:avLst>
          </a:prstGeom>
          <a:solidFill>
            <a:srgbClr val="B3261E"/>
          </a:solidFill>
          <a:ln w="12700">
            <a:solidFill>
              <a:srgbClr val="B3261E"/>
            </a:solidFill>
            <a:prstDash val="solid"/>
          </a:ln>
        </p:spPr>
      </p:sp>
      <p:sp>
        <p:nvSpPr>
          <p:cNvPr id="4" name="Text 2"/>
          <p:cNvSpPr txBox="1"/>
          <p:nvPr/>
        </p:nvSpPr>
        <p:spPr>
          <a:xfrm>
            <a:off x="45720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a:t>
            </a:r>
            <a:endParaRPr lang="en-US" sz="1600" dirty="0"/>
          </a:p>
        </p:txBody>
      </p:sp>
      <p:sp>
        <p:nvSpPr>
          <p:cNvPr id="5" name="Shape 3"/>
          <p:cNvSpPr/>
          <p:nvPr/>
        </p:nvSpPr>
        <p:spPr>
          <a:xfrm>
            <a:off x="1005840" y="1188720"/>
            <a:ext cx="3383280" cy="822960"/>
          </a:xfrm>
          <a:prstGeom prst="roundRect">
            <a:avLst>
              <a:gd name="adj" fmla="val 11111"/>
            </a:avLst>
          </a:prstGeom>
          <a:solidFill>
            <a:srgbClr val="2C3347"/>
          </a:solidFill>
          <a:ln w="12700">
            <a:solidFill>
              <a:srgbClr val="2C3347"/>
            </a:solidFill>
            <a:prstDash val="solid"/>
          </a:ln>
        </p:spPr>
      </p:sp>
      <p:sp>
        <p:nvSpPr>
          <p:cNvPr id="6" name="Text 4"/>
          <p:cNvSpPr txBox="1"/>
          <p:nvPr/>
        </p:nvSpPr>
        <p:spPr>
          <a:xfrm>
            <a:off x="1188720" y="1325880"/>
            <a:ext cx="3017520" cy="548640"/>
          </a:xfrm>
          <a:prstGeom prst="rect">
            <a:avLst/>
          </a:prstGeom>
          <a:noFill/>
          <a:ln/>
        </p:spPr>
        <p:txBody>
          <a:bodyPr wrap="square" lIns="0" tIns="0" rIns="0" bIns="0" rtlCol="0" anchor="t"/>
          <a:lstStyle/>
          <a:p>
            <a:pPr indent="0" marL="0">
              <a:buNone/>
            </a:pPr>
            <a:r>
              <a:rPr lang="en-US" sz="1500" dirty="0">
                <a:solidFill>
                  <a:srgbClr val="E8ECF3"/>
                </a:solidFill>
                <a:latin typeface="Courier New" pitchFamily="34" charset="0"/>
                <a:ea typeface="Courier New" pitchFamily="34" charset="-122"/>
                <a:cs typeface="Courier New" pitchFamily="34" charset="-120"/>
              </a:rPr>
              <a:t>border: 3px red;</a:t>
            </a:r>
            <a:endParaRPr lang="en-US" sz="1500" dirty="0"/>
          </a:p>
        </p:txBody>
      </p:sp>
      <p:sp>
        <p:nvSpPr>
          <p:cNvPr id="7" name="Text 5"/>
          <p:cNvSpPr txBox="1"/>
          <p:nvPr/>
        </p:nvSpPr>
        <p:spPr>
          <a:xfrm>
            <a:off x="1005840" y="2148840"/>
            <a:ext cx="3383280" cy="731520"/>
          </a:xfrm>
          <a:prstGeom prst="rect">
            <a:avLst/>
          </a:prstGeom>
          <a:noFill/>
          <a:ln/>
        </p:spPr>
        <p:txBody>
          <a:bodyPr wrap="square" lIns="0" tIns="0" rIns="0" bIns="0" rtlCol="0" anchor="ctr"/>
          <a:lstStyle/>
          <a:p>
            <a:pPr indent="0" marL="0">
              <a:buNone/>
            </a:pPr>
            <a:r>
              <a:rPr lang="en-US" sz="1500" dirty="0">
                <a:solidFill>
                  <a:srgbClr val="1F2433"/>
                </a:solidFill>
                <a:latin typeface="Calibri" pitchFamily="34" charset="0"/>
                <a:ea typeface="Calibri" pitchFamily="34" charset="-122"/>
                <a:cs typeface="Calibri" pitchFamily="34" charset="-120"/>
              </a:rPr>
              <a:t>Falta el estilo: toma none y no se ve el borde.</a:t>
            </a:r>
            <a:endParaRPr lang="en-US" sz="1500" dirty="0"/>
          </a:p>
        </p:txBody>
      </p:sp>
      <p:sp>
        <p:nvSpPr>
          <p:cNvPr id="8" name="Shape 6"/>
          <p:cNvSpPr/>
          <p:nvPr/>
        </p:nvSpPr>
        <p:spPr>
          <a:xfrm>
            <a:off x="4754880" y="1280160"/>
            <a:ext cx="411480" cy="411480"/>
          </a:xfrm>
          <a:prstGeom prst="roundRect">
            <a:avLst>
              <a:gd name="adj" fmla="val 17778"/>
            </a:avLst>
          </a:prstGeom>
          <a:solidFill>
            <a:srgbClr val="2E86AB"/>
          </a:solidFill>
          <a:ln w="12700">
            <a:solidFill>
              <a:srgbClr val="2E86AB"/>
            </a:solidFill>
            <a:prstDash val="solid"/>
          </a:ln>
        </p:spPr>
      </p:sp>
      <p:sp>
        <p:nvSpPr>
          <p:cNvPr id="9" name="Text 7"/>
          <p:cNvSpPr txBox="1"/>
          <p:nvPr/>
        </p:nvSpPr>
        <p:spPr>
          <a:xfrm>
            <a:off x="47548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a:t>
            </a:r>
            <a:endParaRPr lang="en-US" sz="1600" dirty="0"/>
          </a:p>
        </p:txBody>
      </p:sp>
      <p:sp>
        <p:nvSpPr>
          <p:cNvPr id="10" name="Shape 8"/>
          <p:cNvSpPr/>
          <p:nvPr/>
        </p:nvSpPr>
        <p:spPr>
          <a:xfrm>
            <a:off x="5303520" y="1188720"/>
            <a:ext cx="3383280" cy="822960"/>
          </a:xfrm>
          <a:prstGeom prst="roundRect">
            <a:avLst>
              <a:gd name="adj" fmla="val 11111"/>
            </a:avLst>
          </a:prstGeom>
          <a:solidFill>
            <a:srgbClr val="2C3347"/>
          </a:solidFill>
          <a:ln w="12700">
            <a:solidFill>
              <a:srgbClr val="2C3347"/>
            </a:solidFill>
            <a:prstDash val="solid"/>
          </a:ln>
        </p:spPr>
      </p:sp>
      <p:sp>
        <p:nvSpPr>
          <p:cNvPr id="11" name="Text 9"/>
          <p:cNvSpPr txBox="1"/>
          <p:nvPr/>
        </p:nvSpPr>
        <p:spPr>
          <a:xfrm>
            <a:off x="5486400" y="1325880"/>
            <a:ext cx="3017520" cy="548640"/>
          </a:xfrm>
          <a:prstGeom prst="rect">
            <a:avLst/>
          </a:prstGeom>
          <a:noFill/>
          <a:ln/>
        </p:spPr>
        <p:txBody>
          <a:bodyPr wrap="square" lIns="0" tIns="0" rIns="0" bIns="0" rtlCol="0" anchor="t"/>
          <a:lstStyle/>
          <a:p>
            <a:pPr indent="0" marL="0">
              <a:buNone/>
            </a:pPr>
            <a:r>
              <a:rPr lang="en-US" sz="1500" dirty="0">
                <a:solidFill>
                  <a:srgbClr val="E8ECF3"/>
                </a:solidFill>
                <a:latin typeface="Courier New" pitchFamily="34" charset="0"/>
                <a:ea typeface="Courier New" pitchFamily="34" charset="-122"/>
                <a:cs typeface="Courier New" pitchFamily="34" charset="-120"/>
              </a:rPr>
              <a:t>border: 3px solid red;</a:t>
            </a:r>
            <a:endParaRPr lang="en-US" sz="1500" dirty="0"/>
          </a:p>
        </p:txBody>
      </p:sp>
      <p:sp>
        <p:nvSpPr>
          <p:cNvPr id="12" name="Text 10"/>
          <p:cNvSpPr txBox="1"/>
          <p:nvPr/>
        </p:nvSpPr>
        <p:spPr>
          <a:xfrm>
            <a:off x="5303520" y="2148840"/>
            <a:ext cx="3383280" cy="731520"/>
          </a:xfrm>
          <a:prstGeom prst="rect">
            <a:avLst/>
          </a:prstGeom>
          <a:noFill/>
          <a:ln/>
        </p:spPr>
        <p:txBody>
          <a:bodyPr wrap="square" lIns="0" tIns="0" rIns="0" bIns="0" rtlCol="0" anchor="ctr"/>
          <a:lstStyle/>
          <a:p>
            <a:pPr indent="0" marL="0">
              <a:buNone/>
            </a:pPr>
            <a:r>
              <a:rPr lang="en-US" sz="1500" dirty="0">
                <a:solidFill>
                  <a:srgbClr val="1F2433"/>
                </a:solidFill>
                <a:latin typeface="Calibri" pitchFamily="34" charset="0"/>
                <a:ea typeface="Calibri" pitchFamily="34" charset="-122"/>
                <a:cs typeface="Calibri" pitchFamily="34" charset="-120"/>
              </a:rPr>
              <a:t>Con el estilo indicado, el borde aparece.</a:t>
            </a:r>
            <a:endParaRPr lang="en-US" sz="1500" dirty="0"/>
          </a:p>
        </p:txBody>
      </p:sp>
      <p:sp>
        <p:nvSpPr>
          <p:cNvPr id="13" name="Shape 11"/>
          <p:cNvSpPr/>
          <p:nvPr/>
        </p:nvSpPr>
        <p:spPr>
          <a:xfrm>
            <a:off x="457200" y="3108960"/>
            <a:ext cx="8229600" cy="1508760"/>
          </a:xfrm>
          <a:prstGeom prst="roundRect">
            <a:avLst>
              <a:gd name="adj" fmla="val 6061"/>
            </a:avLst>
          </a:prstGeom>
          <a:solidFill>
            <a:srgbClr val="FBE9DB"/>
          </a:solidFill>
          <a:ln w="12700">
            <a:solidFill>
              <a:srgbClr val="FBE9DB"/>
            </a:solidFill>
            <a:prstDash val="solid"/>
          </a:ln>
        </p:spPr>
      </p:sp>
      <p:sp>
        <p:nvSpPr>
          <p:cNvPr id="14" name="Text 12"/>
          <p:cNvSpPr txBox="1"/>
          <p:nvPr/>
        </p:nvSpPr>
        <p:spPr>
          <a:xfrm>
            <a:off x="685800" y="3154680"/>
            <a:ext cx="7772400" cy="1417320"/>
          </a:xfrm>
          <a:prstGeom prst="rect">
            <a:avLst/>
          </a:prstGeom>
          <a:noFill/>
          <a:ln/>
        </p:spPr>
        <p:txBody>
          <a:bodyPr wrap="square" lIns="0" tIns="0" rIns="0" bIns="0" rtlCol="0" anchor="ctr"/>
          <a:lstStyle/>
          <a:p>
            <a:pPr indent="0" marL="0">
              <a:buNone/>
            </a:pPr>
            <a:r>
              <a:rPr lang="en-US" sz="1500" b="1" dirty="0">
                <a:solidFill>
                  <a:srgbClr val="1F2433"/>
                </a:solidFill>
                <a:latin typeface="Calibri" pitchFamily="34" charset="0"/>
                <a:ea typeface="Calibri" pitchFamily="34" charset="-122"/>
                <a:cs typeface="Calibri" pitchFamily="34" charset="-120"/>
              </a:rPr>
              <a:t>Además, la abreviada reinicia lo que no escribes. </a:t>
            </a:r>
            <a:endParaRPr lang="en-US" sz="1500" dirty="0"/>
          </a:p>
          <a:p>
            <a:pPr indent="0" marL="0">
              <a:buNone/>
            </a:pPr>
            <a:r>
              <a:rPr lang="en-US" sz="1500" dirty="0">
                <a:solidFill>
                  <a:srgbClr val="1F2433"/>
                </a:solidFill>
                <a:latin typeface="Calibri" pitchFamily="34" charset="0"/>
                <a:ea typeface="Calibri" pitchFamily="34" charset="-122"/>
                <a:cs typeface="Calibri" pitchFamily="34" charset="-120"/>
              </a:rPr>
              <a:t>Si antes había border-color: red y luego escribes border: 2px solid, el color vuelve a su valor por defecto (el del texto).</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433"/>
                </a:solidFill>
                <a:latin typeface="Cambria" pitchFamily="34" charset="0"/>
                <a:ea typeface="Cambria" pitchFamily="34" charset="-122"/>
                <a:cs typeface="Cambria" pitchFamily="34" charset="-120"/>
              </a:rPr>
              <a:t>Patrón habitual: general y después el detalle</a:t>
            </a:r>
            <a:endParaRPr lang="en-US" sz="3000" dirty="0"/>
          </a:p>
        </p:txBody>
      </p:sp>
      <p:sp>
        <p:nvSpPr>
          <p:cNvPr id="3" name="Shape 1"/>
          <p:cNvSpPr/>
          <p:nvPr/>
        </p:nvSpPr>
        <p:spPr>
          <a:xfrm>
            <a:off x="457200" y="1188720"/>
            <a:ext cx="4206240" cy="1645920"/>
          </a:xfrm>
          <a:prstGeom prst="roundRect">
            <a:avLst>
              <a:gd name="adj" fmla="val 5556"/>
            </a:avLst>
          </a:prstGeom>
          <a:solidFill>
            <a:srgbClr val="2C3347"/>
          </a:solidFill>
          <a:ln w="12700">
            <a:solidFill>
              <a:srgbClr val="2C3347"/>
            </a:solidFill>
            <a:prstDash val="solid"/>
          </a:ln>
        </p:spPr>
      </p:sp>
      <p:sp>
        <p:nvSpPr>
          <p:cNvPr id="4" name="Text 2"/>
          <p:cNvSpPr txBox="1"/>
          <p:nvPr/>
        </p:nvSpPr>
        <p:spPr>
          <a:xfrm>
            <a:off x="640080" y="1325880"/>
            <a:ext cx="3840480" cy="1371600"/>
          </a:xfrm>
          <a:prstGeom prst="rect">
            <a:avLst/>
          </a:prstGeom>
          <a:noFill/>
          <a:ln/>
        </p:spPr>
        <p:txBody>
          <a:bodyPr wrap="square" lIns="0" tIns="0" rIns="0" bIns="0" rtlCol="0" anchor="t"/>
          <a:lstStyle/>
          <a:p>
            <a:pPr indent="0" marL="0">
              <a:buNone/>
            </a:pPr>
            <a:r>
              <a:rPr lang="en-US" sz="1400" dirty="0">
                <a:solidFill>
                  <a:srgbClr val="E8ECF3"/>
                </a:solidFill>
                <a:latin typeface="Courier New" pitchFamily="34" charset="0"/>
                <a:ea typeface="Courier New" pitchFamily="34" charset="-122"/>
                <a:cs typeface="Courier New" pitchFamily="34" charset="-120"/>
              </a:rPr>
              <a:t>.aviso {</a:t>
            </a:r>
            <a:endParaRPr lang="en-US" sz="1400" dirty="0"/>
          </a:p>
          <a:p>
            <a:pPr indent="0" marL="0">
              <a:buNone/>
            </a:pPr>
            <a:r>
              <a:rPr lang="en-US" sz="1400" dirty="0">
                <a:solidFill>
                  <a:srgbClr val="E8ECF3"/>
                </a:solidFill>
                <a:latin typeface="Courier New" pitchFamily="34" charset="0"/>
                <a:ea typeface="Courier New" pitchFamily="34" charset="-122"/>
                <a:cs typeface="Courier New" pitchFamily="34" charset="-120"/>
              </a:rPr>
              <a:t>  border: 1px solid #C9D1E0;</a:t>
            </a:r>
            <a:endParaRPr lang="en-US" sz="1400" dirty="0"/>
          </a:p>
          <a:p>
            <a:pPr indent="0" marL="0">
              <a:buNone/>
            </a:pPr>
            <a:r>
              <a:rPr lang="en-US" sz="1400" dirty="0">
                <a:solidFill>
                  <a:srgbClr val="E8ECF3"/>
                </a:solidFill>
                <a:latin typeface="Courier New" pitchFamily="34" charset="0"/>
                <a:ea typeface="Courier New" pitchFamily="34" charset="-122"/>
                <a:cs typeface="Courier New" pitchFamily="34" charset="-120"/>
              </a:rPr>
              <a:t>  border-left: 6px solid #E07A2F;</a:t>
            </a:r>
            <a:endParaRPr lang="en-US" sz="1400" dirty="0"/>
          </a:p>
          <a:p>
            <a:pPr indent="0" marL="0">
              <a:buNone/>
            </a:pPr>
            <a:r>
              <a:rPr lang="en-US" sz="1400" dirty="0">
                <a:solidFill>
                  <a:srgbClr val="E8ECF3"/>
                </a:solidFill>
                <a:latin typeface="Courier New" pitchFamily="34" charset="0"/>
                <a:ea typeface="Courier New" pitchFamily="34" charset="-122"/>
                <a:cs typeface="Courier New" pitchFamily="34" charset="-120"/>
              </a:rPr>
              <a:t>}</a:t>
            </a:r>
            <a:endParaRPr lang="en-US" sz="1400" dirty="0"/>
          </a:p>
        </p:txBody>
      </p:sp>
      <p:sp>
        <p:nvSpPr>
          <p:cNvPr id="5" name="Text 3"/>
          <p:cNvSpPr txBox="1"/>
          <p:nvPr/>
        </p:nvSpPr>
        <p:spPr>
          <a:xfrm>
            <a:off x="457200" y="3063240"/>
            <a:ext cx="4206240" cy="1554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Primero se define el borde común a los cuatro lados</a:t>
            </a:r>
            <a:endParaRPr lang="en-US" sz="1500" dirty="0"/>
          </a:p>
          <a:p>
            <a:pPr marL="342900" indent="-342900">
              <a:spcAft>
                <a:spcPts val="800"/>
              </a:spcAft>
              <a:buSzPct val="100000"/>
              <a:buChar char="•"/>
            </a:pPr>
            <a:r>
              <a:rPr lang="en-US" sz="1500" dirty="0">
                <a:solidFill>
                  <a:srgbClr val="1F2433"/>
                </a:solidFill>
                <a:latin typeface="Calibri" pitchFamily="34" charset="0"/>
                <a:ea typeface="Calibri" pitchFamily="34" charset="-122"/>
                <a:cs typeface="Calibri" pitchFamily="34" charset="-120"/>
              </a:rPr>
              <a:t>Después se sobrescribe solo el lado que cambia</a:t>
            </a:r>
            <a:endParaRPr lang="en-US" sz="1500" dirty="0"/>
          </a:p>
        </p:txBody>
      </p:sp>
      <p:sp>
        <p:nvSpPr>
          <p:cNvPr id="6" name="Shape 4"/>
          <p:cNvSpPr/>
          <p:nvPr/>
        </p:nvSpPr>
        <p:spPr>
          <a:xfrm>
            <a:off x="5029200" y="1188720"/>
            <a:ext cx="3657600" cy="3383280"/>
          </a:xfrm>
          <a:prstGeom prst="roundRect">
            <a:avLst>
              <a:gd name="adj" fmla="val 2703"/>
            </a:avLst>
          </a:prstGeom>
          <a:solidFill>
            <a:srgbClr val="EEF1F6"/>
          </a:solidFill>
          <a:ln w="12700">
            <a:solidFill>
              <a:srgbClr val="EEF1F6"/>
            </a:solidFill>
            <a:prstDash val="solid"/>
          </a:ln>
        </p:spPr>
      </p:sp>
      <p:sp>
        <p:nvSpPr>
          <p:cNvPr id="7" name="Shape 5"/>
          <p:cNvSpPr/>
          <p:nvPr/>
        </p:nvSpPr>
        <p:spPr>
          <a:xfrm>
            <a:off x="5394960" y="1828800"/>
            <a:ext cx="2926080" cy="1463040"/>
          </a:xfrm>
          <a:prstGeom prst="rect">
            <a:avLst/>
          </a:prstGeom>
          <a:solidFill>
            <a:srgbClr val="FFFFFF"/>
          </a:solidFill>
          <a:ln w="12700">
            <a:solidFill>
              <a:srgbClr val="C9D1E0"/>
            </a:solidFill>
            <a:prstDash val="solid"/>
          </a:ln>
        </p:spPr>
      </p:sp>
      <p:sp>
        <p:nvSpPr>
          <p:cNvPr id="8" name="Shape 6"/>
          <p:cNvSpPr/>
          <p:nvPr/>
        </p:nvSpPr>
        <p:spPr>
          <a:xfrm>
            <a:off x="5394960" y="1828800"/>
            <a:ext cx="0" cy="1463040"/>
          </a:xfrm>
          <a:prstGeom prst="line">
            <a:avLst/>
          </a:prstGeom>
          <a:noFill/>
          <a:ln w="76200">
            <a:solidFill>
              <a:srgbClr val="E07A2F"/>
            </a:solidFill>
            <a:prstDash val="solid"/>
          </a:ln>
        </p:spPr>
      </p:sp>
      <p:sp>
        <p:nvSpPr>
          <p:cNvPr id="9" name="Text 7"/>
          <p:cNvSpPr txBox="1"/>
          <p:nvPr/>
        </p:nvSpPr>
        <p:spPr>
          <a:xfrm>
            <a:off x="5669280" y="1828800"/>
            <a:ext cx="2560320" cy="1463040"/>
          </a:xfrm>
          <a:prstGeom prst="rect">
            <a:avLst/>
          </a:prstGeom>
          <a:noFill/>
          <a:ln/>
        </p:spPr>
        <p:txBody>
          <a:bodyPr wrap="square" lIns="0" tIns="0" rIns="0" bIns="0" rtlCol="0" anchor="ctr"/>
          <a:lstStyle/>
          <a:p>
            <a:pPr indent="0" marL="0">
              <a:buNone/>
            </a:pPr>
            <a:r>
              <a:rPr lang="en-US" sz="1500" dirty="0">
                <a:solidFill>
                  <a:srgbClr val="1F2433"/>
                </a:solidFill>
                <a:latin typeface="Calibri" pitchFamily="34" charset="0"/>
                <a:ea typeface="Calibri" pitchFamily="34" charset="-122"/>
                <a:cs typeface="Calibri" pitchFamily="34" charset="-120"/>
              </a:rPr>
              <a:t>Mensaje de aviso</a:t>
            </a:r>
            <a:endParaRPr lang="en-US" sz="1500" dirty="0"/>
          </a:p>
        </p:txBody>
      </p:sp>
      <p:sp>
        <p:nvSpPr>
          <p:cNvPr id="10" name="Text 8"/>
          <p:cNvSpPr txBox="1"/>
          <p:nvPr/>
        </p:nvSpPr>
        <p:spPr>
          <a:xfrm>
            <a:off x="5394960" y="3566160"/>
            <a:ext cx="2926080" cy="365760"/>
          </a:xfrm>
          <a:prstGeom prst="rect">
            <a:avLst/>
          </a:prstGeom>
          <a:noFill/>
          <a:ln/>
        </p:spPr>
        <p:txBody>
          <a:bodyPr wrap="square" lIns="0" tIns="0" rIns="0" bIns="0" rtlCol="0" anchor="ctr"/>
          <a:lstStyle/>
          <a:p>
            <a:pPr algn="ctr" indent="0" marL="0">
              <a:buNone/>
            </a:pPr>
            <a:r>
              <a:rPr lang="en-US" sz="1300" i="1" dirty="0">
                <a:solidFill>
                  <a:srgbClr val="5B6475"/>
                </a:solidFill>
                <a:latin typeface="Calibri" pitchFamily="34" charset="0"/>
                <a:ea typeface="Calibri" pitchFamily="34" charset="-122"/>
                <a:cs typeface="Calibri" pitchFamily="34" charset="-120"/>
              </a:rPr>
              <a:t>Resultado</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2433"/>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Ideas clave</a:t>
            </a:r>
            <a:endParaRPr lang="en-US" sz="3000" dirty="0"/>
          </a:p>
        </p:txBody>
      </p:sp>
      <p:sp>
        <p:nvSpPr>
          <p:cNvPr id="3" name="Shape 1"/>
          <p:cNvSpPr/>
          <p:nvPr/>
        </p:nvSpPr>
        <p:spPr>
          <a:xfrm>
            <a:off x="457200" y="1097280"/>
            <a:ext cx="502920" cy="502920"/>
          </a:xfrm>
          <a:prstGeom prst="roundRect">
            <a:avLst>
              <a:gd name="adj" fmla="val 14545"/>
            </a:avLst>
          </a:prstGeom>
          <a:solidFill>
            <a:srgbClr val="E07A2F"/>
          </a:solidFill>
          <a:ln w="12700">
            <a:solidFill>
              <a:srgbClr val="E07A2F"/>
            </a:solidFill>
            <a:prstDash val="solid"/>
          </a:ln>
        </p:spPr>
      </p:sp>
      <p:sp>
        <p:nvSpPr>
          <p:cNvPr id="4" name="Text 2"/>
          <p:cNvSpPr txBox="1"/>
          <p:nvPr/>
        </p:nvSpPr>
        <p:spPr>
          <a:xfrm>
            <a:off x="457200" y="10972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1</a:t>
            </a:r>
            <a:endParaRPr lang="en-US" sz="1600" dirty="0"/>
          </a:p>
        </p:txBody>
      </p:sp>
      <p:sp>
        <p:nvSpPr>
          <p:cNvPr id="5" name="Text 3"/>
          <p:cNvSpPr txBox="1"/>
          <p:nvPr/>
        </p:nvSpPr>
        <p:spPr>
          <a:xfrm>
            <a:off x="1234440" y="1097280"/>
            <a:ext cx="740664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Cada borde tiene anchura, color y estilo: 20 propiedades en total</a:t>
            </a:r>
            <a:endParaRPr lang="en-US" sz="1700" dirty="0"/>
          </a:p>
        </p:txBody>
      </p:sp>
      <p:sp>
        <p:nvSpPr>
          <p:cNvPr id="6" name="Shape 4"/>
          <p:cNvSpPr/>
          <p:nvPr/>
        </p:nvSpPr>
        <p:spPr>
          <a:xfrm>
            <a:off x="457200" y="1828800"/>
            <a:ext cx="502920" cy="502920"/>
          </a:xfrm>
          <a:prstGeom prst="roundRect">
            <a:avLst>
              <a:gd name="adj" fmla="val 14545"/>
            </a:avLst>
          </a:prstGeom>
          <a:solidFill>
            <a:srgbClr val="2E86AB"/>
          </a:solidFill>
          <a:ln w="12700">
            <a:solidFill>
              <a:srgbClr val="2E86AB"/>
            </a:solidFill>
            <a:prstDash val="solid"/>
          </a:ln>
        </p:spPr>
      </p:sp>
      <p:sp>
        <p:nvSpPr>
          <p:cNvPr id="7" name="Text 5"/>
          <p:cNvSpPr txBox="1"/>
          <p:nvPr/>
        </p:nvSpPr>
        <p:spPr>
          <a:xfrm>
            <a:off x="457200" y="1828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2</a:t>
            </a:r>
            <a:endParaRPr lang="en-US" sz="1600" dirty="0"/>
          </a:p>
        </p:txBody>
      </p:sp>
      <p:sp>
        <p:nvSpPr>
          <p:cNvPr id="8" name="Text 6"/>
          <p:cNvSpPr txBox="1"/>
          <p:nvPr/>
        </p:nvSpPr>
        <p:spPr>
          <a:xfrm>
            <a:off x="1234440" y="1828800"/>
            <a:ext cx="740664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border-style vale none por defecto: sin estilo no hay borde</a:t>
            </a:r>
            <a:endParaRPr lang="en-US" sz="1700" dirty="0"/>
          </a:p>
        </p:txBody>
      </p:sp>
      <p:sp>
        <p:nvSpPr>
          <p:cNvPr id="9" name="Shape 7"/>
          <p:cNvSpPr/>
          <p:nvPr/>
        </p:nvSpPr>
        <p:spPr>
          <a:xfrm>
            <a:off x="457200" y="2560320"/>
            <a:ext cx="502920" cy="502920"/>
          </a:xfrm>
          <a:prstGeom prst="roundRect">
            <a:avLst>
              <a:gd name="adj" fmla="val 14545"/>
            </a:avLst>
          </a:prstGeom>
          <a:solidFill>
            <a:srgbClr val="E07A2F"/>
          </a:solidFill>
          <a:ln w="12700">
            <a:solidFill>
              <a:srgbClr val="E07A2F"/>
            </a:solidFill>
            <a:prstDash val="solid"/>
          </a:ln>
        </p:spPr>
      </p:sp>
      <p:sp>
        <p:nvSpPr>
          <p:cNvPr id="10" name="Text 8"/>
          <p:cNvSpPr txBox="1"/>
          <p:nvPr/>
        </p:nvSpPr>
        <p:spPr>
          <a:xfrm>
            <a:off x="457200" y="2560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3</a:t>
            </a:r>
            <a:endParaRPr lang="en-US" sz="1600" dirty="0"/>
          </a:p>
        </p:txBody>
      </p:sp>
      <p:sp>
        <p:nvSpPr>
          <p:cNvPr id="11" name="Text 9"/>
          <p:cNvSpPr txBox="1"/>
          <p:nvPr/>
        </p:nvSpPr>
        <p:spPr>
          <a:xfrm>
            <a:off x="1234440" y="2560320"/>
            <a:ext cx="740664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width, color y style admiten de 1 a 4 valores (arriba, derecha, abajo, izquierda)</a:t>
            </a:r>
            <a:endParaRPr lang="en-US" sz="1700" dirty="0"/>
          </a:p>
        </p:txBody>
      </p:sp>
      <p:sp>
        <p:nvSpPr>
          <p:cNvPr id="12" name="Shape 10"/>
          <p:cNvSpPr/>
          <p:nvPr/>
        </p:nvSpPr>
        <p:spPr>
          <a:xfrm>
            <a:off x="457200" y="3291840"/>
            <a:ext cx="502920" cy="502920"/>
          </a:xfrm>
          <a:prstGeom prst="roundRect">
            <a:avLst>
              <a:gd name="adj" fmla="val 14545"/>
            </a:avLst>
          </a:prstGeom>
          <a:solidFill>
            <a:srgbClr val="2E86AB"/>
          </a:solidFill>
          <a:ln w="12700">
            <a:solidFill>
              <a:srgbClr val="2E86AB"/>
            </a:solidFill>
            <a:prstDash val="solid"/>
          </a:ln>
        </p:spPr>
      </p:sp>
      <p:sp>
        <p:nvSpPr>
          <p:cNvPr id="13" name="Text 11"/>
          <p:cNvSpPr txBox="1"/>
          <p:nvPr/>
        </p:nvSpPr>
        <p:spPr>
          <a:xfrm>
            <a:off x="457200" y="3291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4</a:t>
            </a:r>
            <a:endParaRPr lang="en-US" sz="1600" dirty="0"/>
          </a:p>
        </p:txBody>
      </p:sp>
      <p:sp>
        <p:nvSpPr>
          <p:cNvPr id="14" name="Text 12"/>
          <p:cNvSpPr txBox="1"/>
          <p:nvPr/>
        </p:nvSpPr>
        <p:spPr>
          <a:xfrm>
            <a:off x="1234440" y="3291840"/>
            <a:ext cx="740664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border y border-lado: anchura, estilo y color en cualquier orden</a:t>
            </a:r>
            <a:endParaRPr lang="en-US" sz="1700" dirty="0"/>
          </a:p>
        </p:txBody>
      </p:sp>
      <p:sp>
        <p:nvSpPr>
          <p:cNvPr id="15" name="Shape 13"/>
          <p:cNvSpPr/>
          <p:nvPr/>
        </p:nvSpPr>
        <p:spPr>
          <a:xfrm>
            <a:off x="457200" y="4023360"/>
            <a:ext cx="502920" cy="502920"/>
          </a:xfrm>
          <a:prstGeom prst="roundRect">
            <a:avLst>
              <a:gd name="adj" fmla="val 14545"/>
            </a:avLst>
          </a:prstGeom>
          <a:solidFill>
            <a:srgbClr val="E07A2F"/>
          </a:solidFill>
          <a:ln w="12700">
            <a:solidFill>
              <a:srgbClr val="E07A2F"/>
            </a:solidFill>
            <a:prstDash val="solid"/>
          </a:ln>
        </p:spPr>
      </p:sp>
      <p:sp>
        <p:nvSpPr>
          <p:cNvPr id="16" name="Text 14"/>
          <p:cNvSpPr txBox="1"/>
          <p:nvPr/>
        </p:nvSpPr>
        <p:spPr>
          <a:xfrm>
            <a:off x="457200" y="40233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5</a:t>
            </a:r>
            <a:endParaRPr lang="en-US" sz="1600" dirty="0"/>
          </a:p>
        </p:txBody>
      </p:sp>
      <p:sp>
        <p:nvSpPr>
          <p:cNvPr id="17" name="Text 15"/>
          <p:cNvSpPr txBox="1"/>
          <p:nvPr/>
        </p:nvSpPr>
        <p:spPr>
          <a:xfrm>
            <a:off x="1234440" y="4023360"/>
            <a:ext cx="7406640" cy="5029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La abreviada reinicia lo omitido: primero lo general, luego el detalle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Bordes en CSS</dc:title>
  <dc:subject>PptxGenJS Presentation</dc:subject>
  <dc:creator>PptxGenJS</dc:creator>
  <cp:lastModifiedBy>PptxGenJS</cp:lastModifiedBy>
  <cp:revision>1</cp:revision>
  <dcterms:created xsi:type="dcterms:W3CDTF">2026-09-23T07:46:46Z</dcterms:created>
  <dcterms:modified xsi:type="dcterms:W3CDTF">2026-09-23T07:46:46Z</dcterms:modified>
</cp:coreProperties>
</file>