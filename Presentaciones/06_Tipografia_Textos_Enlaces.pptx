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58059F3F-6E13-26AE-2932-DDD8D9226E3B}">
          <p14:sldIdLst>
            <p14:sldId id="256"/>
            <p14:sldId id="257"/>
          </p14:sldIdLst>
        </p14:section>
        <p14:section name="Tipografía" id="{8A53C69F-36EE-98FA-091A-67990990D651}">
          <p14:sldIdLst>
            <p14:sldId id="258"/>
            <p14:sldId id="259"/>
            <p14:sldId id="260"/>
            <p14:sldId id="261"/>
            <p14:sldId id="262"/>
          </p14:sldIdLst>
        </p14:section>
        <p14:section name="Estilos para textos" id="{66E4884F-DCA7-6C04-C5CC-405A1BD95EBB}">
          <p14:sldIdLst>
            <p14:sldId id="263"/>
            <p14:sldId id="264"/>
            <p14:sldId id="265"/>
          </p14:sldIdLst>
        </p14:section>
        <p14:section name="Enlaces" id="{E52FD940-63F2-3CB7-3826-F9CAC76BE98E}">
          <p14:sldIdLst>
            <p14:sldId id="266"/>
            <p14:sldId id="267"/>
            <p14:sldId id="268"/>
            <p14:sldId id="269"/>
          </p14:sldIdLst>
        </p14:section>
        <p14:section name="Cierre" id="{10F33EAF-9F23-8C01-472F-2DA785672FDE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965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sesión. Se trabajan propiedades de texto y enlaces, dentro de la UT2 (RA2). Criterios relacionados: b) estilos de forma directa, e) redefinir estilos (enlaces del navegador), f) propiedades de cada elemento y g) clases de estilos (enlace-botón).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de la sesión. Conviene recordar que casi todas las propiedades de texto se heredan: por eso se suelen declarar en body o en contenedores y se redefinen solo donde hace falta.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color establece el color del texto. Se hereda: basta con declararlo en body para toda la página. Excepción importante: los enlaces no heredan el color del padre porque la hoja de estilos del navegador ya les asigna uno (azul / morado). Por eso hay que definir a { color: ... } explícitamente. Sintaxis de color: ver la lección de colores (hex, rgb(), hsl(), nombres).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font-family recibe una lista priorizada: el navegador usa la primera disponible. Como nunca podemos asegurar qué fuentes tiene instaladas el usuario, la lista debe terminar SIEMPRE con una familia genérica. Nota para el profesor: el ejemplo de la fuente original (Arial, Helvetica, Verdana) no termina en familia genérica; aquí se muestra la versión recomendada.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familias genéricas no son fuentes concretas, sino un aspecto: el navegador elige una fuente instalada que encaje. Las muestras de la diapositiva usan una fuente representativa de cada familia; el resultado real depende del sistema. Ampliación (CSS Fonts 4): system-ui y las familias ui-* permiten usar la fuente de interfaz del sistema operativo; su soporte es desigual, salvo system-ui.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font-size se hereda. Recomendación: unidades relativas. rem depende solo del tamaño de html, así que es predecible; em depende del padre y se acumula en anidamientos (1.2em dentro de 1.2em = 1.44 veces). Los px fijos no siempre respetan el tamaño de letra elegido por el usuario en el navegador: enlaza con accesibilidad (RA5).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 es una propiedad shorthand: agrupa varias propiedades tipográficas en una sola declaración. El orden importa. font-size y font-family son obligatorios; el resto es opcional. Error típico: las subpropiedades que se omiten no se conservan, vuelven a su valor inicial (por ejemplo, un line-height definido antes se pierde).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text-align alinea el contenido en línea dentro de su bloque: left, right, center, justify (también start/end, que respetan la dirección del idioma). line-height controla la altura de cada línea. Recomendación: un número sin unidad (1.4–1.6): lo que se hereda es el factor, no un valor calculado, y así se adapta al tamaño de cada elemento. justify puede crear huecos irregulares entre palabras, lo que dificulta la lectura.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text-decoration añade o quita líneas: underline, overline, line-through o none (muy usado para quitar el subrayado de los enlaces). Se pueden combinar varias: underline overline. text-transform cambia mayúsculas/minúsculas solo en la presentación: el texto del HTML no cambia (importante si se copia el texto o para lectores de pantalla). Ampliación: text-decoration es hoy una propiedad abreviada de text-decoration-line, -color, -style y -thickness.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vertical-align NO centra verticalmente un bloque dentro de otro: solo funciona en elementos en línea (inline, inline-block, imágenes) y en celdas de tabla. Es un error frecuente intentar usarlo en un div; para eso se usa Flexbox o Grid (se verá más adelante en la UT2).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estilos más rápidos para enlaces son los de texto ya vistos: color, tamaño, peso y text-decoration. El navegador aplica por defecto azul y subrayado a los no visitados y morado a los visitados. Al redefinirlos estamos sobrescribiendo la hoja de estilos del navegador (CE e: redefinir estilos). Aviso didáctico: quitar el subrayado obliga a que el enlace se distinga por otro medio (color con contraste suficiente, negrita...), no solo por el color: enlaza con WCAG en la UT5.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pseudoclases seleccionan un elemento según su estado. Se escriben con UN solo signo de dos puntos pegado al selector, sin espacios: a:hover. :link y :visited solo existen para enlaces; :hover y :active funcionan en cualquier elemento. Por privacidad, los navegadores solo permiten cambiar propiedades de color en :visited (color, background-color, border-color...), para que una web no pueda averiguar el historial del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reglas tienen la misma especificidad (0,1,1): una etiqueta y una pseudoclase. Con empate, gana la que está más abajo (repaso de la sesión de especificidad). Si :hover se escribiera antes que :link o :visited, nunca se vería en los enlaces, porque :link/:visited lo sobrescribirían. Regla mnemotécnica: LoVe HAte (Link, Visited, Hover, Active).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propiedades de caja (display, padding, background, border-radius) un enlace puede parecer un botón. Se aplica mediante una clase (CE g) para no afectar al resto de enlaces. Criterio semántico importante: si el elemento navega a otra página o recurso, es un &lt;a&gt;; si ejecuta una acción (enviar, abrir un menú), debe ser un &lt;button&gt;. El aspecto visual no cambia el significado del elemento para un lector de pantalla.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para el profesor y el alumnado: contrasta afirmaciones del material base (3con14.biz, 2021) con la documentación actual de W3C/MDN. La fila más importante es la de los dos puntos: a::hover es un selector inválido y la regla entera se descarta. Las filas de familias ui-* y text-decoration son ampliación; la de :focus-visible enlaza con accesibilidad (RA5, navegación con teclado).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 la sesión. Propuesta de actividad breve (nivel 1): dar estilo tipográfico completo a una página de texto (fuente con familia genérica, tamaños en rem, interlineado sin unidad) y personalizar sus enlaces respetando el orden LVHA.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2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169164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3063240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2"/>
                </a:solidFill>
              </a:rPr>
              <a:t>Diseño de Interfaces Web · 2º DAW · UT2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2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UT2 · UTILIZACIÓN DE ESTILOS CON CSS3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16916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Tipografía, estilos de texto y enlaces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3063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Cómo controlar el aspecto del texto y de los hipervínculos con CSS</a:t>
            </a:r>
            <a:endParaRPr lang="en-US" sz="1800" dirty="0"/>
          </a:p>
        </p:txBody>
      </p:sp>
      <p:sp>
        <p:nvSpPr>
          <p:cNvPr id="5" name="referencia"/>
          <p:cNvSpPr txBox="1"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RA2 (35 %) · CE b), e), f), g)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Contenido base: 3con14.biz — Textos, Enlaces (Jesús Plaza M., licencia CC), revisado con MDN y W3C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PANORAMA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bloques de propiedades</a:t>
            </a:r>
            <a:endParaRPr lang="en-US" sz="3000" dirty="0"/>
          </a:p>
        </p:txBody>
      </p:sp>
      <p:sp>
        <p:nvSpPr>
          <p:cNvPr id="5" name="bloque-1"/>
          <p:cNvSpPr/>
          <p:nvPr/>
        </p:nvSpPr>
        <p:spPr>
          <a:xfrm>
            <a:off x="457200" y="141732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num-1"/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 txBox="1"/>
          <p:nvPr/>
        </p:nvSpPr>
        <p:spPr>
          <a:xfrm>
            <a:off x="6858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Tipografía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788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 (abreviada)</a:t>
            </a:r>
            <a:endParaRPr lang="en-US" sz="1200" dirty="0"/>
          </a:p>
        </p:txBody>
      </p:sp>
      <p:sp>
        <p:nvSpPr>
          <p:cNvPr id="10" name="bloque-2"/>
          <p:cNvSpPr/>
          <p:nvPr/>
        </p:nvSpPr>
        <p:spPr>
          <a:xfrm>
            <a:off x="3291840" y="141732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num-2"/>
          <p:cNvSpPr/>
          <p:nvPr/>
        </p:nvSpPr>
        <p:spPr>
          <a:xfrm>
            <a:off x="35204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35204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Estilos para textos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2788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text-decoration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text-transform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vertical-align</a:t>
            </a:r>
            <a:endParaRPr lang="en-US" sz="1200" dirty="0"/>
          </a:p>
        </p:txBody>
      </p:sp>
      <p:sp>
        <p:nvSpPr>
          <p:cNvPr id="15" name="bloque-3"/>
          <p:cNvSpPr/>
          <p:nvPr/>
        </p:nvSpPr>
        <p:spPr>
          <a:xfrm>
            <a:off x="6126480" y="1417320"/>
            <a:ext cx="26517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num-3"/>
          <p:cNvSpPr/>
          <p:nvPr/>
        </p:nvSpPr>
        <p:spPr>
          <a:xfrm>
            <a:off x="635508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 txBox="1"/>
          <p:nvPr/>
        </p:nvSpPr>
        <p:spPr>
          <a:xfrm>
            <a:off x="63550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Enlaces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2788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:link  :visited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:hover  :active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enlace como botón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La mayoría de estas propiedades se heredan de padres a hijos.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TIPOGRAFÍA · COLOR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propiedad color</a:t>
            </a:r>
            <a:endParaRPr lang="en-US" sz="3000" dirty="0"/>
          </a:p>
        </p:txBody>
      </p:sp>
      <p:sp>
        <p:nvSpPr>
          <p:cNvPr id="5" name="vineta-0"/>
          <p:cNvSpPr/>
          <p:nvPr/>
        </p:nvSpPr>
        <p:spPr>
          <a:xfrm>
            <a:off x="457200" y="1498854"/>
            <a:ext cx="82296" cy="822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item-0"/>
          <p:cNvSpPr txBox="1"/>
          <p:nvPr/>
        </p:nvSpPr>
        <p:spPr>
          <a:xfrm>
            <a:off x="713232" y="1417320"/>
            <a:ext cx="3584448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Define el color del </a:t>
            </a:r>
            <a:r>
              <a:rPr lang="en-US" sz="1500" b="1" dirty="0">
                <a:solidFill>
                  <a:schemeClr val="tx1"/>
                </a:solidFill>
              </a:rPr>
              <a:t>texto</a:t>
            </a:r>
            <a:r>
              <a:rPr lang="en-US" sz="1500" dirty="0">
                <a:solidFill>
                  <a:schemeClr val="tx1"/>
                </a:solidFill>
              </a:rPr>
              <a:t> de un elemento.</a:t>
            </a:r>
            <a:endParaRPr lang="en-US" sz="1500" dirty="0"/>
          </a:p>
        </p:txBody>
      </p:sp>
      <p:sp>
        <p:nvSpPr>
          <p:cNvPr id="7" name="vineta-1"/>
          <p:cNvSpPr/>
          <p:nvPr/>
        </p:nvSpPr>
        <p:spPr>
          <a:xfrm>
            <a:off x="457200" y="1901571"/>
            <a:ext cx="82296" cy="822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item-1"/>
          <p:cNvSpPr txBox="1"/>
          <p:nvPr/>
        </p:nvSpPr>
        <p:spPr>
          <a:xfrm>
            <a:off x="713232" y="1820037"/>
            <a:ext cx="3584448" cy="512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Se </a:t>
            </a:r>
            <a:r>
              <a:rPr lang="en-US" sz="1500" b="1" dirty="0">
                <a:solidFill>
                  <a:schemeClr val="tx1"/>
                </a:solidFill>
              </a:rPr>
              <a:t>hereda</a:t>
            </a:r>
            <a:r>
              <a:rPr lang="en-US" sz="1500" dirty="0">
                <a:solidFill>
                  <a:schemeClr val="tx1"/>
                </a:solidFill>
              </a:rPr>
              <a:t>: si se aplica a body, toda la página lo recibe.</a:t>
            </a:r>
            <a:endParaRPr lang="en-US" sz="1500" dirty="0"/>
          </a:p>
        </p:txBody>
      </p:sp>
      <p:sp>
        <p:nvSpPr>
          <p:cNvPr id="9" name="vineta-2"/>
          <p:cNvSpPr/>
          <p:nvPr/>
        </p:nvSpPr>
        <p:spPr>
          <a:xfrm>
            <a:off x="457200" y="2542413"/>
            <a:ext cx="82296" cy="822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item-2"/>
          <p:cNvSpPr txBox="1"/>
          <p:nvPr/>
        </p:nvSpPr>
        <p:spPr>
          <a:xfrm>
            <a:off x="713232" y="2460879"/>
            <a:ext cx="3584448" cy="512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Si un hijo no debe heredarlo, se le asigna su propio color.</a:t>
            </a:r>
            <a:endParaRPr lang="en-US" sz="1500" dirty="0"/>
          </a:p>
        </p:txBody>
      </p:sp>
      <p:sp>
        <p:nvSpPr>
          <p:cNvPr id="11" name="vineta-3"/>
          <p:cNvSpPr/>
          <p:nvPr/>
        </p:nvSpPr>
        <p:spPr>
          <a:xfrm>
            <a:off x="457200" y="3183255"/>
            <a:ext cx="82296" cy="822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item-3"/>
          <p:cNvSpPr txBox="1"/>
          <p:nvPr/>
        </p:nvSpPr>
        <p:spPr>
          <a:xfrm>
            <a:off x="713232" y="3101721"/>
            <a:ext cx="3584448" cy="512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Excepción: </a:t>
            </a:r>
            <a:r>
              <a:rPr lang="en-US" sz="1500" dirty="0">
                <a:solidFill>
                  <a:schemeClr val="tx1"/>
                </a:solidFill>
              </a:rPr>
              <a:t>los enlaces no heredan; el navegador ya les aplica su color.</a:t>
            </a:r>
            <a:endParaRPr lang="en-US" sz="1500" dirty="0"/>
          </a:p>
        </p:txBody>
      </p:sp>
      <p:sp>
        <p:nvSpPr>
          <p:cNvPr id="13" name="codigo-color-fondo"/>
          <p:cNvSpPr/>
          <p:nvPr/>
        </p:nvSpPr>
        <p:spPr>
          <a:xfrm>
            <a:off x="4572000" y="1417320"/>
            <a:ext cx="4114800" cy="2377440"/>
          </a:xfrm>
          <a:prstGeom prst="roundRect">
            <a:avLst>
              <a:gd name="adj" fmla="val 384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codigo-color"/>
          <p:cNvSpPr txBox="1"/>
          <p:nvPr/>
        </p:nvSpPr>
        <p:spPr>
          <a:xfrm>
            <a:off x="4754880" y="1527048"/>
            <a:ext cx="374904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Todo el texto de la página */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 color: #1c1d21; 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Todos los encabezados */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h1, h2, h3, h4, h5, h6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#8e342e;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Los enlaces, aparte */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{ color: #126f83; }</a:t>
            </a:r>
            <a:endParaRPr lang="en-US" sz="1200" dirty="0"/>
          </a:p>
        </p:txBody>
      </p:sp>
      <p:sp>
        <p:nvSpPr>
          <p:cNvPr id="15" name="nota-fondo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nota"/>
          <p:cNvSpPr txBox="1"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Recuerda:  </a:t>
            </a:r>
            <a:r>
              <a:rPr lang="en-US" sz="1300" dirty="0">
                <a:solidFill>
                  <a:schemeClr val="tx1"/>
                </a:solidFill>
              </a:rPr>
              <a:t>el valor puede escribirse en hexadecimal, rgb(), hsl() o con nombre (ver lección de colores).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TIPOGRAFÍA · FONT-FAMILY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lista de fuentes alternativas</a:t>
            </a:r>
            <a:endParaRPr lang="en-US" sz="3000" dirty="0"/>
          </a:p>
        </p:txBody>
      </p:sp>
      <p:sp>
        <p:nvSpPr>
          <p:cNvPr id="5" name="chip-Georgia"/>
          <p:cNvSpPr/>
          <p:nvPr/>
        </p:nvSpPr>
        <p:spPr>
          <a:xfrm>
            <a:off x="457200" y="1508760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457200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Georgia</a:t>
            </a:r>
            <a:endParaRPr lang="en-US" sz="1200" dirty="0"/>
          </a:p>
        </p:txBody>
      </p:sp>
      <p:sp>
        <p:nvSpPr>
          <p:cNvPr id="7" name="flecha-0"/>
          <p:cNvSpPr/>
          <p:nvPr/>
        </p:nvSpPr>
        <p:spPr>
          <a:xfrm>
            <a:off x="1920240" y="1645920"/>
            <a:ext cx="32004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chip-Cambria"/>
          <p:cNvSpPr/>
          <p:nvPr/>
        </p:nvSpPr>
        <p:spPr>
          <a:xfrm>
            <a:off x="2331720" y="1508760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2331720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Cambria</a:t>
            </a:r>
            <a:endParaRPr lang="en-US" sz="1200" dirty="0"/>
          </a:p>
        </p:txBody>
      </p:sp>
      <p:sp>
        <p:nvSpPr>
          <p:cNvPr id="10" name="flecha-1"/>
          <p:cNvSpPr/>
          <p:nvPr/>
        </p:nvSpPr>
        <p:spPr>
          <a:xfrm>
            <a:off x="3794760" y="1645920"/>
            <a:ext cx="32004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chip-&quot;Times New Roman&quot;"/>
          <p:cNvSpPr/>
          <p:nvPr/>
        </p:nvSpPr>
        <p:spPr>
          <a:xfrm>
            <a:off x="4206240" y="1508760"/>
            <a:ext cx="21945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420624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"Times New Roman"</a:t>
            </a:r>
            <a:endParaRPr lang="en-US" sz="1200" dirty="0"/>
          </a:p>
        </p:txBody>
      </p:sp>
      <p:sp>
        <p:nvSpPr>
          <p:cNvPr id="13" name="flecha-2"/>
          <p:cNvSpPr/>
          <p:nvPr/>
        </p:nvSpPr>
        <p:spPr>
          <a:xfrm>
            <a:off x="6492240" y="1645920"/>
            <a:ext cx="32004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chip-serif"/>
          <p:cNvSpPr/>
          <p:nvPr/>
        </p:nvSpPr>
        <p:spPr>
          <a:xfrm>
            <a:off x="6903720" y="1508760"/>
            <a:ext cx="11887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 txBox="1"/>
          <p:nvPr/>
        </p:nvSpPr>
        <p:spPr>
          <a:xfrm>
            <a:off x="6903720" y="1508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serif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1.ª opción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331720" y="20116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alternativas, por orden de prioridad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familia genérica</a:t>
            </a:r>
            <a:endParaRPr lang="en-US" sz="1100" dirty="0"/>
          </a:p>
        </p:txBody>
      </p:sp>
      <p:sp>
        <p:nvSpPr>
          <p:cNvPr id="19" name="codigo-familia-fondo"/>
          <p:cNvSpPr/>
          <p:nvPr/>
        </p:nvSpPr>
        <p:spPr>
          <a:xfrm>
            <a:off x="457200" y="2514600"/>
            <a:ext cx="4206240" cy="2011680"/>
          </a:xfrm>
          <a:prstGeom prst="roundRect">
            <a:avLst>
              <a:gd name="adj" fmla="val 454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codigo-familia"/>
          <p:cNvSpPr txBox="1"/>
          <p:nvPr/>
        </p:nvSpPr>
        <p:spPr>
          <a:xfrm>
            <a:off x="640080" y="2624328"/>
            <a:ext cx="384048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Arial, sans-serif;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Georgia, Cambria,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"Times New Roman", serif;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1" name="vineta-0"/>
          <p:cNvSpPr/>
          <p:nvPr/>
        </p:nvSpPr>
        <p:spPr>
          <a:xfrm>
            <a:off x="4937760" y="2588260"/>
            <a:ext cx="82296" cy="822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item-0"/>
          <p:cNvSpPr txBox="1"/>
          <p:nvPr/>
        </p:nvSpPr>
        <p:spPr>
          <a:xfrm>
            <a:off x="5193792" y="2514600"/>
            <a:ext cx="3493008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Las fuentes se separan por comas.</a:t>
            </a:r>
            <a:endParaRPr lang="en-US" sz="1400" dirty="0"/>
          </a:p>
        </p:txBody>
      </p:sp>
      <p:sp>
        <p:nvSpPr>
          <p:cNvPr id="23" name="vineta-1"/>
          <p:cNvSpPr/>
          <p:nvPr/>
        </p:nvSpPr>
        <p:spPr>
          <a:xfrm>
            <a:off x="4937760" y="2975102"/>
            <a:ext cx="82296" cy="822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item-1"/>
          <p:cNvSpPr txBox="1"/>
          <p:nvPr/>
        </p:nvSpPr>
        <p:spPr>
          <a:xfrm>
            <a:off x="5193792" y="2901442"/>
            <a:ext cx="3493008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Nombres con espacios, entre comillas.</a:t>
            </a:r>
            <a:endParaRPr lang="en-US" sz="1400" dirty="0"/>
          </a:p>
        </p:txBody>
      </p:sp>
      <p:sp>
        <p:nvSpPr>
          <p:cNvPr id="25" name="vineta-2"/>
          <p:cNvSpPr/>
          <p:nvPr/>
        </p:nvSpPr>
        <p:spPr>
          <a:xfrm>
            <a:off x="4937760" y="3361944"/>
            <a:ext cx="82296" cy="822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item-2"/>
          <p:cNvSpPr txBox="1"/>
          <p:nvPr/>
        </p:nvSpPr>
        <p:spPr>
          <a:xfrm>
            <a:off x="5193792" y="3288284"/>
            <a:ext cx="3493008" cy="25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Termina </a:t>
            </a:r>
            <a:r>
              <a:rPr lang="en-US" sz="1400" b="1" dirty="0">
                <a:solidFill>
                  <a:schemeClr val="tx1"/>
                </a:solidFill>
              </a:rPr>
              <a:t>siempre</a:t>
            </a:r>
            <a:r>
              <a:rPr lang="en-US" sz="1400" dirty="0">
                <a:solidFill>
                  <a:schemeClr val="tx1"/>
                </a:solidFill>
              </a:rPr>
              <a:t> con una familia genérica.</a:t>
            </a:r>
            <a:endParaRPr lang="en-US" sz="1400" dirty="0"/>
          </a:p>
        </p:txBody>
      </p:sp>
      <p:sp>
        <p:nvSpPr>
          <p:cNvPr id="27" name="vineta-3"/>
          <p:cNvSpPr/>
          <p:nvPr/>
        </p:nvSpPr>
        <p:spPr>
          <a:xfrm>
            <a:off x="4937760" y="3748786"/>
            <a:ext cx="82296" cy="822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item-3"/>
          <p:cNvSpPr txBox="1"/>
          <p:nvPr/>
        </p:nvSpPr>
        <p:spPr>
          <a:xfrm>
            <a:off x="5193792" y="3675126"/>
            <a:ext cx="3493008" cy="481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Sin font-family, el navegador usa su fuente por defecto (habitualmente una serif).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TIPOGRAFÍA · FAMILIAS GENÉRICAS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cinco familias genéricas</a:t>
            </a:r>
            <a:endParaRPr lang="en-US" sz="3000" dirty="0"/>
          </a:p>
        </p:txBody>
      </p:sp>
      <p:sp>
        <p:nvSpPr>
          <p:cNvPr id="5" name="familia-serif"/>
          <p:cNvSpPr/>
          <p:nvPr/>
        </p:nvSpPr>
        <p:spPr>
          <a:xfrm>
            <a:off x="457200" y="1417320"/>
            <a:ext cx="1536192" cy="21488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457200" y="155448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Aa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5146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serif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88036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Con remates</a:t>
            </a:r>
            <a:endParaRPr lang="en-US" sz="1200" dirty="0"/>
          </a:p>
        </p:txBody>
      </p:sp>
      <p:sp>
        <p:nvSpPr>
          <p:cNvPr id="9" name="familia-sans-serif"/>
          <p:cNvSpPr/>
          <p:nvPr/>
        </p:nvSpPr>
        <p:spPr>
          <a:xfrm>
            <a:off x="2139696" y="1417320"/>
            <a:ext cx="1536192" cy="21488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 txBox="1"/>
          <p:nvPr/>
        </p:nvSpPr>
        <p:spPr>
          <a:xfrm>
            <a:off x="2139696" y="155448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2139696" y="25146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sans-serif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139696" y="288036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Sin remates</a:t>
            </a:r>
            <a:endParaRPr lang="en-US" sz="1200" dirty="0"/>
          </a:p>
        </p:txBody>
      </p:sp>
      <p:sp>
        <p:nvSpPr>
          <p:cNvPr id="13" name="familia-monospace"/>
          <p:cNvSpPr/>
          <p:nvPr/>
        </p:nvSpPr>
        <p:spPr>
          <a:xfrm>
            <a:off x="3822192" y="1417320"/>
            <a:ext cx="1536192" cy="21488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 txBox="1"/>
          <p:nvPr/>
        </p:nvSpPr>
        <p:spPr>
          <a:xfrm>
            <a:off x="3822192" y="155448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3822192" y="25146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monospace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822192" y="288036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Ancho fijo</a:t>
            </a:r>
            <a:endParaRPr lang="en-US" sz="1200" dirty="0"/>
          </a:p>
        </p:txBody>
      </p:sp>
      <p:sp>
        <p:nvSpPr>
          <p:cNvPr id="17" name="familia-cursive"/>
          <p:cNvSpPr/>
          <p:nvPr/>
        </p:nvSpPr>
        <p:spPr>
          <a:xfrm>
            <a:off x="5504688" y="1417320"/>
            <a:ext cx="1536192" cy="21488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 txBox="1"/>
          <p:nvPr/>
        </p:nvSpPr>
        <p:spPr>
          <a:xfrm>
            <a:off x="5504688" y="155448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chemeClr val="tx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Aa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5504688" y="25146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cursive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504688" y="288036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Manuscrita</a:t>
            </a:r>
            <a:endParaRPr lang="en-US" sz="1200" dirty="0"/>
          </a:p>
        </p:txBody>
      </p:sp>
      <p:sp>
        <p:nvSpPr>
          <p:cNvPr id="21" name="familia-fantasy"/>
          <p:cNvSpPr/>
          <p:nvPr/>
        </p:nvSpPr>
        <p:spPr>
          <a:xfrm>
            <a:off x="7187184" y="1417320"/>
            <a:ext cx="1536192" cy="21488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 txBox="1"/>
          <p:nvPr/>
        </p:nvSpPr>
        <p:spPr>
          <a:xfrm>
            <a:off x="7187184" y="155448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chemeClr val="tx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Aa</a:t>
            </a:r>
            <a:endParaRPr lang="en-US" sz="4000" dirty="0"/>
          </a:p>
        </p:txBody>
      </p:sp>
      <p:sp>
        <p:nvSpPr>
          <p:cNvPr id="23" name="Text 20"/>
          <p:cNvSpPr txBox="1"/>
          <p:nvPr/>
        </p:nvSpPr>
        <p:spPr>
          <a:xfrm>
            <a:off x="7187184" y="25146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fantasy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187184" y="288036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Decorativa</a:t>
            </a:r>
            <a:endParaRPr lang="en-US" sz="12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TIPOGRAFÍA · FONT-SIZE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tamaño de letra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4389120" cy="239268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Unidad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Relativa a…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Uso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Tamaño de html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Recomendada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Tamaño del padre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 acumula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Tamaño del padre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Igual que em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Absoluta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Evitar en textos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palabras clave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xx-small … xx-large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smaller / larger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codigo-size-fondo"/>
          <p:cNvSpPr/>
          <p:nvPr/>
        </p:nvSpPr>
        <p:spPr>
          <a:xfrm>
            <a:off x="5120640" y="1417320"/>
            <a:ext cx="3566160" cy="182880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codigo-size"/>
          <p:cNvSpPr txBox="1"/>
          <p:nvPr/>
        </p:nvSpPr>
        <p:spPr>
          <a:xfrm>
            <a:off x="5303520" y="1527048"/>
            <a:ext cx="320040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 { font-size: 100%; 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16px por defecto */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   { font-size: 2.5rem; 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   { font-size: 1rem; 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 { font-size: 0.875em; }</a:t>
            </a:r>
            <a:endParaRPr lang="en-US" sz="1200" dirty="0"/>
          </a:p>
        </p:txBody>
      </p:sp>
      <p:sp>
        <p:nvSpPr>
          <p:cNvPr id="8" name="nota-fondo"/>
          <p:cNvSpPr/>
          <p:nvPr/>
        </p:nvSpPr>
        <p:spPr>
          <a:xfrm>
            <a:off x="5120640" y="3474720"/>
            <a:ext cx="3566160" cy="1005840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nota"/>
          <p:cNvSpPr txBox="1"/>
          <p:nvPr/>
        </p:nvSpPr>
        <p:spPr>
          <a:xfrm>
            <a:off x="5303520" y="34747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Accesibilidad:  </a:t>
            </a:r>
            <a:r>
              <a:rPr lang="en-US" sz="1300" dirty="0">
                <a:solidFill>
                  <a:schemeClr val="tx1"/>
                </a:solidFill>
              </a:rPr>
              <a:t>las unidades relativas respetan el tamaño de letra que el usuario configura en su navegador.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TIPOGRAFÍA · FONT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propiedad abreviada font</a:t>
            </a:r>
            <a:endParaRPr lang="en-US" sz="3000" dirty="0"/>
          </a:p>
        </p:txBody>
      </p:sp>
      <p:sp>
        <p:nvSpPr>
          <p:cNvPr id="5" name="chip-font-style"/>
          <p:cNvSpPr/>
          <p:nvPr/>
        </p:nvSpPr>
        <p:spPr>
          <a:xfrm>
            <a:off x="457200" y="1463040"/>
            <a:ext cx="114300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457200" y="146304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font-style</a:t>
            </a:r>
            <a:endParaRPr lang="en-US" sz="1200" dirty="0"/>
          </a:p>
        </p:txBody>
      </p:sp>
      <p:sp>
        <p:nvSpPr>
          <p:cNvPr id="7" name="chip-font-variant"/>
          <p:cNvSpPr/>
          <p:nvPr/>
        </p:nvSpPr>
        <p:spPr>
          <a:xfrm>
            <a:off x="1709928" y="1463040"/>
            <a:ext cx="123444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 txBox="1"/>
          <p:nvPr/>
        </p:nvSpPr>
        <p:spPr>
          <a:xfrm>
            <a:off x="1709928" y="146304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font-variant</a:t>
            </a:r>
            <a:endParaRPr lang="en-US" sz="1200" dirty="0"/>
          </a:p>
        </p:txBody>
      </p:sp>
      <p:sp>
        <p:nvSpPr>
          <p:cNvPr id="9" name="chip-font-weight"/>
          <p:cNvSpPr/>
          <p:nvPr/>
        </p:nvSpPr>
        <p:spPr>
          <a:xfrm>
            <a:off x="3054096" y="1463040"/>
            <a:ext cx="123444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 txBox="1"/>
          <p:nvPr/>
        </p:nvSpPr>
        <p:spPr>
          <a:xfrm>
            <a:off x="3054096" y="146304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</a:t>
            </a:r>
            <a:endParaRPr lang="en-US" sz="1200" dirty="0"/>
          </a:p>
        </p:txBody>
      </p:sp>
      <p:sp>
        <p:nvSpPr>
          <p:cNvPr id="11" name="chip-font-size"/>
          <p:cNvSpPr/>
          <p:nvPr/>
        </p:nvSpPr>
        <p:spPr>
          <a:xfrm>
            <a:off x="4398264" y="1463040"/>
            <a:ext cx="105156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4398264" y="14630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endParaRPr lang="en-US" sz="1200" dirty="0"/>
          </a:p>
        </p:txBody>
      </p:sp>
      <p:sp>
        <p:nvSpPr>
          <p:cNvPr id="13" name="chip-/line-height"/>
          <p:cNvSpPr/>
          <p:nvPr/>
        </p:nvSpPr>
        <p:spPr>
          <a:xfrm>
            <a:off x="5559552" y="1463040"/>
            <a:ext cx="132588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 txBox="1"/>
          <p:nvPr/>
        </p:nvSpPr>
        <p:spPr>
          <a:xfrm>
            <a:off x="5559552" y="146304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/line-height</a:t>
            </a:r>
            <a:endParaRPr lang="en-US" sz="1200" dirty="0"/>
          </a:p>
        </p:txBody>
      </p:sp>
      <p:sp>
        <p:nvSpPr>
          <p:cNvPr id="15" name="chip-font-family"/>
          <p:cNvSpPr/>
          <p:nvPr/>
        </p:nvSpPr>
        <p:spPr>
          <a:xfrm>
            <a:off x="6995160" y="1463040"/>
            <a:ext cx="123444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 txBox="1"/>
          <p:nvPr/>
        </p:nvSpPr>
        <p:spPr>
          <a:xfrm>
            <a:off x="6995160" y="146304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endParaRPr lang="en-US" sz="1200" dirty="0"/>
          </a:p>
        </p:txBody>
      </p:sp>
      <p:sp>
        <p:nvSpPr>
          <p:cNvPr id="17" name="leyenda-opcional"/>
          <p:cNvSpPr/>
          <p:nvPr/>
        </p:nvSpPr>
        <p:spPr>
          <a:xfrm>
            <a:off x="457200" y="2029968"/>
            <a:ext cx="201168" cy="164592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 txBox="1"/>
          <p:nvPr/>
        </p:nvSpPr>
        <p:spPr>
          <a:xfrm>
            <a:off x="731520" y="19842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opcional</a:t>
            </a:r>
            <a:endParaRPr lang="en-US" sz="1100" dirty="0"/>
          </a:p>
        </p:txBody>
      </p:sp>
      <p:sp>
        <p:nvSpPr>
          <p:cNvPr id="19" name="leyenda-obligatorio"/>
          <p:cNvSpPr/>
          <p:nvPr/>
        </p:nvSpPr>
        <p:spPr>
          <a:xfrm>
            <a:off x="1828800" y="2029968"/>
            <a:ext cx="201168" cy="164592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 txBox="1"/>
          <p:nvPr/>
        </p:nvSpPr>
        <p:spPr>
          <a:xfrm>
            <a:off x="2103120" y="19842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obligatorio</a:t>
            </a:r>
            <a:endParaRPr lang="en-US" sz="1100" dirty="0"/>
          </a:p>
        </p:txBody>
      </p:sp>
      <p:sp>
        <p:nvSpPr>
          <p:cNvPr id="21" name="codigo-font-fondo"/>
          <p:cNvSpPr/>
          <p:nvPr/>
        </p:nvSpPr>
        <p:spPr>
          <a:xfrm>
            <a:off x="457200" y="2423160"/>
            <a:ext cx="3931920" cy="777240"/>
          </a:xfrm>
          <a:prstGeom prst="roundRect">
            <a:avLst>
              <a:gd name="adj" fmla="val 1176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codigo-font"/>
          <p:cNvSpPr txBox="1"/>
          <p:nvPr/>
        </p:nvSpPr>
        <p:spPr>
          <a:xfrm>
            <a:off x="640080" y="2532888"/>
            <a:ext cx="35661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font: italic bold 1rem/1.5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Georgia, serif; }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3291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chemeClr val="tx2"/>
                </a:solidFill>
              </a:rPr>
              <a:t>equivale a  →</a:t>
            </a:r>
            <a:endParaRPr lang="en-US" sz="1300" dirty="0"/>
          </a:p>
        </p:txBody>
      </p:sp>
      <p:sp>
        <p:nvSpPr>
          <p:cNvPr id="24" name="codigo-font-largo-fondo"/>
          <p:cNvSpPr/>
          <p:nvPr/>
        </p:nvSpPr>
        <p:spPr>
          <a:xfrm>
            <a:off x="4663440" y="2423160"/>
            <a:ext cx="4023360" cy="2103120"/>
          </a:xfrm>
          <a:prstGeom prst="roundRect">
            <a:avLst>
              <a:gd name="adj" fmla="val 434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codigo-font-largo"/>
          <p:cNvSpPr txBox="1"/>
          <p:nvPr/>
        </p:nvSpPr>
        <p:spPr>
          <a:xfrm>
            <a:off x="4846320" y="2532888"/>
            <a:ext cx="36576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font-style: italic;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font-weight: bold;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1rem;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line-height: 1.5;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Georgia, serif;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6" name="nota-fondo"/>
          <p:cNvSpPr/>
          <p:nvPr/>
        </p:nvSpPr>
        <p:spPr>
          <a:xfrm>
            <a:off x="457200" y="3657600"/>
            <a:ext cx="393192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nota"/>
          <p:cNvSpPr txBox="1"/>
          <p:nvPr/>
        </p:nvSpPr>
        <p:spPr>
          <a:xfrm>
            <a:off x="640080" y="36576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Cuidado:  </a:t>
            </a:r>
            <a:r>
              <a:rPr lang="en-US" sz="1300" dirty="0">
                <a:solidFill>
                  <a:schemeClr val="tx1"/>
                </a:solidFill>
              </a:rPr>
              <a:t>lo que se omite vuelve a su valor inicial, no se conserva.</a:t>
            </a:r>
            <a:endParaRPr lang="en-US" sz="13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ESTILOS PARA TEXTOS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Alineación e interlineado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</a:t>
            </a:r>
            <a:endParaRPr lang="en-US" sz="1600" dirty="0"/>
          </a:p>
        </p:txBody>
      </p:sp>
      <p:sp>
        <p:nvSpPr>
          <p:cNvPr id="6" name="align-left"/>
          <p:cNvSpPr/>
          <p:nvPr/>
        </p:nvSpPr>
        <p:spPr>
          <a:xfrm>
            <a:off x="457200" y="1783080"/>
            <a:ext cx="914400" cy="96012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linea-left-0"/>
          <p:cNvSpPr/>
          <p:nvPr/>
        </p:nvSpPr>
        <p:spPr>
          <a:xfrm>
            <a:off x="548640" y="1920240"/>
            <a:ext cx="73152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linea-left-1"/>
          <p:cNvSpPr/>
          <p:nvPr/>
        </p:nvSpPr>
        <p:spPr>
          <a:xfrm>
            <a:off x="548640" y="2103120"/>
            <a:ext cx="54864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linea-left-2"/>
          <p:cNvSpPr/>
          <p:nvPr/>
        </p:nvSpPr>
        <p:spPr>
          <a:xfrm>
            <a:off x="548640" y="2286000"/>
            <a:ext cx="658368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linea-left-3"/>
          <p:cNvSpPr/>
          <p:nvPr/>
        </p:nvSpPr>
        <p:spPr>
          <a:xfrm>
            <a:off x="548640" y="2468880"/>
            <a:ext cx="43891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 txBox="1"/>
          <p:nvPr/>
        </p:nvSpPr>
        <p:spPr>
          <a:xfrm>
            <a:off x="45720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endParaRPr lang="en-US" sz="1200" dirty="0"/>
          </a:p>
        </p:txBody>
      </p:sp>
      <p:sp>
        <p:nvSpPr>
          <p:cNvPr id="12" name="align-center"/>
          <p:cNvSpPr/>
          <p:nvPr/>
        </p:nvSpPr>
        <p:spPr>
          <a:xfrm>
            <a:off x="1463040" y="1783080"/>
            <a:ext cx="914400" cy="96012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linea-center-0"/>
          <p:cNvSpPr/>
          <p:nvPr/>
        </p:nvSpPr>
        <p:spPr>
          <a:xfrm>
            <a:off x="1554480" y="1920240"/>
            <a:ext cx="73152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linea-center-1"/>
          <p:cNvSpPr/>
          <p:nvPr/>
        </p:nvSpPr>
        <p:spPr>
          <a:xfrm>
            <a:off x="1645920" y="2103120"/>
            <a:ext cx="54864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linea-center-2"/>
          <p:cNvSpPr/>
          <p:nvPr/>
        </p:nvSpPr>
        <p:spPr>
          <a:xfrm>
            <a:off x="1591056" y="2286000"/>
            <a:ext cx="658368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linea-center-3"/>
          <p:cNvSpPr/>
          <p:nvPr/>
        </p:nvSpPr>
        <p:spPr>
          <a:xfrm>
            <a:off x="1700784" y="2468880"/>
            <a:ext cx="43891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 txBox="1"/>
          <p:nvPr/>
        </p:nvSpPr>
        <p:spPr>
          <a:xfrm>
            <a:off x="146304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endParaRPr lang="en-US" sz="1200" dirty="0"/>
          </a:p>
        </p:txBody>
      </p:sp>
      <p:sp>
        <p:nvSpPr>
          <p:cNvPr id="18" name="align-right"/>
          <p:cNvSpPr/>
          <p:nvPr/>
        </p:nvSpPr>
        <p:spPr>
          <a:xfrm>
            <a:off x="2468880" y="1783080"/>
            <a:ext cx="914400" cy="96012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linea-right-0"/>
          <p:cNvSpPr/>
          <p:nvPr/>
        </p:nvSpPr>
        <p:spPr>
          <a:xfrm>
            <a:off x="2560320" y="1920240"/>
            <a:ext cx="73152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linea-right-1"/>
          <p:cNvSpPr/>
          <p:nvPr/>
        </p:nvSpPr>
        <p:spPr>
          <a:xfrm>
            <a:off x="2743200" y="2103120"/>
            <a:ext cx="54864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linea-right-2"/>
          <p:cNvSpPr/>
          <p:nvPr/>
        </p:nvSpPr>
        <p:spPr>
          <a:xfrm>
            <a:off x="2633472" y="2286000"/>
            <a:ext cx="658368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linea-right-3"/>
          <p:cNvSpPr/>
          <p:nvPr/>
        </p:nvSpPr>
        <p:spPr>
          <a:xfrm>
            <a:off x="2852928" y="2468880"/>
            <a:ext cx="43891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 txBox="1"/>
          <p:nvPr/>
        </p:nvSpPr>
        <p:spPr>
          <a:xfrm>
            <a:off x="246888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endParaRPr lang="en-US" sz="1200" dirty="0"/>
          </a:p>
        </p:txBody>
      </p:sp>
      <p:sp>
        <p:nvSpPr>
          <p:cNvPr id="24" name="align-justify"/>
          <p:cNvSpPr/>
          <p:nvPr/>
        </p:nvSpPr>
        <p:spPr>
          <a:xfrm>
            <a:off x="3474720" y="1783080"/>
            <a:ext cx="914400" cy="96012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linea-justify-0"/>
          <p:cNvSpPr/>
          <p:nvPr/>
        </p:nvSpPr>
        <p:spPr>
          <a:xfrm>
            <a:off x="3566160" y="1920240"/>
            <a:ext cx="73152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linea-justify-1"/>
          <p:cNvSpPr/>
          <p:nvPr/>
        </p:nvSpPr>
        <p:spPr>
          <a:xfrm>
            <a:off x="3566160" y="2103120"/>
            <a:ext cx="73152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linea-justify-2"/>
          <p:cNvSpPr/>
          <p:nvPr/>
        </p:nvSpPr>
        <p:spPr>
          <a:xfrm>
            <a:off x="3566160" y="2286000"/>
            <a:ext cx="73152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linea-justify-3"/>
          <p:cNvSpPr/>
          <p:nvPr/>
        </p:nvSpPr>
        <p:spPr>
          <a:xfrm>
            <a:off x="3566160" y="2468880"/>
            <a:ext cx="41148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 txBox="1"/>
          <p:nvPr/>
        </p:nvSpPr>
        <p:spPr>
          <a:xfrm>
            <a:off x="347472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</a:t>
            </a:r>
            <a:endParaRPr lang="en-US" sz="1200" dirty="0"/>
          </a:p>
        </p:txBody>
      </p:sp>
      <p:sp>
        <p:nvSpPr>
          <p:cNvPr id="30" name="codigo-align-fondo"/>
          <p:cNvSpPr/>
          <p:nvPr/>
        </p:nvSpPr>
        <p:spPr>
          <a:xfrm>
            <a:off x="457200" y="3246120"/>
            <a:ext cx="3931920" cy="68580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codigo-align"/>
          <p:cNvSpPr txBox="1"/>
          <p:nvPr/>
        </p:nvSpPr>
        <p:spPr>
          <a:xfrm>
            <a:off x="640080" y="3355848"/>
            <a:ext cx="3566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     { text-align: center; 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 { text-align: justify; }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475488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Valores: </a:t>
            </a: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 | número | longitud | % </a:t>
            </a:r>
            <a:endParaRPr lang="en-US" sz="1300" dirty="0"/>
          </a:p>
        </p:txBody>
      </p:sp>
      <p:sp>
        <p:nvSpPr>
          <p:cNvPr id="34" name="lh-1"/>
          <p:cNvSpPr/>
          <p:nvPr/>
        </p:nvSpPr>
        <p:spPr>
          <a:xfrm>
            <a:off x="4754880" y="2194560"/>
            <a:ext cx="1874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2"/>
          <p:cNvSpPr txBox="1"/>
          <p:nvPr/>
        </p:nvSpPr>
        <p:spPr>
          <a:xfrm>
            <a:off x="4864608" y="22402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line-height: 1 — las líneas quedan muy juntas</a:t>
            </a:r>
            <a:endParaRPr lang="en-US" sz="1200" dirty="0"/>
          </a:p>
        </p:txBody>
      </p:sp>
      <p:sp>
        <p:nvSpPr>
          <p:cNvPr id="36" name="lh-2"/>
          <p:cNvSpPr/>
          <p:nvPr/>
        </p:nvSpPr>
        <p:spPr>
          <a:xfrm>
            <a:off x="6812280" y="2194560"/>
            <a:ext cx="1874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 txBox="1"/>
          <p:nvPr/>
        </p:nvSpPr>
        <p:spPr>
          <a:xfrm>
            <a:off x="6922008" y="22402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line-height: 1.5 — lectura más cómoda</a:t>
            </a:r>
            <a:endParaRPr lang="en-US" sz="1200" dirty="0"/>
          </a:p>
        </p:txBody>
      </p:sp>
      <p:sp>
        <p:nvSpPr>
          <p:cNvPr id="38" name="codigo-lh-fondo"/>
          <p:cNvSpPr/>
          <p:nvPr/>
        </p:nvSpPr>
        <p:spPr>
          <a:xfrm>
            <a:off x="4754880" y="3429000"/>
            <a:ext cx="3931920" cy="50292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codigo-lh"/>
          <p:cNvSpPr txBox="1"/>
          <p:nvPr/>
        </p:nvSpPr>
        <p:spPr>
          <a:xfrm>
            <a:off x="4937760" y="3538728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 line-height: 1.5; }</a:t>
            </a:r>
            <a:endParaRPr lang="en-US" sz="1200" dirty="0"/>
          </a:p>
        </p:txBody>
      </p:sp>
      <p:sp>
        <p:nvSpPr>
          <p:cNvPr id="40" name="nota-fondo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nota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Buena práctica:  </a:t>
            </a:r>
            <a:r>
              <a:rPr lang="en-US" sz="1300" dirty="0">
                <a:solidFill>
                  <a:schemeClr val="tx1"/>
                </a:solidFill>
              </a:rPr>
              <a:t>line-height con número sin unidad (1.4–1.6); se hereda el factor, no un valor fijo.</a:t>
            </a:r>
            <a:endParaRPr lang="en-US" sz="13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ESTILOS PARA TEXTOS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Decoración y transformación del texto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120640" cy="292608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Propiedad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Valor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Resultado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text-decoration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underline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u="sng" dirty="0">
                          <a:solidFill>
                            <a:schemeClr val="tx1"/>
                          </a:solidFill>
                        </a:rPr>
                        <a:t>Texto subrayado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overline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Línea por encima del texto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line-through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strike="sngStrike" dirty="0">
                          <a:solidFill>
                            <a:schemeClr val="tx1"/>
                          </a:solidFill>
                        </a:rPr>
                        <a:t>Texto tachado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Sin decoración (enlaces)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text-transform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uppercase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HOLA MUNDO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lowercase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hola mundo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capitalize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Hola Mundo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codigo-deco-fondo"/>
          <p:cNvSpPr/>
          <p:nvPr/>
        </p:nvSpPr>
        <p:spPr>
          <a:xfrm>
            <a:off x="5852160" y="1371600"/>
            <a:ext cx="2834640" cy="1691640"/>
          </a:xfrm>
          <a:prstGeom prst="roundRect">
            <a:avLst>
              <a:gd name="adj" fmla="val 540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codigo-deco"/>
          <p:cNvSpPr txBox="1"/>
          <p:nvPr/>
        </p:nvSpPr>
        <p:spPr>
          <a:xfrm>
            <a:off x="6035040" y="1481328"/>
            <a:ext cx="24688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a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text-decoration: none;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text-transform: uppercase;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nota-fondo"/>
          <p:cNvSpPr/>
          <p:nvPr/>
        </p:nvSpPr>
        <p:spPr>
          <a:xfrm>
            <a:off x="5852160" y="3246120"/>
            <a:ext cx="2834640" cy="1051560"/>
          </a:xfrm>
          <a:prstGeom prst="roundRect">
            <a:avLst>
              <a:gd name="adj" fmla="val 869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nota"/>
          <p:cNvSpPr txBox="1"/>
          <p:nvPr/>
        </p:nvSpPr>
        <p:spPr>
          <a:xfrm>
            <a:off x="6035040" y="32461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Ojo:  </a:t>
            </a:r>
            <a:r>
              <a:rPr lang="en-US" sz="1300" dirty="0">
                <a:solidFill>
                  <a:schemeClr val="tx1"/>
                </a:solidFill>
              </a:rPr>
              <a:t>text-transform solo cambia cómo se ve; el texto del HTML sigue igual.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ESTILOS PARA TEXTOS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vertical-align</a:t>
            </a:r>
            <a:endParaRPr lang="en-US" sz="3000" dirty="0"/>
          </a:p>
        </p:txBody>
      </p:sp>
      <p:sp>
        <p:nvSpPr>
          <p:cNvPr id="5" name="tarjeta-En línea"/>
          <p:cNvSpPr/>
          <p:nvPr/>
        </p:nvSpPr>
        <p:spPr>
          <a:xfrm>
            <a:off x="457200" y="141732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o-En línea"/>
          <p:cNvSpPr txBox="1"/>
          <p:nvPr/>
        </p:nvSpPr>
        <p:spPr>
          <a:xfrm>
            <a:off x="621792" y="1527048"/>
            <a:ext cx="232257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En línea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· sub · super · text-top · text-bottom · middle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Iconos, imágenes y texto dentro de una línea.</a:t>
            </a:r>
            <a:endParaRPr lang="en-US" sz="1500" dirty="0"/>
          </a:p>
        </p:txBody>
      </p:sp>
      <p:sp>
        <p:nvSpPr>
          <p:cNvPr id="7" name="tarjeta-Celdas de tabla"/>
          <p:cNvSpPr/>
          <p:nvPr/>
        </p:nvSpPr>
        <p:spPr>
          <a:xfrm>
            <a:off x="3246120" y="141732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o-Celdas de tabla"/>
          <p:cNvSpPr txBox="1"/>
          <p:nvPr/>
        </p:nvSpPr>
        <p:spPr>
          <a:xfrm>
            <a:off x="3410712" y="1527048"/>
            <a:ext cx="232257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Celdas de tabla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· middle · bottom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Posición del contenido dentro de la celda.</a:t>
            </a:r>
            <a:endParaRPr lang="en-US" sz="1500" dirty="0"/>
          </a:p>
        </p:txBody>
      </p:sp>
      <p:sp>
        <p:nvSpPr>
          <p:cNvPr id="9" name="tarjeta-Medidas"/>
          <p:cNvSpPr/>
          <p:nvPr/>
        </p:nvSpPr>
        <p:spPr>
          <a:xfrm>
            <a:off x="6035040" y="141732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o-Medidas"/>
          <p:cNvSpPr txBox="1"/>
          <p:nvPr/>
        </p:nvSpPr>
        <p:spPr>
          <a:xfrm>
            <a:off x="6199632" y="1527048"/>
            <a:ext cx="232257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Medidas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porcentaje · longitud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Desplazamiento respecto a la línea base.</a:t>
            </a:r>
            <a:endParaRPr lang="en-US" sz="1500" dirty="0"/>
          </a:p>
        </p:txBody>
      </p:sp>
      <p:sp>
        <p:nvSpPr>
          <p:cNvPr id="11" name="codigo-valign-fondo"/>
          <p:cNvSpPr/>
          <p:nvPr/>
        </p:nvSpPr>
        <p:spPr>
          <a:xfrm>
            <a:off x="457200" y="338328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codigo-valign"/>
          <p:cNvSpPr txBox="1"/>
          <p:nvPr/>
        </p:nvSpPr>
        <p:spPr>
          <a:xfrm>
            <a:off x="640080" y="3493008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img.icono { vertical-align: middle; 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        { vertical-align: top; 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       { vertical-align: super; }</a:t>
            </a:r>
            <a:endParaRPr lang="en-US" sz="1200" dirty="0"/>
          </a:p>
        </p:txBody>
      </p:sp>
      <p:sp>
        <p:nvSpPr>
          <p:cNvPr id="13" name="nota-fondo"/>
          <p:cNvSpPr/>
          <p:nvPr/>
        </p:nvSpPr>
        <p:spPr>
          <a:xfrm>
            <a:off x="4663440" y="338328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nota"/>
          <p:cNvSpPr txBox="1"/>
          <p:nvPr/>
        </p:nvSpPr>
        <p:spPr>
          <a:xfrm>
            <a:off x="484632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Error frecuente:  </a:t>
            </a:r>
            <a:r>
              <a:rPr lang="en-US" sz="1300" dirty="0">
                <a:solidFill>
                  <a:schemeClr val="tx1"/>
                </a:solidFill>
              </a:rPr>
              <a:t>no sirve para centrar un div dentro de otro; para eso, Flexbox o Grid.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ESTILOS PARA ENLACES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aspecto por defecto de un enlace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Por defecto, en el navegador</a:t>
            </a:r>
            <a:endParaRPr lang="en-US" sz="1400" dirty="0"/>
          </a:p>
        </p:txBody>
      </p:sp>
      <p:sp>
        <p:nvSpPr>
          <p:cNvPr id="6" name="muestra-enlaces"/>
          <p:cNvSpPr/>
          <p:nvPr/>
        </p:nvSpPr>
        <p:spPr>
          <a:xfrm>
            <a:off x="457200" y="1783080"/>
            <a:ext cx="38404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enlaces-ejemplo"/>
          <p:cNvSpPr txBox="1"/>
          <p:nvPr/>
        </p:nvSpPr>
        <p:spPr>
          <a:xfrm>
            <a:off x="685800" y="18745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u="sng" dirty="0">
                <a:solidFill>
                  <a:srgbClr val="0000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Enlace no visitado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u="sng" dirty="0">
                <a:solidFill>
                  <a:srgbClr val="551A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Enlace visitado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Personalizado con CSS</a:t>
            </a:r>
            <a:endParaRPr lang="en-US" sz="1400" dirty="0"/>
          </a:p>
        </p:txBody>
      </p:sp>
      <p:sp>
        <p:nvSpPr>
          <p:cNvPr id="9" name="codigo-enlace-fondo"/>
          <p:cNvSpPr/>
          <p:nvPr/>
        </p:nvSpPr>
        <p:spPr>
          <a:xfrm>
            <a:off x="4572000" y="1783080"/>
            <a:ext cx="4114800" cy="137160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codigo-enlace"/>
          <p:cNvSpPr txBox="1"/>
          <p:nvPr/>
        </p:nvSpPr>
        <p:spPr>
          <a:xfrm>
            <a:off x="4754880" y="1892808"/>
            <a:ext cx="3749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{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#3454d1;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font-weight: bold;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text-decoration: none;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nota-fondo"/>
          <p:cNvSpPr/>
          <p:nvPr/>
        </p:nvSpPr>
        <p:spPr>
          <a:xfrm>
            <a:off x="457200" y="342900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nota"/>
          <p:cNvSpPr txBox="1"/>
          <p:nvPr/>
        </p:nvSpPr>
        <p:spPr>
          <a:xfrm>
            <a:off x="640080" y="34290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Accesibilidad:  </a:t>
            </a:r>
            <a:r>
              <a:rPr lang="en-US" sz="1300" dirty="0">
                <a:solidFill>
                  <a:schemeClr val="tx1"/>
                </a:solidFill>
              </a:rPr>
              <a:t>si se quita el subrayado, el enlace debe seguir distinguiéndose del texto normal (contraste, peso...), no solo por el color.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ESTILOS PARA ENLACES · PSEUDOCLASES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estilo para cada estado</a:t>
            </a:r>
            <a:endParaRPr lang="en-US" sz="3000" dirty="0"/>
          </a:p>
        </p:txBody>
      </p:sp>
      <p:sp>
        <p:nvSpPr>
          <p:cNvPr id="5" name="tarjeta-:link"/>
          <p:cNvSpPr/>
          <p:nvPr/>
        </p:nvSpPr>
        <p:spPr>
          <a:xfrm>
            <a:off x="457200" y="141732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o-:link"/>
          <p:cNvSpPr txBox="1"/>
          <p:nvPr/>
        </p:nvSpPr>
        <p:spPr>
          <a:xfrm>
            <a:off x="621792" y="1527048"/>
            <a:ext cx="369417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:link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Enlaces aún no visitados por el usuario.</a:t>
            </a:r>
            <a:endParaRPr lang="en-US" sz="1600" dirty="0"/>
          </a:p>
        </p:txBody>
      </p:sp>
      <p:sp>
        <p:nvSpPr>
          <p:cNvPr id="7" name="tarjeta-:visited"/>
          <p:cNvSpPr/>
          <p:nvPr/>
        </p:nvSpPr>
        <p:spPr>
          <a:xfrm>
            <a:off x="4663440" y="141732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o-:visited"/>
          <p:cNvSpPr txBox="1"/>
          <p:nvPr/>
        </p:nvSpPr>
        <p:spPr>
          <a:xfrm>
            <a:off x="4828032" y="1527048"/>
            <a:ext cx="369417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:visited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Enlaces ya visitados (según el historial del navegador).</a:t>
            </a:r>
            <a:endParaRPr lang="en-US" sz="1600" dirty="0"/>
          </a:p>
        </p:txBody>
      </p:sp>
      <p:sp>
        <p:nvSpPr>
          <p:cNvPr id="9" name="tarjeta-:hover"/>
          <p:cNvSpPr/>
          <p:nvPr/>
        </p:nvSpPr>
        <p:spPr>
          <a:xfrm>
            <a:off x="457200" y="251460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o-:hover"/>
          <p:cNvSpPr txBox="1"/>
          <p:nvPr/>
        </p:nvSpPr>
        <p:spPr>
          <a:xfrm>
            <a:off x="621792" y="2624328"/>
            <a:ext cx="369417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:hover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El puntero del ratón está encima del elemento.</a:t>
            </a:r>
            <a:endParaRPr lang="en-US" sz="1600" dirty="0"/>
          </a:p>
        </p:txBody>
      </p:sp>
      <p:sp>
        <p:nvSpPr>
          <p:cNvPr id="11" name="tarjeta-:active"/>
          <p:cNvSpPr/>
          <p:nvPr/>
        </p:nvSpPr>
        <p:spPr>
          <a:xfrm>
            <a:off x="4663440" y="251460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o-:active"/>
          <p:cNvSpPr txBox="1"/>
          <p:nvPr/>
        </p:nvSpPr>
        <p:spPr>
          <a:xfrm>
            <a:off x="4828032" y="2624328"/>
            <a:ext cx="369417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:active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Mientras se pulsa: desde que se hace clic hasta que se suelta.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Solo enlaces: </a:t>
            </a: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:link, :visited</a:t>
            </a:r>
            <a:r>
              <a:rPr lang="en-US" sz="1400" b="1" dirty="0">
                <a:solidFill>
                  <a:schemeClr val="tx1"/>
                </a:solidFill>
              </a:rPr>
              <a:t>     ·     Cualquier elemento: </a:t>
            </a: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:hover, :active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Por privacidad, en :visited el navegador solo permite cambiar propiedades de color.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ESTILOS PARA ENLACES · ORDEN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orden importa: LoVe HAte</a:t>
            </a:r>
            <a:endParaRPr lang="en-US" sz="3000" dirty="0"/>
          </a:p>
        </p:txBody>
      </p:sp>
      <p:sp>
        <p:nvSpPr>
          <p:cNvPr id="5" name="lvha-L"/>
          <p:cNvSpPr/>
          <p:nvPr/>
        </p:nvSpPr>
        <p:spPr>
          <a:xfrm>
            <a:off x="59436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 txBox="1"/>
          <p:nvPr/>
        </p:nvSpPr>
        <p:spPr>
          <a:xfrm>
            <a:off x="5943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176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:link</a:t>
            </a:r>
            <a:endParaRPr lang="en-US" sz="1200" dirty="0"/>
          </a:p>
        </p:txBody>
      </p:sp>
      <p:sp>
        <p:nvSpPr>
          <p:cNvPr id="8" name="lvha-V"/>
          <p:cNvSpPr/>
          <p:nvPr/>
        </p:nvSpPr>
        <p:spPr>
          <a:xfrm>
            <a:off x="155448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15544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176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:visited</a:t>
            </a:r>
            <a:endParaRPr lang="en-US" sz="1200" dirty="0"/>
          </a:p>
        </p:txBody>
      </p:sp>
      <p:sp>
        <p:nvSpPr>
          <p:cNvPr id="11" name="lvha-H"/>
          <p:cNvSpPr/>
          <p:nvPr/>
        </p:nvSpPr>
        <p:spPr>
          <a:xfrm>
            <a:off x="251460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25146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2377440" y="2176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:hover</a:t>
            </a:r>
            <a:endParaRPr lang="en-US" sz="1200" dirty="0"/>
          </a:p>
        </p:txBody>
      </p:sp>
      <p:sp>
        <p:nvSpPr>
          <p:cNvPr id="14" name="lvha-A"/>
          <p:cNvSpPr/>
          <p:nvPr/>
        </p:nvSpPr>
        <p:spPr>
          <a:xfrm>
            <a:off x="347472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 txBox="1"/>
          <p:nvPr/>
        </p:nvSpPr>
        <p:spPr>
          <a:xfrm>
            <a:off x="34747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3337560" y="2176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:active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26974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Las cuatro reglas tienen la </a:t>
            </a:r>
            <a:r>
              <a:rPr lang="en-US" sz="1400" b="1" dirty="0">
                <a:solidFill>
                  <a:schemeClr val="tx1"/>
                </a:solidFill>
              </a:rPr>
              <a:t>misma especificidad (0,1,1)</a:t>
            </a:r>
            <a:r>
              <a:rPr lang="en-US" sz="1400" dirty="0">
                <a:solidFill>
                  <a:schemeClr val="tx1"/>
                </a:solidFill>
              </a:rPr>
              <a:t>: con empate gana la última. Si :hover va antes, :link y :visited lo tapan.</a:t>
            </a:r>
            <a:endParaRPr lang="en-US" sz="1400" dirty="0"/>
          </a:p>
        </p:txBody>
      </p:sp>
      <p:sp>
        <p:nvSpPr>
          <p:cNvPr id="18" name="codigo-lvha-fondo"/>
          <p:cNvSpPr/>
          <p:nvPr/>
        </p:nvSpPr>
        <p:spPr>
          <a:xfrm>
            <a:off x="4572000" y="1463040"/>
            <a:ext cx="4114800" cy="2606040"/>
          </a:xfrm>
          <a:prstGeom prst="roundRect">
            <a:avLst>
              <a:gd name="adj" fmla="val 35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codigo-lvha"/>
          <p:cNvSpPr txBox="1"/>
          <p:nvPr/>
        </p:nvSpPr>
        <p:spPr>
          <a:xfrm>
            <a:off x="4754880" y="1572768"/>
            <a:ext cx="3749040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a:link    { color: #3454d1; }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a:visited { color: #6d3fc0; }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a:hover   {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text-decoration: underline;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a:active  { color: #c0392b; 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ESTILOS PARA ENLACES · CLASES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enlace con aspecto de botón</a:t>
            </a:r>
            <a:endParaRPr lang="en-US" sz="3000" dirty="0"/>
          </a:p>
        </p:txBody>
      </p:sp>
      <p:sp>
        <p:nvSpPr>
          <p:cNvPr id="5" name="codigo-boton-fondo"/>
          <p:cNvSpPr/>
          <p:nvPr/>
        </p:nvSpPr>
        <p:spPr>
          <a:xfrm>
            <a:off x="457200" y="1417320"/>
            <a:ext cx="4389120" cy="2651760"/>
          </a:xfrm>
          <a:prstGeom prst="roundRect">
            <a:avLst>
              <a:gd name="adj" fmla="val 344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codigo-boton"/>
          <p:cNvSpPr txBox="1"/>
          <p:nvPr/>
        </p:nvSpPr>
        <p:spPr>
          <a:xfrm>
            <a:off x="640080" y="1527048"/>
            <a:ext cx="402336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a.boton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inline-block;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0.6em 1.2em;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#3454d1;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#ffffff;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text-decoration: none;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8px;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a.boton:hover { background: #2741a8; }</a:t>
            </a:r>
            <a:endParaRPr lang="en-US" sz="1200" dirty="0"/>
          </a:p>
        </p:txBody>
      </p:sp>
      <p:sp>
        <p:nvSpPr>
          <p:cNvPr id="7" name="lienzo-boton"/>
          <p:cNvSpPr/>
          <p:nvPr/>
        </p:nvSpPr>
        <p:spPr>
          <a:xfrm>
            <a:off x="5120640" y="1417320"/>
            <a:ext cx="356616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boton-muestra"/>
          <p:cNvSpPr/>
          <p:nvPr/>
        </p:nvSpPr>
        <p:spPr>
          <a:xfrm>
            <a:off x="5989320" y="1828800"/>
            <a:ext cx="18288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598932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Ver catálogo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Resultado</a:t>
            </a:r>
            <a:endParaRPr lang="en-US" sz="1100" dirty="0"/>
          </a:p>
        </p:txBody>
      </p:sp>
      <p:sp>
        <p:nvSpPr>
          <p:cNvPr id="11" name="nota-fondo"/>
          <p:cNvSpPr/>
          <p:nvPr/>
        </p:nvSpPr>
        <p:spPr>
          <a:xfrm>
            <a:off x="5120640" y="3154680"/>
            <a:ext cx="356616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nota"/>
          <p:cNvSpPr txBox="1"/>
          <p:nvPr/>
        </p:nvSpPr>
        <p:spPr>
          <a:xfrm>
            <a:off x="5303520" y="31546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Semántica:  </a:t>
            </a:r>
            <a:r>
              <a:rPr lang="en-US" sz="1300" dirty="0">
                <a:solidFill>
                  <a:schemeClr val="tx1"/>
                </a:solidFill>
              </a:rPr>
              <a:t>si navega, &lt;a&gt;; si ejecuta una acción, &lt;button&gt;.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ACTUALIZACIÓN RESPECTO A LA FUENTE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conviene matizar hoy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072384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Material base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Documentación actual (W3C / MDN)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 CSS3 se aconseja :: en lugar de :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:: es solo para pseudoelementos (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::before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). Las pseudoclases llevan un único </a:t>
                      </a: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— </a:t>
                      </a:r>
                      <a:r>
                        <a:rPr lang="en-US" sz="1300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a::hover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es inválido.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El color del texto no puede ser transparente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color: transparent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es válido desde CSS Color 3 (uso práctico limitado).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Cinco familias genéricas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CSS Fonts 4 añade 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system-ui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y las familias ui-* (ampliación).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Estados: link, visited, hover, active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Falta el foco de teclado: 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:focus / :focus-visible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(accesibilidad, RA5).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text-decoration: underline, overline…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Es abreviada de -line, -color, -style y -thickness; existe 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text-underline-offset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RESUMEN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recordar</a:t>
            </a:r>
            <a:endParaRPr lang="en-US" sz="3000" dirty="0"/>
          </a:p>
        </p:txBody>
      </p:sp>
      <p:sp>
        <p:nvSpPr>
          <p:cNvPr id="5" name="resumen-0"/>
          <p:cNvSpPr/>
          <p:nvPr/>
        </p:nvSpPr>
        <p:spPr>
          <a:xfrm>
            <a:off x="457200" y="1417320"/>
            <a:ext cx="402336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num-1"/>
          <p:cNvSpPr/>
          <p:nvPr/>
        </p:nvSpPr>
        <p:spPr>
          <a:xfrm>
            <a:off x="640080" y="160934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 txBox="1"/>
          <p:nvPr/>
        </p:nvSpPr>
        <p:spPr>
          <a:xfrm>
            <a:off x="640080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490472"/>
            <a:ext cx="3063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 hereda, salvo en los enlaces</a:t>
            </a:r>
            <a:endParaRPr lang="en-US" sz="1400" dirty="0"/>
          </a:p>
        </p:txBody>
      </p:sp>
      <p:sp>
        <p:nvSpPr>
          <p:cNvPr id="9" name="resumen-1"/>
          <p:cNvSpPr/>
          <p:nvPr/>
        </p:nvSpPr>
        <p:spPr>
          <a:xfrm>
            <a:off x="4663440" y="1417320"/>
            <a:ext cx="402336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num-2"/>
          <p:cNvSpPr/>
          <p:nvPr/>
        </p:nvSpPr>
        <p:spPr>
          <a:xfrm>
            <a:off x="4846320" y="160934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 txBox="1"/>
          <p:nvPr/>
        </p:nvSpPr>
        <p:spPr>
          <a:xfrm>
            <a:off x="4846320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1490472"/>
            <a:ext cx="3063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lista de alternativas + familia genérica al final</a:t>
            </a:r>
            <a:endParaRPr lang="en-US" sz="1400" dirty="0"/>
          </a:p>
        </p:txBody>
      </p:sp>
      <p:sp>
        <p:nvSpPr>
          <p:cNvPr id="13" name="resumen-2"/>
          <p:cNvSpPr/>
          <p:nvPr/>
        </p:nvSpPr>
        <p:spPr>
          <a:xfrm>
            <a:off x="457200" y="2404872"/>
            <a:ext cx="402336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num-3"/>
          <p:cNvSpPr/>
          <p:nvPr/>
        </p:nvSpPr>
        <p:spPr>
          <a:xfrm>
            <a:off x="640080" y="259689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 txBox="1"/>
          <p:nvPr/>
        </p:nvSpPr>
        <p:spPr>
          <a:xfrm>
            <a:off x="64008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2478024"/>
            <a:ext cx="3063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unidades relativas (rem, em, %)</a:t>
            </a:r>
            <a:endParaRPr lang="en-US" sz="1400" dirty="0"/>
          </a:p>
        </p:txBody>
      </p:sp>
      <p:sp>
        <p:nvSpPr>
          <p:cNvPr id="17" name="resumen-3"/>
          <p:cNvSpPr/>
          <p:nvPr/>
        </p:nvSpPr>
        <p:spPr>
          <a:xfrm>
            <a:off x="4663440" y="2404872"/>
            <a:ext cx="402336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num-4"/>
          <p:cNvSpPr/>
          <p:nvPr/>
        </p:nvSpPr>
        <p:spPr>
          <a:xfrm>
            <a:off x="4846320" y="259689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 txBox="1"/>
          <p:nvPr/>
        </p:nvSpPr>
        <p:spPr>
          <a:xfrm>
            <a:off x="484632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0" y="2478024"/>
            <a:ext cx="3063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número sin unidad, 1.4–1.6</a:t>
            </a:r>
            <a:endParaRPr lang="en-US" sz="1400" dirty="0"/>
          </a:p>
        </p:txBody>
      </p:sp>
      <p:sp>
        <p:nvSpPr>
          <p:cNvPr id="21" name="resumen-4"/>
          <p:cNvSpPr/>
          <p:nvPr/>
        </p:nvSpPr>
        <p:spPr>
          <a:xfrm>
            <a:off x="457200" y="3392424"/>
            <a:ext cx="402336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num-5"/>
          <p:cNvSpPr/>
          <p:nvPr/>
        </p:nvSpPr>
        <p:spPr>
          <a:xfrm>
            <a:off x="640080" y="35844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 txBox="1"/>
          <p:nvPr/>
        </p:nvSpPr>
        <p:spPr>
          <a:xfrm>
            <a:off x="64008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3465576"/>
            <a:ext cx="3063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vertical-align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solo en línea y celdas de tabla</a:t>
            </a:r>
            <a:endParaRPr lang="en-US" sz="1400" dirty="0"/>
          </a:p>
        </p:txBody>
      </p:sp>
      <p:sp>
        <p:nvSpPr>
          <p:cNvPr id="25" name="resumen-5"/>
          <p:cNvSpPr/>
          <p:nvPr/>
        </p:nvSpPr>
        <p:spPr>
          <a:xfrm>
            <a:off x="4663440" y="3392424"/>
            <a:ext cx="402336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num-6"/>
          <p:cNvSpPr/>
          <p:nvPr/>
        </p:nvSpPr>
        <p:spPr>
          <a:xfrm>
            <a:off x="4846320" y="35844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 txBox="1"/>
          <p:nvPr/>
        </p:nvSpPr>
        <p:spPr>
          <a:xfrm>
            <a:off x="484632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0" y="3465576"/>
            <a:ext cx="3063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Enlaces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orden LVHA y no depender solo del color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W Textos y Enlaces">
  <a:themeElements>
    <a:clrScheme name="DIW Textos y Enlaces">
      <a:dk1>
        <a:srgbClr val="1C1D21"/>
      </a:dk1>
      <a:lt1>
        <a:srgbClr val="FFFFFF"/>
      </a:lt1>
      <a:dk2>
        <a:srgbClr val="55585F"/>
      </a:dk2>
      <a:lt2>
        <a:srgbClr val="F4F5F7"/>
      </a:lt2>
      <a:accent1>
        <a:srgbClr val="3454D1"/>
      </a:accent1>
      <a:accent2>
        <a:srgbClr val="E8ECFD"/>
      </a:accent2>
      <a:accent3>
        <a:srgbClr val="C0392B"/>
      </a:accent3>
      <a:accent4>
        <a:srgbClr val="1E8449"/>
      </a:accent4>
      <a:accent5>
        <a:srgbClr val="DFE1E6"/>
      </a:accent5>
      <a:accent6>
        <a:srgbClr val="8EA2FF"/>
      </a:accent6>
      <a:hlink>
        <a:srgbClr val="3454D1"/>
      </a:hlink>
      <a:folHlink>
        <a:srgbClr val="6D3FC0"/>
      </a:folHlink>
    </a:clrScheme>
    <a:fontScheme name="DIW Textos y Enlac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2459</Words>
  <Application>Microsoft Office PowerPoint</Application>
  <PresentationFormat>Presentación en pantalla (16:9)</PresentationFormat>
  <Paragraphs>324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4" baseType="lpstr">
      <vt:lpstr>Arial</vt:lpstr>
      <vt:lpstr>Calibri</vt:lpstr>
      <vt:lpstr>Cambria</vt:lpstr>
      <vt:lpstr>Comic Sans MS</vt:lpstr>
      <vt:lpstr>Courier New</vt:lpstr>
      <vt:lpstr>Impact</vt:lpstr>
      <vt:lpstr>Times New Roman</vt:lpstr>
      <vt:lpstr>DIW Textos y Enlaces</vt:lpstr>
      <vt:lpstr>Tipografía, estilos de texto y enlaces</vt:lpstr>
      <vt:lpstr>Tres bloques de propiedades</vt:lpstr>
      <vt:lpstr>La propiedad color</vt:lpstr>
      <vt:lpstr>Una lista de fuentes alternativas</vt:lpstr>
      <vt:lpstr>Las cinco familias genéricas</vt:lpstr>
      <vt:lpstr>El tamaño de letra</vt:lpstr>
      <vt:lpstr>La propiedad abreviada font</vt:lpstr>
      <vt:lpstr>Alineación e interlineado</vt:lpstr>
      <vt:lpstr>Decoración y transformación del texto</vt:lpstr>
      <vt:lpstr>vertical-align</vt:lpstr>
      <vt:lpstr>El aspecto por defecto de un enlace</vt:lpstr>
      <vt:lpstr>Un estilo para cada estado</vt:lpstr>
      <vt:lpstr>El orden importa: LoVe HAte</vt:lpstr>
      <vt:lpstr>Un enlace con aspecto de botón</vt:lpstr>
      <vt:lpstr>Lo que conviene matizar hoy</vt:lpstr>
      <vt:lpstr>Para recordar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Tipografía, estilos de texto y enlaces</dc:title>
  <dc:subject>PptxGenJS Presentation</dc:subject>
  <dc:creator>Diseño de Interfaces Web · 2º DAW</dc:creator>
  <cp:lastModifiedBy>Carlos Sanchez Roco</cp:lastModifiedBy>
  <cp:revision>2</cp:revision>
  <dcterms:created xsi:type="dcterms:W3CDTF">2026-10-06T09:45:28Z</dcterms:created>
  <dcterms:modified xsi:type="dcterms:W3CDTF">2026-10-06T10:00:15Z</dcterms:modified>
</cp:coreProperties>
</file>