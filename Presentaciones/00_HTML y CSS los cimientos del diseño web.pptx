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3" r:id="rId14"/>
    <p:sldId id="269" r:id="rId15"/>
    <p:sldId id="275" r:id="rId16"/>
    <p:sldId id="274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27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858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877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505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8E91C-A260-B7A6-7ACF-450493A7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22A8-EC7B-F6DA-AB27-827C1E2D2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77420-003F-6FC7-2CC4-5FC9351C1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3AFD6-1087-45E5-673F-EE7053683D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313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2351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CFD9-53C0-5871-895A-1298DBCB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0D547-735D-3F7A-B480-2CE89F15A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77B5-DF58-4650-48C2-D6684C10B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A1970-5605-5DC0-C599-A87A84D3C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914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2086-E0F4-8277-248F-3099FA6F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A8E22-5999-3F11-B453-2EE421778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5E8F1-6A70-EBEE-BBB6-92B9BE9A9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130EB-78E7-9E42-B361-0419E6EDA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805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176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204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03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CSS2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w3.org/Style/CSS/specs.en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3con14.biz/css/conceptos/1-formas-de-incluir-cs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7015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DEL DISEÑO WEB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922270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y CSS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1889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dos lenguajes que todo diseñador web debe dominar para construir sitios bien estructurados y con estilo propio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lenguajes, una página web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40"/>
            <a:ext cx="5181600" cy="3723640"/>
          </a:xfrm>
          <a:prstGeom prst="roundRect">
            <a:avLst>
              <a:gd name="adj" fmla="val 2729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1117600" y="1869440"/>
            <a:ext cx="4709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7600" y="2245360"/>
            <a:ext cx="4709160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HyperText Markup Language. Estructura y da significado al contenido: párrafos, títulos, tablas, listas...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97600" y="1564640"/>
            <a:ext cx="5181600" cy="3723640"/>
          </a:xfrm>
          <a:prstGeom prst="roundRect">
            <a:avLst>
              <a:gd name="adj" fmla="val 2729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6502400" y="1869440"/>
            <a:ext cx="4709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02400" y="2245360"/>
            <a:ext cx="470916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Cascading Style Sheets. Define el aspecto visual: color, tipografía, espaciado, posición...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800" y="55930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diseñador web necesita dominar fundamentalmente ambos para crear sitios web completos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2089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42236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y CSS3: una revolución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3343275"/>
            <a:ext cx="9156700" cy="694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2000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versiones más recientes de estos lenguajes han cambiado la forma de crear sitios web, ofreciendo nuevas posibilidades de </a:t>
            </a:r>
            <a:r>
              <a:rPr lang="en-US" sz="20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</a:t>
            </a:r>
            <a:r>
              <a:rPr lang="en-US" sz="2000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20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</a:t>
            </a:r>
            <a:r>
              <a:rPr lang="en-US" sz="2000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20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composición</a:t>
            </a:r>
            <a:r>
              <a:rPr lang="en-US" sz="2000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6238241"/>
            <a:ext cx="2399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 CSS?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1"/>
            <a:ext cx="91567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(hojas de estilo en cascada) es un lenguaje de hojas de estilos creado para diseñar y dotar de un determinado aspecto a los documentos HTML.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12800" y="2339341"/>
            <a:ext cx="10566400" cy="1076960"/>
          </a:xfrm>
          <a:prstGeom prst="roundRect">
            <a:avLst>
              <a:gd name="adj" fmla="val 9434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5" name="Text 3"/>
          <p:cNvSpPr/>
          <p:nvPr/>
        </p:nvSpPr>
        <p:spPr>
          <a:xfrm>
            <a:off x="1066800" y="2593341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la mejor forma de separar los contenidos de su aspecto formal, e imprescindible para crear páginas web complejas.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6238239"/>
            <a:ext cx="2411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proceso, dos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39"/>
            <a:ext cx="5181600" cy="4277360"/>
          </a:xfrm>
          <a:prstGeom prst="roundRect">
            <a:avLst>
              <a:gd name="adj" fmla="val 2375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1117600" y="1869439"/>
            <a:ext cx="47091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1 — HTML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7600" y="2202182"/>
            <a:ext cx="47091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Estructurar y marcar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600" y="2547621"/>
            <a:ext cx="4709160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Designa la función de cada elemento: un párrafo, un título, un texto destacado, una tabla, una lista de elementos...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564639"/>
            <a:ext cx="5181600" cy="4277360"/>
          </a:xfrm>
          <a:prstGeom prst="roundRect">
            <a:avLst>
              <a:gd name="adj" fmla="val 2375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6502400" y="1869439"/>
            <a:ext cx="47091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2 — CSS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2400" y="2202182"/>
            <a:ext cx="47091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el aspecto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02400" y="2547621"/>
            <a:ext cx="4709160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de letra y fondo, tamaño y tipo de letra, separación entre elementos, posición dentro de la página...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2454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contenido y aspecto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883392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HTML bien definidos y con significado completo (documentos semánticos)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la accesibilidad del documento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el tiempo y la complejidad de su mantenimiento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visualizar el mismo documento en distintos dispositivos: smartphones, tablets y escritorio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2374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Ventajas de utilizar CSS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3420507" cy="2194560"/>
          </a:xfrm>
          <a:prstGeom prst="roundRect">
            <a:avLst>
              <a:gd name="adj" fmla="val 3472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1016000" y="1717039"/>
            <a:ext cx="310453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la estructura y el contenido (HTML) del formato del texto y de la página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5707" y="1513839"/>
            <a:ext cx="3420507" cy="2194560"/>
          </a:xfrm>
          <a:prstGeom prst="roundRect">
            <a:avLst>
              <a:gd name="adj" fmla="val 3472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4588907" y="1717039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Muchas más posibilidades de formato y de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presentación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de la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página</a:t>
            </a:r>
            <a:endParaRPr lang="en-US" dirty="0">
              <a:solidFill>
                <a:srgbClr val="A9AFC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58614" y="1513839"/>
            <a:ext cx="3420507" cy="2194560"/>
          </a:xfrm>
          <a:prstGeom prst="roundRect">
            <a:avLst>
              <a:gd name="adj" fmla="val 3472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8161814" y="1717039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Definir un estilo una sola vez y aplicarlo tantas veces como se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desee</a:t>
            </a:r>
            <a:endParaRPr lang="en-US" sz="2000" dirty="0">
              <a:solidFill>
                <a:srgbClr val="A9AFC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2800" y="3860800"/>
            <a:ext cx="3420507" cy="1981200"/>
          </a:xfrm>
          <a:prstGeom prst="roundRect">
            <a:avLst>
              <a:gd name="adj" fmla="val 38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0" name="Text 8"/>
          <p:cNvSpPr/>
          <p:nvPr/>
        </p:nvSpPr>
        <p:spPr>
          <a:xfrm>
            <a:off x="1016000" y="406400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Evitar</a:t>
            </a: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los errores causados por la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repetición</a:t>
            </a:r>
            <a:endParaRPr lang="en-US" sz="2000" dirty="0">
              <a:solidFill>
                <a:srgbClr val="A9AFC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5707" y="3860800"/>
            <a:ext cx="3420507" cy="1981200"/>
          </a:xfrm>
          <a:prstGeom prst="roundRect">
            <a:avLst>
              <a:gd name="adj" fmla="val 38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2" name="Text 10"/>
          <p:cNvSpPr/>
          <p:nvPr/>
        </p:nvSpPr>
        <p:spPr>
          <a:xfrm>
            <a:off x="4588907" y="406400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Reagrupar</a:t>
            </a:r>
            <a:r>
              <a:rPr lang="en-US" sz="16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todos</a:t>
            </a: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los estilos en un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mismo</a:t>
            </a: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lugar</a:t>
            </a:r>
            <a:endParaRPr lang="en-US" sz="2000" dirty="0">
              <a:solidFill>
                <a:srgbClr val="A9AFC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58614" y="3860800"/>
            <a:ext cx="3420507" cy="1981200"/>
          </a:xfrm>
          <a:prstGeom prst="roundRect">
            <a:avLst>
              <a:gd name="adj" fmla="val 38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/>
          <p:nvPr/>
        </p:nvSpPr>
        <p:spPr>
          <a:xfrm>
            <a:off x="8161814" y="4064000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680"/>
              </a:lnSpc>
            </a:pP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Hacer actualizaciones de forma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extremadamente</a:t>
            </a:r>
            <a:r>
              <a:rPr lang="en-US" sz="2000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000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rápida</a:t>
            </a:r>
            <a:endParaRPr lang="en-US" sz="2000" dirty="0">
              <a:solidFill>
                <a:srgbClr val="A9AFC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414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A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07286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1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normas oficiales (W3C)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3108325"/>
            <a:ext cx="91567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121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Están escritas en inglés y se pueden consultar de forma gratuita: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800" y="364807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21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CSS 2.1 Specification — </a:t>
            </a:r>
            <a:r>
              <a:rPr lang="en-US" b="1" dirty="0">
                <a:solidFill>
                  <a:srgbClr val="12162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/>
              </a:rPr>
              <a:t>w3.org/TR/CSS2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800" y="3998596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21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Todas las especificaciones CSS — </a:t>
            </a:r>
            <a:r>
              <a:rPr lang="en-US" b="1" dirty="0">
                <a:solidFill>
                  <a:srgbClr val="12162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action="ppaction://hlinkfile"/>
              </a:rPr>
              <a:t>w3.org/Style/CSS/specs.en.html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302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3F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34921"/>
            <a:ext cx="9483725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5F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Dominar HTML y CSS es la base de cualquier proyecto web moderno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78967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con significado + presentación separada = sitios accesibles, mantenibles y adaptables a cualquier dispositivo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436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SINTAXIS CSS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3095784"/>
            <a:ext cx="10883392" cy="65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Formas de incluir CSS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3929856"/>
            <a:ext cx="85026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Cómo aplicar estilos, la anatomía de una regla y los comentarios en CSS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87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Tres formas de aplicar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  <a:hlinkClick r:id="rId3"/>
              </a:rPr>
              <a:t>CSS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800" y="1485900"/>
            <a:ext cx="3420507" cy="4356100"/>
          </a:xfrm>
          <a:prstGeom prst="roundRect">
            <a:avLst>
              <a:gd name="adj" fmla="val 2599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" name="Text 2"/>
          <p:cNvSpPr/>
          <p:nvPr/>
        </p:nvSpPr>
        <p:spPr>
          <a:xfrm>
            <a:off x="1041400" y="1714500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1. EN LÍNEA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1400" y="2029460"/>
            <a:ext cx="30522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&lt;etiqueta style="propiedad: valor;"&gt;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1400" y="2326640"/>
            <a:ext cx="305220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R="0" lvl="0" fontAlgn="auto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El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estilo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va escrito dentro de la propia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etiqueta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HTML</a:t>
            </a:r>
          </a:p>
        </p:txBody>
      </p:sp>
      <p:sp>
        <p:nvSpPr>
          <p:cNvPr id="7" name="Shape 5"/>
          <p:cNvSpPr/>
          <p:nvPr/>
        </p:nvSpPr>
        <p:spPr>
          <a:xfrm>
            <a:off x="4385707" y="1485900"/>
            <a:ext cx="3420507" cy="4356100"/>
          </a:xfrm>
          <a:prstGeom prst="roundRect">
            <a:avLst>
              <a:gd name="adj" fmla="val 2599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8" name="Text 6"/>
          <p:cNvSpPr/>
          <p:nvPr/>
        </p:nvSpPr>
        <p:spPr>
          <a:xfrm>
            <a:off x="4614307" y="1714500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2. EN BLOQUE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14307" y="2029460"/>
            <a:ext cx="30522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&lt;style&gt; ... &lt;/style&gt;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14307" y="2326640"/>
            <a:ext cx="305220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885"/>
              </a:lnSpc>
            </a:pP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Las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reglas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se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agrupan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dentro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del &lt;head&gt; del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documento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HTML</a:t>
            </a:r>
          </a:p>
        </p:txBody>
      </p:sp>
      <p:sp>
        <p:nvSpPr>
          <p:cNvPr id="11" name="Shape 9"/>
          <p:cNvSpPr/>
          <p:nvPr/>
        </p:nvSpPr>
        <p:spPr>
          <a:xfrm>
            <a:off x="7958614" y="1492250"/>
            <a:ext cx="3407807" cy="4343400"/>
          </a:xfrm>
          <a:prstGeom prst="roundRect">
            <a:avLst>
              <a:gd name="adj" fmla="val 2422"/>
            </a:avLst>
          </a:prstGeom>
          <a:solidFill>
            <a:srgbClr val="2A3358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12" name="Text 10"/>
          <p:cNvSpPr/>
          <p:nvPr/>
        </p:nvSpPr>
        <p:spPr>
          <a:xfrm>
            <a:off x="8197374" y="1724660"/>
            <a:ext cx="30312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3. ENLAZADO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97374" y="2039620"/>
            <a:ext cx="303127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&lt;link rel="stylesheet" href="..."&gt;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7374" y="2336800"/>
            <a:ext cx="303127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R="0" lvl="0" fontAlgn="auto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Un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archivo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.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css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independiente</a:t>
            </a:r>
            <a:r>
              <a:rPr lang="en-US" dirty="0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 — la forma </a:t>
            </a:r>
            <a:r>
              <a:rPr lang="en-US" dirty="0" err="1">
                <a:solidFill>
                  <a:srgbClr val="A9AFC3"/>
                </a:solidFill>
                <a:latin typeface="Inter" pitchFamily="34" charset="0"/>
                <a:ea typeface="Inter" pitchFamily="34" charset="-122"/>
              </a:rPr>
              <a:t>recomendada</a:t>
            </a:r>
            <a:endParaRPr lang="en-US" dirty="0">
              <a:solidFill>
                <a:srgbClr val="A9AFC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2089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33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Anatomía de una regla CSS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10566400" cy="863600"/>
          </a:xfrm>
          <a:prstGeom prst="roundRect">
            <a:avLst>
              <a:gd name="adj" fmla="val 10294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66800" y="1790700"/>
            <a:ext cx="3689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35735" y="1790700"/>
            <a:ext cx="1698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05598" y="1790700"/>
            <a:ext cx="6754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color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0999" y="1790700"/>
            <a:ext cx="1356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16651" y="1790700"/>
            <a:ext cx="4548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71470" y="1790700"/>
            <a:ext cx="3171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; }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" y="2705100"/>
            <a:ext cx="5207000" cy="815340"/>
          </a:xfrm>
          <a:prstGeom prst="roundRect">
            <a:avLst>
              <a:gd name="adj" fmla="val 93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1" name="Text 9"/>
          <p:cNvSpPr/>
          <p:nvPr/>
        </p:nvSpPr>
        <p:spPr>
          <a:xfrm>
            <a:off x="990600" y="2882900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Selector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0600" y="3147061"/>
            <a:ext cx="49969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Indica el elemento o elementos HTML a los que se aplica la regla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2705100"/>
            <a:ext cx="5207000" cy="815340"/>
          </a:xfrm>
          <a:prstGeom prst="roundRect">
            <a:avLst>
              <a:gd name="adj" fmla="val 93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4" name="Text 12"/>
          <p:cNvSpPr/>
          <p:nvPr/>
        </p:nvSpPr>
        <p:spPr>
          <a:xfrm>
            <a:off x="6350000" y="2882900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Bloque de declaración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0000" y="3147061"/>
            <a:ext cx="49969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Va entre llaves { } y contiene uno o más pares propiedad/valor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800" y="3672841"/>
            <a:ext cx="5207000" cy="815340"/>
          </a:xfrm>
          <a:prstGeom prst="roundRect">
            <a:avLst>
              <a:gd name="adj" fmla="val 93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7" name="Text 15"/>
          <p:cNvSpPr/>
          <p:nvPr/>
        </p:nvSpPr>
        <p:spPr>
          <a:xfrm>
            <a:off x="990600" y="3850641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Propiedad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90600" y="4114800"/>
            <a:ext cx="49969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La característica que se modifica del elemento (color, tamaño...)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3672841"/>
            <a:ext cx="5207000" cy="815340"/>
          </a:xfrm>
          <a:prstGeom prst="roundRect">
            <a:avLst>
              <a:gd name="adj" fmla="val 9346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0" name="Text 18"/>
          <p:cNvSpPr/>
          <p:nvPr/>
        </p:nvSpPr>
        <p:spPr>
          <a:xfrm>
            <a:off x="6350000" y="3850641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0000" y="4114800"/>
            <a:ext cx="49969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El nuevo valor que toma la propiedad modificada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2800" y="6238241"/>
            <a:ext cx="2399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374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B7DE0-7A53-3BCE-99E3-98C5F24B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C80B38-6E3C-5630-B283-A545D1D2ACB8}"/>
              </a:ext>
            </a:extLst>
          </p:cNvPr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Anatomía de una regla CSS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E914FD-E79D-5D6C-E236-C3189F187E47}"/>
              </a:ext>
            </a:extLst>
          </p:cNvPr>
          <p:cNvSpPr/>
          <p:nvPr/>
        </p:nvSpPr>
        <p:spPr>
          <a:xfrm>
            <a:off x="812800" y="1257300"/>
            <a:ext cx="10341155" cy="4858828"/>
          </a:xfrm>
          <a:prstGeom prst="roundRect">
            <a:avLst>
              <a:gd name="adj" fmla="val 10294"/>
            </a:avLst>
          </a:prstGeom>
          <a:solidFill>
            <a:srgbClr val="2027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1961DDA-B05D-BEFB-8694-1B87BF92BC4B}"/>
              </a:ext>
            </a:extLst>
          </p:cNvPr>
          <p:cNvSpPr/>
          <p:nvPr/>
        </p:nvSpPr>
        <p:spPr>
          <a:xfrm>
            <a:off x="812800" y="6238241"/>
            <a:ext cx="2399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CD23B88-70E8-10DC-C950-024408BE0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009" y="1468310"/>
            <a:ext cx="7197982" cy="433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67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hoja de estilos, varias reglas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800" y="1485900"/>
            <a:ext cx="10566400" cy="2679700"/>
          </a:xfrm>
          <a:prstGeom prst="roundRect">
            <a:avLst>
              <a:gd name="adj" fmla="val 3791"/>
            </a:avLst>
          </a:prstGeom>
          <a:solidFill>
            <a:srgbClr val="202748"/>
          </a:solidFill>
          <a:ln/>
        </p:spPr>
        <p:txBody>
          <a:bodyPr/>
          <a:lstStyle/>
          <a:p>
            <a:endParaRPr lang="es-ES" sz="3600"/>
          </a:p>
        </p:txBody>
      </p:sp>
      <p:sp>
        <p:nvSpPr>
          <p:cNvPr id="4" name="Text 2"/>
          <p:cNvSpPr/>
          <p:nvPr/>
        </p:nvSpPr>
        <p:spPr>
          <a:xfrm>
            <a:off x="1092200" y="17653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arroba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2200" y="21399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@charset "utf-8";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2200" y="25146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1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2200" y="28892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h2 { color: red; background-color: black;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2200" y="32639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2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2200" y="36385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 { font-size: 1.3em; background-color: rgb(255, 255, 224);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" y="4419600"/>
            <a:ext cx="98107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hoja de estilos es un fichero de texto plano con dos tipos de sentencias: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reglas-arroba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(@charset, @media...) y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(selector + bloque de declaración)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2411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630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56E26-9AD4-6EB0-4F7D-C2D8EBD4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B2991B-5361-DD13-651B-1D1631ABF3D5}"/>
              </a:ext>
            </a:extLst>
          </p:cNvPr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hoja de estilos, varias reglas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58C0B1-ABDD-7B27-6A24-0929B7B0760D}"/>
              </a:ext>
            </a:extLst>
          </p:cNvPr>
          <p:cNvSpPr/>
          <p:nvPr/>
        </p:nvSpPr>
        <p:spPr>
          <a:xfrm>
            <a:off x="812800" y="1485900"/>
            <a:ext cx="10566400" cy="2679700"/>
          </a:xfrm>
          <a:prstGeom prst="roundRect">
            <a:avLst>
              <a:gd name="adj" fmla="val 3791"/>
            </a:avLst>
          </a:prstGeom>
          <a:solidFill>
            <a:srgbClr val="2027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484F75-7DB9-E397-A778-6CDB5B396F68}"/>
              </a:ext>
            </a:extLst>
          </p:cNvPr>
          <p:cNvSpPr/>
          <p:nvPr/>
        </p:nvSpPr>
        <p:spPr>
          <a:xfrm>
            <a:off x="1092200" y="17653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arroba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F22447-7E46-AC93-4B81-25DA28AF2DCD}"/>
              </a:ext>
            </a:extLst>
          </p:cNvPr>
          <p:cNvSpPr/>
          <p:nvPr/>
        </p:nvSpPr>
        <p:spPr>
          <a:xfrm>
            <a:off x="1092200" y="21399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@charset "utf-8";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9C97A6-E694-22B2-89C8-1C1830D7E519}"/>
              </a:ext>
            </a:extLst>
          </p:cNvPr>
          <p:cNvSpPr/>
          <p:nvPr/>
        </p:nvSpPr>
        <p:spPr>
          <a:xfrm>
            <a:off x="1092200" y="25146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1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994162-6772-00EE-8317-C55F1A707584}"/>
              </a:ext>
            </a:extLst>
          </p:cNvPr>
          <p:cNvSpPr/>
          <p:nvPr/>
        </p:nvSpPr>
        <p:spPr>
          <a:xfrm>
            <a:off x="1092200" y="28892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h2 { color: red; background-color: black;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346358-D420-71FA-1D09-22CEECAB5634}"/>
              </a:ext>
            </a:extLst>
          </p:cNvPr>
          <p:cNvSpPr/>
          <p:nvPr/>
        </p:nvSpPr>
        <p:spPr>
          <a:xfrm>
            <a:off x="1092200" y="32639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2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98FD74-8DD6-6F32-6E12-86077D9B457C}"/>
              </a:ext>
            </a:extLst>
          </p:cNvPr>
          <p:cNvSpPr/>
          <p:nvPr/>
        </p:nvSpPr>
        <p:spPr>
          <a:xfrm>
            <a:off x="1092200" y="36385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 { font-size: 1.3em; background-color: rgb(255, 255, 224);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71848B-3264-5DE6-8219-EDB25C76FACF}"/>
              </a:ext>
            </a:extLst>
          </p:cNvPr>
          <p:cNvSpPr/>
          <p:nvPr/>
        </p:nvSpPr>
        <p:spPr>
          <a:xfrm>
            <a:off x="812800" y="4419600"/>
            <a:ext cx="98107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hoja de estilos es un fichero de texto plano con dos tipos de sentencias: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reglas-arroba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(@charset, @media...) y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(selector + bloque de declaración)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31842F-4B8E-3B47-3D52-56DB421A91F9}"/>
              </a:ext>
            </a:extLst>
          </p:cNvPr>
          <p:cNvSpPr/>
          <p:nvPr/>
        </p:nvSpPr>
        <p:spPr>
          <a:xfrm>
            <a:off x="812800" y="6238239"/>
            <a:ext cx="2411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18E84215-1353-AF81-CB51-74DE48C1F453}"/>
              </a:ext>
            </a:extLst>
          </p:cNvPr>
          <p:cNvSpPr/>
          <p:nvPr/>
        </p:nvSpPr>
        <p:spPr>
          <a:xfrm>
            <a:off x="6246114" y="1531591"/>
            <a:ext cx="4574176" cy="1619250"/>
          </a:xfrm>
          <a:prstGeom prst="roundRect">
            <a:avLst>
              <a:gd name="adj" fmla="val 3791"/>
            </a:avLst>
          </a:prstGeom>
          <a:solidFill>
            <a:srgbClr val="202748"/>
          </a:solidFill>
          <a:ln/>
        </p:spPr>
        <p:txBody>
          <a:bodyPr/>
          <a:lstStyle/>
          <a:p>
            <a:pPr lvl="0"/>
            <a:r>
              <a:rPr lang="es-ES" sz="2800" dirty="0">
                <a:solidFill>
                  <a:srgbClr val="FFFF00"/>
                </a:solidFill>
              </a:rPr>
              <a:t>Una regla arroba proporciona instrucciones especiales sobre cómo, cuándo o dónde aplicar CSS.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28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CA230-3221-3394-835F-86312243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5EBB20-8B1F-96D0-243A-B922D27F0B7E}"/>
              </a:ext>
            </a:extLst>
          </p:cNvPr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hoja de estilos, varias reglas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773590-EDD2-4974-4A9F-5AB8539BE596}"/>
              </a:ext>
            </a:extLst>
          </p:cNvPr>
          <p:cNvSpPr/>
          <p:nvPr/>
        </p:nvSpPr>
        <p:spPr>
          <a:xfrm>
            <a:off x="6844855" y="1484836"/>
            <a:ext cx="4664973" cy="1583277"/>
          </a:xfrm>
          <a:prstGeom prst="roundRect">
            <a:avLst>
              <a:gd name="adj" fmla="val 3791"/>
            </a:avLst>
          </a:prstGeom>
          <a:solidFill>
            <a:srgbClr val="202748"/>
          </a:solidFill>
          <a:ln/>
        </p:spPr>
        <p:txBody>
          <a:bodyPr/>
          <a:lstStyle/>
          <a:p>
            <a:pPr lvl="0"/>
            <a:r>
              <a:rPr lang="es-ES" sz="2800" dirty="0">
                <a:solidFill>
                  <a:srgbClr val="FFFF00"/>
                </a:solidFill>
              </a:rPr>
              <a:t>Una regla CSS normal selecciona elementos y establece propiedades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86A77E-4520-76F9-D730-0C5D00A899BE}"/>
              </a:ext>
            </a:extLst>
          </p:cNvPr>
          <p:cNvSpPr/>
          <p:nvPr/>
        </p:nvSpPr>
        <p:spPr>
          <a:xfrm>
            <a:off x="1092200" y="17653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arroba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9068C9-D388-87B5-A353-BC988C87235C}"/>
              </a:ext>
            </a:extLst>
          </p:cNvPr>
          <p:cNvSpPr/>
          <p:nvPr/>
        </p:nvSpPr>
        <p:spPr>
          <a:xfrm>
            <a:off x="1092200" y="21399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A65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@charset "utf-8";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996AC9-D4E9-9CCD-C450-0DE780A3C874}"/>
              </a:ext>
            </a:extLst>
          </p:cNvPr>
          <p:cNvSpPr/>
          <p:nvPr/>
        </p:nvSpPr>
        <p:spPr>
          <a:xfrm>
            <a:off x="1092200" y="25146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1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8F0FE2-B1EA-E9EF-EF21-C02E478140BC}"/>
              </a:ext>
            </a:extLst>
          </p:cNvPr>
          <p:cNvSpPr/>
          <p:nvPr/>
        </p:nvSpPr>
        <p:spPr>
          <a:xfrm>
            <a:off x="1092200" y="28892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h2 { color: red; background-color: black;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B806A6-7CFB-70FB-4535-46332CCB0421}"/>
              </a:ext>
            </a:extLst>
          </p:cNvPr>
          <p:cNvSpPr/>
          <p:nvPr/>
        </p:nvSpPr>
        <p:spPr>
          <a:xfrm>
            <a:off x="1092200" y="326390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Regla 2 */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2E0EE9-78A3-4AD5-7D7F-99608700531C}"/>
              </a:ext>
            </a:extLst>
          </p:cNvPr>
          <p:cNvSpPr/>
          <p:nvPr/>
        </p:nvSpPr>
        <p:spPr>
          <a:xfrm>
            <a:off x="1092200" y="3638550"/>
            <a:ext cx="103078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 { font-size: 1.3em; background-color: rgb(255, 255, 224);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DCB140-2127-21A7-4E91-15412C9E36D5}"/>
              </a:ext>
            </a:extLst>
          </p:cNvPr>
          <p:cNvSpPr/>
          <p:nvPr/>
        </p:nvSpPr>
        <p:spPr>
          <a:xfrm>
            <a:off x="812800" y="4419600"/>
            <a:ext cx="98107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hoja de estilos es un fichero de texto plano con dos tipos de sentencias: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reglas-arroba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(@charset, @media...) y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(selector + bloque de declaración)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890D400-884A-8909-2BBB-59FBEF8071B4}"/>
              </a:ext>
            </a:extLst>
          </p:cNvPr>
          <p:cNvSpPr/>
          <p:nvPr/>
        </p:nvSpPr>
        <p:spPr>
          <a:xfrm>
            <a:off x="812800" y="6238239"/>
            <a:ext cx="2411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24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Selectores múltiples y orden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85900"/>
            <a:ext cx="10883392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 pueden aplicar varios selectores a la vez separándolos con comas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 es correcto definir varias declaraciones simultáneas: cada bloque { } pertenece a un único grupo de selectores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El orden de las reglas en el archivo no suele importar...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...salvo que se repita el mismo selector y la misma propiedad: en ese caso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gana la última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regla escrita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2454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7179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86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A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008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2162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Comentarios en CSS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800" y="2473961"/>
            <a:ext cx="10566400" cy="1003300"/>
          </a:xfrm>
          <a:prstGeom prst="roundRect">
            <a:avLst>
              <a:gd name="adj" fmla="val 8861"/>
            </a:avLst>
          </a:prstGeom>
          <a:solidFill>
            <a:srgbClr val="12162A"/>
          </a:solidFill>
          <a:ln/>
        </p:spPr>
        <p:txBody>
          <a:bodyPr/>
          <a:lstStyle/>
          <a:p>
            <a:endParaRPr lang="es-ES" sz="4000" dirty="0"/>
          </a:p>
        </p:txBody>
      </p:sp>
      <p:sp>
        <p:nvSpPr>
          <p:cNvPr id="4" name="Text 2"/>
          <p:cNvSpPr/>
          <p:nvPr/>
        </p:nvSpPr>
        <p:spPr>
          <a:xfrm>
            <a:off x="1041400" y="2702561"/>
            <a:ext cx="1041247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/* Este es un comentario CSS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1400" y="3001011"/>
            <a:ext cx="1041247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 varias líneas */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3731261"/>
            <a:ext cx="10883392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62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El navegador los ignora por completo al renderizar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62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 se pueden anidar comentarios dentro de otros comentarios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62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Aun así, se envían al navegador: nunca incluir información sensible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62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Distintos de los comentarios HTML: &lt;!-- ... --&gt;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6238239"/>
            <a:ext cx="2374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3F1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419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93364"/>
            <a:ext cx="948372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5F6F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Una sola sintaxis, tres formas de usarla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3493136"/>
            <a:ext cx="91567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9AFC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Prioriza siempre el CSS enlazado en archivos externos: separa contenido y estilo, es reutilizable y fácil de mantener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3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1038</Words>
  <Application>Microsoft Office PowerPoint</Application>
  <PresentationFormat>Panorámica</PresentationFormat>
  <Paragraphs>142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y CSS: los cimientos del diseño web</dc:title>
  <dc:subject>PptxGenJS Presentation</dc:subject>
  <dc:creator>PptxGenJS</dc:creator>
  <cp:lastModifiedBy>Carlos Sanchez Roco</cp:lastModifiedBy>
  <cp:revision>6</cp:revision>
  <dcterms:created xsi:type="dcterms:W3CDTF">2026-09-22T09:31:44Z</dcterms:created>
  <dcterms:modified xsi:type="dcterms:W3CDTF">2026-09-24T07:21:37Z</dcterms:modified>
</cp:coreProperties>
</file>